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Lst>
  <p:sldSz cy="5143500" cx="9144000"/>
  <p:notesSz cx="6858000" cy="9144000"/>
  <p:embeddedFontLst>
    <p:embeddedFont>
      <p:font typeface="Roboto Mono"/>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A80A2D-5547-4B00-81EF-F7A111BEE14F}">
  <a:tblStyle styleId="{C2A80A2D-5547-4B00-81EF-F7A111BEE14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RobotoMono-italic.fntdata"/><Relationship Id="rId117" Type="http://schemas.openxmlformats.org/officeDocument/2006/relationships/font" Target="fonts/RobotoMono-bold.fntdata"/><Relationship Id="rId116" Type="http://schemas.openxmlformats.org/officeDocument/2006/relationships/font" Target="fonts/RobotoMono-regular.fntdata"/><Relationship Id="rId115" Type="http://schemas.openxmlformats.org/officeDocument/2006/relationships/slide" Target="slides/slide109.xml"/><Relationship Id="rId119" Type="http://schemas.openxmlformats.org/officeDocument/2006/relationships/font" Target="fonts/RobotoMono-boldItalic.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d69e5dc3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dd69e5dc3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c1e25338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4c1e25338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4c1e25338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4c1e25338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4c1e25338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4c1e25338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4c1e25338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4c1e25338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4c1e25338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4c1e25338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4c1e25338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4c1e25338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4c1e25338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4c1e25338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1 — Title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"Welcome to Section 2. We've spent Section 1 setting up the problem — we have a point set P in R^d, labels are hidden, and we want a monotone classifier with error at most (1+ε)k* using as few label queries as possible.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algorithm we'll study first is called RPE — Random Probes with Elimination. It's deceptively simple. It requires no prior knowledge of k* or the width w. And yet it achieves a 2-approximate solution in expectation with provably low probing cost. It's the foundation everything else in the paper builds 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2 — Core Idea</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entire algorithm is just two steps, repeated in a loop.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Step 1: pick a random unlabelled point and ask the oracle for its label.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Step 2: use monotonicity to immediately assign labels to a whole region of the space — and remove those points. You don't need to probe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you repeat on what's left.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question is: why does step 2 work? Why can one probe determine the labels of many other points? That's what the next slide explains."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3 — The Dominance Cone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conceptual heart of the algorithm.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we probe a point z and find its label, monotonicity gives us the labels of every point that's </a:t>
            </a:r>
            <a:r>
              <a:rPr i="1" lang="en">
                <a:solidFill>
                  <a:schemeClr val="dk1"/>
                </a:solidFill>
              </a:rPr>
              <a:t>comparable</a:t>
            </a:r>
            <a:r>
              <a:rPr lang="en">
                <a:solidFill>
                  <a:schemeClr val="dk1"/>
                </a:solidFill>
              </a:rPr>
              <a:t> to z — meaning every point that's either strictly above z or strictly below z in every feature simultaneously.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if label(z) = +1, then any point p that dominates z — meaning p is at least as large as z on every coordinate — must also be +1. Because if it were -1, that would violate monotonicity. So we can safely label all of them +1 and remove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right: if label(z) = -1, then any point p dominated by z — smaller or equal on every coordinate — must also be -1. Same reasoning. Remove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shaded region in each diagram is the </a:t>
            </a:r>
            <a:r>
              <a:rPr i="1" lang="en">
                <a:solidFill>
                  <a:schemeClr val="dk1"/>
                </a:solidFill>
              </a:rPr>
              <a:t>dominance cone</a:t>
            </a:r>
            <a:r>
              <a:rPr lang="en">
                <a:solidFill>
                  <a:schemeClr val="dk1"/>
                </a:solidFill>
              </a:rPr>
              <a:t> of z — the set of points whose labels are forced. These can be very large, especially in high dimensions. That's what makes RPE 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critical point: only the points that are </a:t>
            </a:r>
            <a:r>
              <a:rPr i="1" lang="en">
                <a:solidFill>
                  <a:schemeClr val="dk1"/>
                </a:solidFill>
              </a:rPr>
              <a:t>incomparable</a:t>
            </a:r>
            <a:r>
              <a:rPr lang="en">
                <a:solidFill>
                  <a:schemeClr val="dk1"/>
                </a:solidFill>
              </a:rPr>
              <a:t> to z — neither above nor below it — remain uncertain. These are the points the algorithm still needs to probe."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4 — Pseudocode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"Here's the formal algorithm. It's short enough to fit on one slide.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Line 1: start with an empty set Z, which will hold all probed points. Lines 2–5: the main loop. Pick a random element z, probe it, add it to Z, then remove its dominance cone from P. Line 6: return Z.</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Z, we derive the classifier hRPE on the right. A point p gets label +1 if it dominates at least one confirmed positive in Z; otherwise it gets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Two quick notes: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classifier is always monotone. If p dominates q and hRPE(q)=1, then by transitivity p dominates the same positive witness z, so hRPE(p)=1 too. No contradiction possible.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Notice the footer: RPE never actually computes the width w. The width only appears when we </a:t>
            </a:r>
            <a:r>
              <a:rPr i="1" lang="en">
                <a:solidFill>
                  <a:schemeClr val="dk1"/>
                </a:solidFill>
              </a:rPr>
              <a:t>analyze</a:t>
            </a:r>
            <a:r>
              <a:rPr lang="en">
                <a:solidFill>
                  <a:schemeClr val="dk1"/>
                </a:solidFill>
              </a:rPr>
              <a:t> the algorithm's cost — it's invisible to the algorithm itself."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5 — Worked Example, Step 1</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trace RPE on the 16-point set from Figure 1 of the paper. Green points are label +1, navy circles are label -1. The optimal error is k* =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RPE randomly picks p₁ as its first probe. The oracle says label(p₁) = +1. So RPE must remove every point p that p₁ dominates, i.e., everything in the upper cone of p₁.</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 at where p₁ is: near the bottom-left of the feature space. That means it has low values on both features. Any point that has </a:t>
            </a:r>
            <a:r>
              <a:rPr i="1" lang="en">
                <a:solidFill>
                  <a:schemeClr val="dk1"/>
                </a:solidFill>
              </a:rPr>
              <a:t>higher</a:t>
            </a:r>
            <a:r>
              <a:rPr lang="en">
                <a:solidFill>
                  <a:schemeClr val="dk1"/>
                </a:solidFill>
              </a:rPr>
              <a:t> values on both features — which is most of the plot — is dominated by p₁... wait, no: p dominates p₁ means p has higher values. So p₁ being bottom-left means </a:t>
            </a:r>
            <a:r>
              <a:rPr i="1" lang="en">
                <a:solidFill>
                  <a:schemeClr val="dk1"/>
                </a:solidFill>
              </a:rPr>
              <a:t>most other points</a:t>
            </a:r>
            <a:r>
              <a:rPr lang="en">
                <a:solidFill>
                  <a:schemeClr val="dk1"/>
                </a:solidFill>
              </a:rPr>
              <a:t> dominate p₁. We remove all p ⪰ p₁.</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result: 13 out of 16 points are immediately eliminated in one probe. Only p₆, p₇, and p₈ remain — they're incomparable to p₁ because they lie below or to the side of it in feature space.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after one probe: 13 points determined, 3 remain."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6 — Worked Example, Step 2</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RPE picks randomly from the 3 remaining points and hits p₈. The oracle says label(p₈) = -1. RPE removes every p ⪯ p₈ — points dominated by p₈. That eliminates p₆, p₇, and p₈ itself. P is now empty.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 result: Z = {p₁, p₈}. Just 2 probes to handle all 16 points.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classifier: everything dominating p₁ gets +1, everything else gets -1. The error turns out to be 5. Now, that's higher than k* = 3 — but is it within the 2k* = 6 guarantee? Yes. Five is less than six.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expected trade-off: RPE probes very few points but may produce a somewhat suboptimal classifier. The guarantee tells us just how suboptimal it can be."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7 — Theorem 1</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"Theorem 1 formalises what we just saw.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Error: the expected error of hRPE is at most 2k*. Note — this is in expectation. Any particular run might do better or worse.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Cost: RPE probes at most O(w · Log(n/w)) points in expectation. Log here is log₂(1+x), a slightly modified logarithm that behaves well near 0. For practical purposes, treat it as a standard log.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Two properties worth emphasising. First: no knowledge of k* required. Most active learning algorithms need ξ as a parameter, which requires knowing ν = k*/n. RPE doesn't. Second: the bound is in expectation. This will be addressed in Section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8 — Error Proof Sketch</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 do we prove E[err] ≤ 2k*? The proof proceeds by induction on |P|.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step: fix any monotone classifier h. Partition P into h-good points (correctly classified by h) and h-bad points (misclassified). Setting h = h*, there are exactly k* bad points.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Lemma 2 says: the expected number of h*-good points that RPE misclassifies is at most k*. Add the k* bad points (which are always misclassified regardless), and total expected error ≤ 2k*.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tool that makes Lemma 2 work is the symmetry of influence sets. For each bad point p, define Ibad(p) as the set of good points that would get misclassified if p were probed first. For each good point q, Igood(q) is the set of bad points that would get 'corrected' if q were probed first.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key symmetry — Lemma 2.2 — is that these two quantities sum to the same total. The total 'error potential' from bad points equals the total 'correction potential' from good points. This balance is what allows the inductive argument to close at exactly errP(h)."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9 — Cost Proof Sketch</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cost bound uses three ideas.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Step 1: By Dilworth's Theorem, any point set P can be partitioned into exactly w disjoint chains — where w is the dominance width. Every pair of points within a chain is comparable.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Step 2: Within any single chain of size m, RPE's probing behaviour can be modelled as an Attrition-and-Elimination game. An adversary Bob deletes points to make life hard; Alice picks random points and eliminates the upper portion. The key lemma: regardless of what Bob does, the game ends in O(log m) rounds in expectation. The proof: each round halves the chain with probability greater than ½, so you need at most O(log m) halvings.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Step 3: Sum the costs across all w chains. The total is O(Σ log|Cᵢ|). By Jensen's inequality, since log is concave, this sum is maximised when all chains are equal size n/w. That gives O(w · log(n/w)) = O(w · Log(n/w))."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10 — Factor 2 is Tight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"We've shown E[err] ≤ 2k*. Can we do better? Can we get, say, 1.5k* with RPE's random-probing strategy?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 The factor of 2 is exactly tight. Here's the hard example.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Place n−1 points with label -1 and one point with label +1, arranged so no point dominates any other — width w = n. The optimal classifier maps everything to -1, giving k* =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watch what RPE does. With probability 1/n, it probes the positive point first. Since that point dominates nothing, no elimination occurs, and all n−1 negative points remain — they all end up labelled +1. Error = n−1.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probability 1 − 1/n, RPE probes a negative point first. It eliminates at most one point, and the final error is just 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Expected error = (1/n)·(n−1) + (1 − 1/n)·1 = 2 − 2/n → 2 as n →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Since k* = 1, the ratio approaches 2. The factor of 2 is asymptotically tight."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11 — Limitations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"RPE has two fundamental limitations, both of which motivate Section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Limitation 1: the factor-of-2 is the best RPE can achieve. No tweak to the random-probing strategy changes this. If we want error (1+ε)k* for small ε — say ε = 0.01 — we need a completely different technique. That technique is the relative-comparison coreset.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Limitation 2: the guarantee is only in expectation. A single run could produce error much larger than 2k*. Section 3 provides a high-probability guarantee — w.h.p. the error is at most (1+ε)k*.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comparison table shows the trade-off: the coreset algorithm achieves much stronger guarantees, but at a probing cost of O(w/ε² · log(n/w) · log n) — roughly a factor of log(n)/ε² more than RPE."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SLIDE 12 — Summary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recap the four things to remember from Section 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RPE is a simple parameter-free loop. Probe a random point, eliminate its dominance cone, repeat. No knowledge of k* or w needed.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Two: it's efficient. The expected probing cost is O(w · Log n/w), proved via chain decomposition and the A&amp;E game.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Three: it's 2-approximate in expectation. E[err] ≤ 2k*, proved by induction using the symmetry of influence sets.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Four: the factor-2 is tight and the bound is in expectation only. Both limitations are what motivate Section 3's relative-comparison coreset approach.</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In Section 3, we'll see how to extend RPE's ideas to achieve error (1+ε)k* with high probability, for any ε &gt; 0 the user specifies."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4c1e25338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4c1e25338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4c1e25338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4c1e25338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4c1e25338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4c1e25338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4c1e25338_2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4c1e25338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you are mentioning “non-realizable” case here without any prior background, you must explain it later to your audience either during activ</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5159bf13b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d5159bf13b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5159bf13b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5159bf13b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5159bf13b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5159bf13b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5159bf13b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5159bf13b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5159bf13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5159bf13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4c1e25338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4c1e25338_2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d69e5dc3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d69e5dc3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4e94df86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4e94df86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a:t>
            </a:r>
            <a:r>
              <a:rPr lang="en"/>
              <a:t>we’ve set up the problem: we have a set of points P, each with a hidden label, and we want to find a good monotone classifier while querying as few labels as possible. Now, let’s to the first algorithm that does this. It's called Random Probes with Elimination, or RPE. </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
              <a:t>It's deceptively simple, requiring no prior knowledge of k*</a:t>
            </a:r>
            <a:r>
              <a:rPr i="1" lang="en"/>
              <a:t> – </a:t>
            </a:r>
            <a:r>
              <a:rPr i="1" lang="en">
                <a:solidFill>
                  <a:schemeClr val="dk1"/>
                </a:solidFill>
              </a:rPr>
              <a:t>the minimum number of mistakes any monotone classifier can make on the dataset</a:t>
            </a:r>
            <a:r>
              <a:rPr lang="en">
                <a:solidFill>
                  <a:schemeClr val="dk1"/>
                </a:solidFill>
              </a:rPr>
              <a:t>. </a:t>
            </a:r>
            <a:r>
              <a:rPr lang="en"/>
              <a:t>And yet it achieves a 2-approximate solution in expectation with low probing cost.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d69e5dc30_1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d69e5dc30_1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entire algorithm is just two steps, repeated in a loop.</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Step 1: We pick a random unlabelled point and ask the oracle for its label.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86f5ec9aa2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86f5ec9aa2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We use monotonicity to immediately assign labels to a whole region of the space — and remove those points. We don't need to probe them.</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b5b5543a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b5b5543a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Then we repeat on what's left i.e. the points whose labels cannot yet be inferred. And we stop when there all points are labelled.</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6f847055d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6f847055d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So, </a:t>
            </a:r>
            <a:r>
              <a:rPr lang="en">
                <a:solidFill>
                  <a:schemeClr val="dk1"/>
                </a:solidFill>
              </a:rPr>
              <a:t>why does step 2 work? How</a:t>
            </a:r>
            <a:r>
              <a:rPr lang="en">
                <a:solidFill>
                  <a:schemeClr val="dk1"/>
                </a:solidFill>
              </a:rPr>
              <a:t> can one probe determine the labels of many other points?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The key is monotonicity. When we probe a point z and find its label, monotonicity gives us the labels of every point that's comparable to z — meaning every point that's either strictly above z or strictly below z in every feature simultaneously.</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86f847055d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86f847055d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Let’s look at case 1. If label(z) = +1, , then any point p that dominates z — meaning p is at least as large as z on every coordinate — must also be +1. Because if it were -1, that would violate monotonicity. So we can safely label all of them +1 and remove them.</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6f847055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86f847055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Now, see case 2. If label(z) = -1, then any point p dominated by z — smaller or equal on every coordinate — must also be -1. Same reasoning. Remove them.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6f5ec9aa2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6f5ec9aa2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shaded region in each diagram is essentially the “area of influence” of z — the set of points whose labels are forced. These can be very large, especially in high dimensions. That's what makes RPE efficient.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More intuitively, we can reason that if a point z is positive, then every point above it must also be positive and we remove them. Likewise, if z is negative, then every point below it must also be negative and we remove them. As such, each probe “wipes out” a whole region of points.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7059b1330_5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7059b1330_5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RPE works because each probe does “double duty”. When we pick a random point z and ask the oracle for its label, we don't just learn about z. Monotonicity immediately tells us the labels of a whole region of other points — for free, without any extra probes.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Only the points that are incomparable to z — neither above nor below it — remain uncertain. These are the points the algorithm still needs to probe and resolve in subsequent iterations.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d69e5dc30_1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d69e5dc30_1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actual algorithm is pretty short – only 6 lines!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We start with an empty set Z — this will track every point we've probed. Then we loop: while P is non-empty, pick a uniformly random element z, probe it, and add it to Z. If its label is +1, remove everything that z dominates — that's Line 4. If it's −1, remove everything that dominates z — Line 5. z itself is removed by one of these two lines. Repeat until P is empty.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87059b1330_3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87059b1330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classifier output is even simpler: label a point p as +1 if it dominates any confirmed positive probe in Z. Otherwise label it −1. So the algorithm really only needs to remember one thing: where are the confirmed positive points?</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d69e5dc30_1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dd69e5dc30_1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might ask: is this classifier always monotone? Yes — and we can prove this contradiction.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Suppose p dominates q but hRPE(p) = −1 and hRPE(q) = +1. Since q is +1, it dominates some z in Z with label +1. But then p dominates q which dominates z, so p also dominates z by transitivity — which means hRPE(p) should be +1. Contradiction!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87059b1330_3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87059b1330_3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Put simply, if a point q is labelled +1, it must be “supported” by some positive probe z. If another point p is even better than q, then p is also better than z. So, if q is good enough to be +1, then p must also be +1!</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87059b1330_3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87059b1330_3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To see the algorithm in action, let’s trace RPE on this 16-point set. </a:t>
            </a:r>
            <a:r>
              <a:rPr lang="en">
                <a:solidFill>
                  <a:schemeClr val="dk1"/>
                </a:solidFill>
              </a:rPr>
              <a:t>Green points are labelled +1, red points are labelled -1.</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87059b1330_3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87059b1330_3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Suppose RPE randomly selects p₁ as its first probe. The oracle says label(p₁) = +1.</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87059b1330_3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87059b1330_3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Line 4 of the algorithm kicks in and we</a:t>
            </a:r>
            <a:r>
              <a:rPr lang="en">
                <a:solidFill>
                  <a:schemeClr val="dk1"/>
                </a:solidFill>
              </a:rPr>
              <a:t> remove every point p that dominates p₁. Notice that p₁ sits towards the bottom-left of the figure. This means almost every other point is "more similar than p₁ on every feature", i.e., dominates p₁.</a:t>
            </a:r>
            <a:endParaRPr>
              <a:solidFill>
                <a:schemeClr val="dk1"/>
              </a:solidFill>
            </a:endParaRPr>
          </a:p>
          <a:p>
            <a:pPr indent="0" lvl="0" marL="0" rtl="0" algn="l">
              <a:spcBef>
                <a:spcPts val="0"/>
              </a:spcBef>
              <a:spcAft>
                <a:spcPts val="0"/>
              </a:spcAft>
              <a:buNone/>
            </a:pPr>
            <a:r>
              <a:t/>
            </a:r>
            <a:endParaRPr sz="1300">
              <a:solidFill>
                <a:srgbClr val="1E276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87059b1330_3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87059b1330_3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So 13 out of 16 points are eliminated in one shot. Only p₆, p₇, and p₈ remain — they're incomparable to p₁, sitting to its lower-right. Their labels are still unknown. And the cost so far is 1 probe.</a:t>
            </a:r>
            <a:endParaRPr sz="1300">
              <a:solidFill>
                <a:srgbClr val="1E276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87059b1330_3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87059b1330_3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RPE now randomly selects from the remaining three points. Say it picks p₈. The oracle reveals label(p₈) = −1.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87059b1330_3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87059b1330_3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Line 5 of the algorithm: we remove everything z ⪰ p₈, i.e., everything that p₈ dominates — which is p₆, p₇, and p₈ itself. P is now empty.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87059b1330_3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87059b1330_3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algorithm terminates with Z = {p₁, p₈}. Just 2 probes to classify all 16 points.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output classifier maps every p that dominates p₁ to +1, everything else to −1.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87059b1330_3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87059b1330_3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check the classifier’s output against the true labels. As we can see, 5 red points were misclassified as green i.e. labelled +1 instead of -1. So, the total error = 5.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RPE does not need to know k* to work – which we recall is the minimum number of mistakes any monotone classifier can make on the dataset. In this case, k* = 3, so the RPE classifier’s error is worse, but it’s still below 2k* = 6. We will look at this upper bound later, but this is the expected trade-off: RPE probes very few points but may produce a somewhat suboptimal classifier. </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k* is the </a:t>
            </a:r>
            <a:r>
              <a:rPr i="1" lang="en"/>
              <a:t>minimum number of mistakes any monotone classifier can make on the dataset </a:t>
            </a:r>
            <a:endParaRPr i="1"/>
          </a:p>
          <a:p>
            <a:pPr indent="0" lvl="0" marL="0" rtl="0" algn="l">
              <a:spcBef>
                <a:spcPts val="0"/>
              </a:spcBef>
              <a:spcAft>
                <a:spcPts val="0"/>
              </a:spcAft>
              <a:buNone/>
            </a:pPr>
            <a:r>
              <a:rPr i="1" lang="en"/>
              <a:t>i.e. “minimum number of points to change so labels become monotone”</a:t>
            </a:r>
            <a:endParaRPr i="1"/>
          </a:p>
          <a:p>
            <a:pPr indent="0" lvl="0" marL="0" rtl="0" algn="l">
              <a:spcBef>
                <a:spcPts val="0"/>
              </a:spcBef>
              <a:spcAft>
                <a:spcPts val="0"/>
              </a:spcAft>
              <a:buNone/>
            </a:pPr>
            <a:r>
              <a:t/>
            </a:r>
            <a:endParaRPr i="1"/>
          </a:p>
          <a:p>
            <a:pPr indent="0" lvl="0" marL="0" rtl="0" algn="l">
              <a:spcBef>
                <a:spcPts val="0"/>
              </a:spcBef>
              <a:spcAft>
                <a:spcPts val="0"/>
              </a:spcAft>
              <a:buNone/>
            </a:pPr>
            <a:r>
              <a:rPr i="1" lang="en"/>
              <a:t>p1, p11, p15 in this case</a:t>
            </a:r>
            <a:endParaRPr i="1"/>
          </a:p>
          <a:p>
            <a:pPr indent="0" lvl="0" marL="0" rtl="0" algn="l">
              <a:spcBef>
                <a:spcPts val="0"/>
              </a:spcBef>
              <a:spcAft>
                <a:spcPts val="0"/>
              </a:spcAft>
              <a:buNone/>
            </a:pPr>
            <a:r>
              <a:t/>
            </a:r>
            <a:endParaRPr i="1"/>
          </a:p>
          <a:p>
            <a:pPr indent="0" lvl="0" marL="0" rtl="0" algn="l">
              <a:lnSpc>
                <a:spcPct val="115000"/>
              </a:lnSpc>
              <a:spcBef>
                <a:spcPts val="0"/>
              </a:spcBef>
              <a:spcAft>
                <a:spcPts val="0"/>
              </a:spcAft>
              <a:buClr>
                <a:schemeClr val="dk1"/>
              </a:buClr>
              <a:buSzPts val="1100"/>
              <a:buFont typeface="Arial"/>
              <a:buNone/>
            </a:pPr>
            <a:r>
              <a:rPr i="1" lang="en"/>
              <a:t>Consider the monotone classifier h that maps (i) all the green points to 1 except p1, and (ii)</a:t>
            </a:r>
            <a:endParaRPr i="1"/>
          </a:p>
          <a:p>
            <a:pPr indent="0" lvl="0" marL="0" rtl="0" algn="l">
              <a:lnSpc>
                <a:spcPct val="115000"/>
              </a:lnSpc>
              <a:spcBef>
                <a:spcPts val="0"/>
              </a:spcBef>
              <a:spcAft>
                <a:spcPts val="0"/>
              </a:spcAft>
              <a:buClr>
                <a:schemeClr val="dk1"/>
              </a:buClr>
              <a:buSzPts val="1100"/>
              <a:buFont typeface="Arial"/>
              <a:buNone/>
            </a:pPr>
            <a:r>
              <a:rPr i="1" lang="en"/>
              <a:t>all the red points to −1 except p11 and p15. Thus, errP(h) = 3. No other monotone classifier has</a:t>
            </a:r>
            <a:endParaRPr i="1"/>
          </a:p>
          <a:p>
            <a:pPr indent="0" lvl="0" marL="0" rtl="0" algn="l">
              <a:lnSpc>
                <a:spcPct val="115000"/>
              </a:lnSpc>
              <a:spcBef>
                <a:spcPts val="0"/>
              </a:spcBef>
              <a:spcAft>
                <a:spcPts val="0"/>
              </a:spcAft>
              <a:buNone/>
            </a:pPr>
            <a:r>
              <a:rPr i="1" lang="en"/>
              <a:t>a smaller error on P and, hence, k∗= 3</a:t>
            </a:r>
            <a:endParaRPr i="1"/>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87059b1330_5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87059b1330_5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RPE satisfies 2 things.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First, the expected error is at most 2k*. So on average across random runs, RPE makes at most twice as many mistakes as the best possible monotone classifier.</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87059b1330_5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87059b1330_5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special case that k* = 0, 2k* = 0 so RPE will always find a perfect classifier.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we must note that the upper bound error guarantee is in </a:t>
            </a:r>
            <a:r>
              <a:rPr lang="en"/>
              <a:t>expectation</a:t>
            </a:r>
            <a:r>
              <a:rPr lang="en"/>
              <a:t>. Any particular of the algorithm may do worse i.e. result in an error exceeding 2k*.</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87059b1330_5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87059b1330_5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Second, the expected number of probes is O(w · log(n/w)) — far fewer than the naïve approach of probing all n points. The key parameter here is w, the dominance width — the size of the largest set of mutually incomparable points.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Note that RPE never computes w. The width only appears in the analysis, not the algorithm itself.</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87059b1330_5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87059b1330_5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How do we prove the expectation of error is ≤ 2k*? The proof proceeds by induction.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First, we fix any monotone classifier h. Partition P into h-good points and h-bad points. h-good points are points that are correctly classified by h i.e. h(p) = label(p). </a:t>
            </a:r>
            <a:r>
              <a:rPr lang="en"/>
              <a:t>h</a:t>
            </a:r>
            <a:r>
              <a:rPr lang="en"/>
              <a:t>-bad points are points that are misclassified by h i.e. h(p) ≠ label(p).</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Setting h = h* which is the optimal classifier, there are exactly k* bad points. </a:t>
            </a:r>
            <a:endParaRPr/>
          </a:p>
          <a:p>
            <a:pPr indent="0" lvl="0" marL="0" rtl="0" algn="l">
              <a:lnSpc>
                <a:spcPct val="115000"/>
              </a:lnSpc>
              <a:spcBef>
                <a:spcPts val="0"/>
              </a:spcBef>
              <a:spcAft>
                <a:spcPts val="0"/>
              </a:spcAft>
              <a:buNone/>
            </a:pPr>
            <a:r>
              <a:rPr lang="en"/>
              <a:t>Lemma 2.1 says that the expected number of h*-good points that RPE misclassifies is at most k*. Add the k* bad points (which are always misclassified regardless), and total expected error ≤ 2k*.</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87059b1330_5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87059b1330_5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 tool that makes Lemma 2 work is the symmetry of influence sets. For each bad point p, define I_bad(p) as the set of good points that would get misclassified if p were probed first. For each good point q, I_good(q) is the set of bad points that would get 'corrected' if q were probed first.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By Lemma 2.2, these two quantities sum to the same total. That is, the total 'potential for error’ from bad points equals the total 'potential for correction’ from good points. This balance is what allows the inductive argument to close at exactly err_P(h).</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87059b1330_6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87059b1330_6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Now, let’s prove why RPE costs at most O(w⋅log(n/w)) probes.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First, by Dilworth's Theorem, any point set P can be partitioned into exactly w disjoint chains — subsets where every two points are comparable to each other. Recall that two points p and q are comparable if p dominates  q or q dominates p. That is, we can clearly say one is better (or equal) in all aspects.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87059b1330_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87059b1330_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Taking the earlier example, we can decompose P into 6 chains shown here.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87059b1330_6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387059b1330_6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Second, we can model </a:t>
            </a:r>
            <a:r>
              <a:rPr lang="en">
                <a:solidFill>
                  <a:schemeClr val="dk1"/>
                </a:solidFill>
              </a:rPr>
              <a:t>RPE's behaviour on each chain as an Attrition-and-Elimination game.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 adversary (Bob) removes some points each round to make things hard. Then Alice picks a random point p and eliminates all points q that dominate p i.e. deletes everything above p.</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87059b1330_6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87059b1330_6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key insight is that regardless of Bob's strategy, Alice's random pick falls in the lower half of the remaining chain with probability greater than 1/2. So each round halves the chain with probability &gt; 1/2, and by a standard halving argument, the game ends in O(log m) expected rounds for a chain of size m.</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87059b1330_6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87059b1330_6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Finally, we s</a:t>
            </a:r>
            <a:r>
              <a:rPr lang="en">
                <a:solidFill>
                  <a:schemeClr val="dk1"/>
                </a:solidFill>
              </a:rPr>
              <a:t>um across all w chains, gettingΣ O(log |Cᵢ|), and by Jensen's inequality — log is concave, so the sum is maximised when all chains have equal size n/w — this gives O(w · log(n/w)) total expected probes.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87059b1330_6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87059b1330_6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So RPE guarantees 2k* error in expectation. You might wonder: can we do better? Can we get the error down to, say, 1.5k* just by being cleverer with random probing? The answer is no. The factor of 2 is asymptotically tight for RPE.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Let’s illustrate this using an example. Take n−1 red points</a:t>
            </a:r>
            <a:r>
              <a:rPr lang="en"/>
              <a:t> (label −1)</a:t>
            </a:r>
            <a:r>
              <a:rPr lang="en"/>
              <a:t> and one green point (label +1), arranged so no point dominates any other. The optimal classifier maps everything to −1, giving k* = 1.</a:t>
            </a:r>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87059b1330_6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87059b1330_6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With probability 1/n, RPE probes the green point first. It dominates nothing, so no eliminations occur. All n−1 red points remain and eventually get labelled +1. These misclassifications result in error n−1. Note that this is ≥ 2k* = 2, showing that a single run of RPE may exceed the guaranteed expected error bound.</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87059b1330_6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87059b1330_6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With probability 1−1/n, a red point is probed first. Red points dominate nothing, so we remove only these points. Only the green point remains and gets mapped to -1. This misclassification gives error = 1.</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87059b1330_6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87059b1330_6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can calculate the e</a:t>
            </a:r>
            <a:r>
              <a:rPr lang="en">
                <a:solidFill>
                  <a:schemeClr val="dk1"/>
                </a:solidFill>
              </a:rPr>
              <a:t>xpected error = (1/n)(n−1) + (1−1/n)(1) = 2 − 2/n, which approaches 2 as n goes to infinity.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Since k* = 1, the approximation ratio approaches 2k*/k* which 2.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No modification to RPE's random-probing strategy can beat this.</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5159bf13b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d5159bf13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Let me wrap up the key ideas from the RPE algorithm.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The main idea is that instead of labeling every point, we randomly probe a few points and use the monotonicity property to infer many others. This works because each probe doesn’t just give us one label — it actually determines the labels of an entire region of points. So over time, we only need to focus on the uncertain points.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 terms of performance, RPE is quite strong. It achieves an error that is at most twice the optimal monotone error, and it does so using far fewer probes — roughly O of w log n over w.</a:t>
            </a:r>
            <a:endParaRPr/>
          </a:p>
          <a:p>
            <a:pPr indent="0" lvl="0" marL="0" rtl="0" algn="l">
              <a:lnSpc>
                <a:spcPct val="115000"/>
              </a:lnSpc>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The main advantage of RPE is that is requires n</a:t>
            </a:r>
            <a:r>
              <a:rPr lang="en">
                <a:solidFill>
                  <a:schemeClr val="dk1"/>
                </a:solidFill>
              </a:rPr>
              <a:t>o knowledge of k*. Most active learning algorithms need ξ as a parameter, which requires knowing ν = k*/n. Calculating the exact k* is not trivial and requires solving a global optimization problem.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So the key takeaway is that a small number of carefully chosen queries can replace labeling the entire dataset, which is especially useful when labeling is expensive.</a:t>
            </a:r>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However, there are two limitations: the factor of 2 error cannot be improved, and the guarantee only holds in expectation.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t>And this sets the stage for more advanced methods that further improve the accuracy.</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d4f2124dd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d4f2124dd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So the previous speaker showed us RPE — a clever technique to approximate errors by random probing. But as we're about to see, RPE has a fundamental limitation. Today I'll be talking about how we go beyond it using something called Relative-Comparison Coresets, or RCC for short.</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meme on this slide actually captures the key idea perfectly. Instead of trying to estimate the exact error — which is expensive — or even approximating it like RPE does, we take a smarter approach: we compare errors without ever fully knowing them. That shift in perspective is what this whole section is about.</a:t>
            </a:r>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4f2124dd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d4f2124dd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Let's start with the limitation. RPE gives us an expected error of at most 2k*, where k* is the optimal error. And this guarantee is tight — meaning we can't squeeze a better bound out of RPE, no matter what we do.</a:t>
            </a:r>
            <a:endParaRPr/>
          </a:p>
          <a:p>
            <a:pPr indent="0" lvl="0" marL="0" rtl="0" algn="l">
              <a:lnSpc>
                <a:spcPct val="115000"/>
              </a:lnSpc>
              <a:spcBef>
                <a:spcPts val="0"/>
              </a:spcBef>
              <a:spcAft>
                <a:spcPts val="0"/>
              </a:spcAft>
              <a:buClr>
                <a:schemeClr val="dk1"/>
              </a:buClr>
              <a:buSzPts val="1100"/>
              <a:buFont typeface="Arial"/>
              <a:buNone/>
            </a:pPr>
            <a:r>
              <a:rPr lang="en"/>
              <a:t>For a research prototype, 2k* might be acceptable. But imagine you're running a production entity-matching pipeline — say, deduplicating a massive customer database. A factor-of-2 error margin could mean millions of incorrect merges. That's unacceptable.</a:t>
            </a:r>
            <a:endParaRPr/>
          </a:p>
          <a:p>
            <a:pPr indent="0" lvl="0" marL="0" rtl="0" algn="l">
              <a:lnSpc>
                <a:spcPct val="115000"/>
              </a:lnSpc>
              <a:spcBef>
                <a:spcPts val="0"/>
              </a:spcBef>
              <a:spcAft>
                <a:spcPts val="0"/>
              </a:spcAft>
              <a:buClr>
                <a:schemeClr val="dk1"/>
              </a:buClr>
              <a:buSzPts val="1100"/>
              <a:buFont typeface="Arial"/>
              <a:buNone/>
            </a:pPr>
            <a:r>
              <a:rPr lang="en"/>
              <a:t>What we really want is an error of (1 + ε) · k* for any ε we choose — say, 1%, or 0.1%. So the question becomes: can we do better than factor 2?</a:t>
            </a:r>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d4f2124dd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d4f2124dd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Before we answer that, let's think about why this is hard. The natural idea would be: just estimate err(h) directly by probing some points and extrapolating. Done.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But here's the problem — estimating the true error directly is too expensive. And the next slide shows exactly why.</a:t>
            </a:r>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dd69e5dc3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3dd69e5dc3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This meme shows four levels of sophistication. Computing the exact error is the most naive approach. Approximating it with RPE is smarter. Struggling to get better estimates is the brute-force path — and it leads nowhere good. But the galaxy-brain move? Comparing errors without fully knowing them. That's the insight this section builds 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d69e5dc3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dd69e5dc3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Here's the concrete lower bound. Consider the simplest possible classifier: h_pos, which labels everything as +1. To estimate its error, you'd need to find at least one −1 label in the dataset — or confirm that none exists. In the worst case, the single −1 element is the very last one you probe. That requires Ω(n) probes in expectation. You'd have to look at almost the whole dataset just to pin down one classifier's error.</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And remember, we need this to hold simultaneously for all classifiers — there are infinitely many of them. So direct estimation is completely off the table.</a:t>
            </a:r>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87059b1330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387059b133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So instead of computing errors directly, we look for a proxy function F. We want F to map each classifier h to a real number, such that comparing F(h) versus F(h') reliably tells us which classifier is better.</a:t>
            </a:r>
            <a:endParaRPr/>
          </a:p>
          <a:p>
            <a:pPr indent="0" lvl="0" marL="0" rtl="0" algn="l">
              <a:lnSpc>
                <a:spcPct val="115000"/>
              </a:lnSpc>
              <a:spcBef>
                <a:spcPts val="0"/>
              </a:spcBef>
              <a:spcAft>
                <a:spcPts val="0"/>
              </a:spcAft>
              <a:buClr>
                <a:schemeClr val="dk1"/>
              </a:buClr>
              <a:buSzPts val="1100"/>
              <a:buFont typeface="Arial"/>
              <a:buNone/>
            </a:pPr>
            <a:r>
              <a:rPr lang="en"/>
              <a:t>Formally, we want the Comparison Property: if F(h) ≤ F(h'), then err(h) ≤ (1 + ε) · err(h'). And since F(h) ≤ F(h*) for the optimal classifier h*, this gives us err(ĥ) ≤ (1 + ε) · k*. That's our target guarantee.</a:t>
            </a:r>
            <a:endParaRPr/>
          </a:p>
          <a:p>
            <a:pPr indent="0" lvl="0" marL="0" rtl="0" algn="l">
              <a:lnSpc>
                <a:spcPct val="115000"/>
              </a:lnSpc>
              <a:spcBef>
                <a:spcPts val="0"/>
              </a:spcBef>
              <a:spcAft>
                <a:spcPts val="0"/>
              </a:spcAft>
              <a:buClr>
                <a:schemeClr val="dk1"/>
              </a:buClr>
              <a:buSzPts val="1100"/>
              <a:buFont typeface="Arial"/>
              <a:buNone/>
            </a:pPr>
            <a:r>
              <a:rPr lang="en"/>
              <a:t>The question is: how do we build such an F cheaply?</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d4f2124dd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d4f2124dd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This is the core idea of the entire section, so pay close attention.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Instead of requiring F(h) to be close to err(h) in absolute terms, we allow all the estimates to be shifted by the same unknown constant Δ. The guarantee we require is: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err_P(h)(1 − ε/4) + Δ ≤ F(h) ≤ err_P(h)(1 + ε/4) + Δ, for all h ∈ H_mon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The key insight — highlighted here — is that Δ cancels whenever we compare two classifiers. We never need to know its value. We only ever use F to compare, never to read off an absolute error. That's the trick.</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This is a genuinely elegant idea. We're not hiding Δ or ignoring it — we're deliberately designing our function so that Δ doesn't matter for the task we actually care about.</a:t>
            </a:r>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87059b1330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87059b1330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Let's verify this actually works. Suppose F(h) ≤ F(h').</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Step 1: From the left inequality for h: err_P(h) · (1 − ε/4) + Δ ≤ F(h).</a:t>
            </a:r>
            <a:endParaRPr/>
          </a:p>
          <a:p>
            <a:pPr indent="0" lvl="0" marL="0" rtl="0" algn="l">
              <a:lnSpc>
                <a:spcPct val="115000"/>
              </a:lnSpc>
              <a:spcBef>
                <a:spcPts val="0"/>
              </a:spcBef>
              <a:spcAft>
                <a:spcPts val="0"/>
              </a:spcAft>
              <a:buClr>
                <a:schemeClr val="dk1"/>
              </a:buClr>
              <a:buSzPts val="1100"/>
              <a:buFont typeface="Arial"/>
              <a:buNone/>
            </a:pPr>
            <a:r>
              <a:rPr lang="en"/>
              <a:t>Step 2: From the right inequality for h': F(h') ≤ err_P(h') · (1 + ε/4) + Δ.</a:t>
            </a:r>
            <a:endParaRPr/>
          </a:p>
          <a:p>
            <a:pPr indent="0" lvl="0" marL="0" rtl="0" algn="l">
              <a:lnSpc>
                <a:spcPct val="115000"/>
              </a:lnSpc>
              <a:spcBef>
                <a:spcPts val="0"/>
              </a:spcBef>
              <a:spcAft>
                <a:spcPts val="0"/>
              </a:spcAft>
              <a:buNone/>
            </a:pPr>
            <a:r>
              <a:rPr lang="en"/>
              <a:t>Since F(h) ≤ F(h'), chaining these gives: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err_P(h) · (1 − ε/4) + Δ ≤ err_P(h') · (1 + ε/4) + Δ</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Δ terms on both sides cancel exactly. Rearranging, and using the fact that (1 + ε/4)/(1 − ε/4) ≤ (1 + ε) for ε ∈ (0,1], we get:</a:t>
            </a:r>
            <a:endParaRPr/>
          </a:p>
          <a:p>
            <a:pPr indent="0" lvl="0" marL="0" rtl="0" algn="l">
              <a:lnSpc>
                <a:spcPct val="115000"/>
              </a:lnSpc>
              <a:spcBef>
                <a:spcPts val="0"/>
              </a:spcBef>
              <a:spcAft>
                <a:spcPts val="0"/>
              </a:spcAft>
              <a:buNone/>
            </a:pPr>
            <a:r>
              <a:rPr lang="en"/>
              <a:t>err_P(h) ≤ (1 + ε) · err_P(h')</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That's the comparison property. Notice we never computed Δ — it was just a ghost that vanished.</a:t>
            </a:r>
            <a:endParaRPr/>
          </a:p>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d4f2124dd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3d4f2124dd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Now we need to actually construct this proxy function F. The vehicle for doing so is the Relative-Comparison Coreset.</a:t>
            </a:r>
            <a:endParaRPr/>
          </a:p>
          <a:p>
            <a:pPr indent="0" lvl="0" marL="0" rtl="0" algn="l">
              <a:lnSpc>
                <a:spcPct val="115000"/>
              </a:lnSpc>
              <a:spcBef>
                <a:spcPts val="0"/>
              </a:spcBef>
              <a:spcAft>
                <a:spcPts val="0"/>
              </a:spcAft>
              <a:buNone/>
            </a:pPr>
            <a:r>
              <a:rPr lang="en"/>
              <a:t>A coreset Z is a small weighted subset of the full dataset P. Crucially, the labels of points in Z are revealed — we've probed them. Each point z carries a positive weight. The weighted error of a classifier h on Z is defined as the sum of weights of all misclassified points in Z.</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coreset Z acts as our proxy: w-errZ(h) plays the role of F(h). The promise is that this weighted error satisfies the Unknown-Δ condition for all h simultaneously — even though Z is tiny compared to P.</a:t>
            </a:r>
            <a:endParaRPr/>
          </a:p>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87059b1330_2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87059b1330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Here's what we can achieve. With O(w/ε² · log(nw/δ) · log n) probes, we can build a coreset Z of the same size such that, with high probability, for every h ∈ H_mon:</a:t>
            </a:r>
            <a:endParaRPr/>
          </a:p>
          <a:p>
            <a:pPr indent="0" lvl="0" marL="0" rtl="0" algn="l">
              <a:lnSpc>
                <a:spcPct val="115000"/>
              </a:lnSpc>
              <a:spcBef>
                <a:spcPts val="0"/>
              </a:spcBef>
              <a:spcAft>
                <a:spcPts val="0"/>
              </a:spcAft>
              <a:buClr>
                <a:schemeClr val="dk1"/>
              </a:buClr>
              <a:buSzPts val="1100"/>
              <a:buFont typeface="Arial"/>
              <a:buNone/>
            </a:pPr>
            <a:r>
              <a:rPr lang="en"/>
              <a:t>err_P(h)(1 − ε/4) + Δ ≤ w-errZ(h) ≤ err_P(h)(1 + ε/4) + Δ</a:t>
            </a:r>
            <a:endParaRPr/>
          </a:p>
          <a:p>
            <a:pPr indent="0" lvl="0" marL="0" rtl="0" algn="l">
              <a:lnSpc>
                <a:spcPct val="115000"/>
              </a:lnSpc>
              <a:spcBef>
                <a:spcPts val="0"/>
              </a:spcBef>
              <a:spcAft>
                <a:spcPts val="0"/>
              </a:spcAft>
              <a:buClr>
                <a:schemeClr val="dk1"/>
              </a:buClr>
              <a:buSzPts val="1100"/>
              <a:buFont typeface="Arial"/>
              <a:buNone/>
            </a:pPr>
            <a:r>
              <a:rPr lang="en"/>
              <a:t>for some unknown Δ. And since w-errZ satisfies this, it serves directly as our desired function F — with all the comparison guarantees we just proved.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8b4aceda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38b4aceda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 rest of this section is devoted to proving Theorem 6, which states: given a dataset of size n and width w, we can build a relative-comparison coreset using O(w/ε² · log(n/w) · log(n/δ)) probes.</a:t>
            </a:r>
            <a:endParaRPr/>
          </a:p>
          <a:p>
            <a:pPr indent="0" lvl="0" marL="0" rtl="0" algn="l">
              <a:lnSpc>
                <a:spcPct val="115000"/>
              </a:lnSpc>
              <a:spcBef>
                <a:spcPts val="0"/>
              </a:spcBef>
              <a:spcAft>
                <a:spcPts val="0"/>
              </a:spcAft>
              <a:buClr>
                <a:schemeClr val="dk1"/>
              </a:buClr>
              <a:buSzPts val="1100"/>
              <a:buFont typeface="Arial"/>
              <a:buNone/>
            </a:pPr>
            <a:r>
              <a:rPr lang="en"/>
              <a:t>We do this in three steps. First, we establish correctness for d = 1 — the one-dimensional case. Second, we use that solution to actually construct the coreset. Third, we extend to d &gt; 1 using Dilworth's Theorem, which the previous speaker already introduced.</a:t>
            </a:r>
            <a:endParaRPr/>
          </a:p>
          <a:p>
            <a:pPr indent="0" lvl="0" marL="0" rtl="0" algn="l">
              <a:lnSpc>
                <a:spcPct val="115000"/>
              </a:lnSpc>
              <a:spcBef>
                <a:spcPts val="0"/>
              </a:spcBef>
              <a:spcAft>
                <a:spcPts val="0"/>
              </a:spcAft>
              <a:buClr>
                <a:schemeClr val="dk1"/>
              </a:buClr>
              <a:buSzPts val="1100"/>
              <a:buFont typeface="Arial"/>
              <a:buNone/>
            </a:pPr>
            <a:r>
              <a:rPr lang="en"/>
              <a:t>Let's go through each step.</a:t>
            </a:r>
            <a:endParaRPr/>
          </a:p>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d4f2124dd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3d4f2124dd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For d = 1, the building block we need to solve at each level of recursion is: given a multiset Q of 1D labeled points, find F : H_mon → ℝ such that for all h ∈ H_mon simultaneously:</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|F(h) − err_Q(h)| ≤ ε|Q|/64 — F is close to the true error in absolute terms</a:t>
            </a:r>
            <a:endParaRPr/>
          </a:p>
          <a:p>
            <a:pPr indent="0" lvl="0" marL="0" rtl="0" algn="l">
              <a:lnSpc>
                <a:spcPct val="115000"/>
              </a:lnSpc>
              <a:spcBef>
                <a:spcPts val="0"/>
              </a:spcBef>
              <a:spcAft>
                <a:spcPts val="0"/>
              </a:spcAft>
              <a:buClr>
                <a:schemeClr val="dk1"/>
              </a:buClr>
              <a:buSzPts val="1100"/>
              <a:buFont typeface="Arial"/>
              <a:buNone/>
            </a:pPr>
            <a:r>
              <a:rPr lang="en"/>
              <a:t>err_Q(h)(1 − ε/4) + Δ ≤ F(h) ≤ err_Q(h)(1 + ε/4) + Δ — the shifted approximation condition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with |Δ| ≤ ε|Q|/64. This is the sub-problem that the recursive algorithm BuildCoreset solves at each level.</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87059b1330_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387059b1330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Here's the algorithm at a high level.</a:t>
            </a:r>
            <a:endParaRPr/>
          </a:p>
          <a:p>
            <a:pPr indent="0" lvl="0" marL="0" rtl="0" algn="l">
              <a:lnSpc>
                <a:spcPct val="115000"/>
              </a:lnSpc>
              <a:spcBef>
                <a:spcPts val="0"/>
              </a:spcBef>
              <a:spcAft>
                <a:spcPts val="0"/>
              </a:spcAft>
              <a:buClr>
                <a:schemeClr val="dk1"/>
              </a:buClr>
              <a:buSzPts val="1100"/>
              <a:buFont typeface="Arial"/>
              <a:buNone/>
            </a:pPr>
            <a:r>
              <a:rPr lang="en"/>
              <a:t>Base case: if P has a single element, probe it, add it to Z with weight 1, and return.</a:t>
            </a:r>
            <a:endParaRPr/>
          </a:p>
          <a:p>
            <a:pPr indent="0" lvl="0" marL="0" rtl="0" algn="l">
              <a:lnSpc>
                <a:spcPct val="115000"/>
              </a:lnSpc>
              <a:spcBef>
                <a:spcPts val="0"/>
              </a:spcBef>
              <a:spcAft>
                <a:spcPts val="0"/>
              </a:spcAft>
              <a:buClr>
                <a:schemeClr val="dk1"/>
              </a:buClr>
              <a:buSzPts val="1100"/>
              <a:buFont typeface="Arial"/>
              <a:buNone/>
            </a:pPr>
            <a:r>
              <a:rPr lang="en"/>
              <a:t>Recursive case: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Draw a sample S₁ from the full P. Use it to compute G₁, which locates split points α and β.</a:t>
            </a:r>
            <a:endParaRPr/>
          </a:p>
          <a:p>
            <a:pPr indent="0" lvl="0" marL="0" rtl="0" algn="l">
              <a:lnSpc>
                <a:spcPct val="115000"/>
              </a:lnSpc>
              <a:spcBef>
                <a:spcPts val="0"/>
              </a:spcBef>
              <a:spcAft>
                <a:spcPts val="0"/>
              </a:spcAft>
              <a:buClr>
                <a:schemeClr val="dk1"/>
              </a:buClr>
              <a:buSzPts val="1100"/>
              <a:buFont typeface="Arial"/>
              <a:buNone/>
            </a:pPr>
            <a:r>
              <a:rPr lang="en"/>
              <a:t>This partitions P into three parts: P_α (points equal to α), P_mid (between α and β), and P_rest (everything else).</a:t>
            </a:r>
            <a:endParaRPr/>
          </a:p>
          <a:p>
            <a:pPr indent="0" lvl="0" marL="0" rtl="0" algn="l">
              <a:lnSpc>
                <a:spcPct val="115000"/>
              </a:lnSpc>
              <a:spcBef>
                <a:spcPts val="0"/>
              </a:spcBef>
              <a:spcAft>
                <a:spcPts val="0"/>
              </a:spcAft>
              <a:buClr>
                <a:schemeClr val="dk1"/>
              </a:buClr>
              <a:buSzPts val="1100"/>
              <a:buFont typeface="Arial"/>
              <a:buNone/>
            </a:pPr>
            <a:r>
              <a:rPr lang="en"/>
              <a:t>For P_rest: draw sample S₂, add it to Z with weight |P_rest|/|S₂|.</a:t>
            </a:r>
            <a:endParaRPr/>
          </a:p>
          <a:p>
            <a:pPr indent="0" lvl="0" marL="0" rtl="0" algn="l">
              <a:lnSpc>
                <a:spcPct val="115000"/>
              </a:lnSpc>
              <a:spcBef>
                <a:spcPts val="0"/>
              </a:spcBef>
              <a:spcAft>
                <a:spcPts val="0"/>
              </a:spcAft>
              <a:buClr>
                <a:schemeClr val="dk1"/>
              </a:buClr>
              <a:buSzPts val="1100"/>
              <a:buFont typeface="Arial"/>
              <a:buNone/>
            </a:pPr>
            <a:r>
              <a:rPr lang="en"/>
              <a:t>For P_α: draw sample S_α, add it to Z with weight |P_α|/|S_α|.</a:t>
            </a:r>
            <a:endParaRPr/>
          </a:p>
          <a:p>
            <a:pPr indent="0" lvl="0" marL="0" rtl="0" algn="l">
              <a:lnSpc>
                <a:spcPct val="115000"/>
              </a:lnSpc>
              <a:spcBef>
                <a:spcPts val="0"/>
              </a:spcBef>
              <a:spcAft>
                <a:spcPts val="0"/>
              </a:spcAft>
              <a:buClr>
                <a:schemeClr val="dk1"/>
              </a:buClr>
              <a:buSzPts val="1100"/>
              <a:buFont typeface="Arial"/>
              <a:buNone/>
            </a:pPr>
            <a:r>
              <a:rPr lang="en"/>
              <a:t>Recurse on P_mid and merge the result into Z.</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weights are crucial — they ensure the weighted error on Z correctly scales up to represent all of P.</a:t>
            </a:r>
            <a:endParaRPr/>
          </a:p>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87059b1330_2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387059b1330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Let's unpack what each piece does. The total proxy function is:</a:t>
            </a:r>
            <a:endParaRPr/>
          </a:p>
          <a:p>
            <a:pPr indent="0" lvl="0" marL="0" rtl="0" algn="l">
              <a:lnSpc>
                <a:spcPct val="115000"/>
              </a:lnSpc>
              <a:spcBef>
                <a:spcPts val="0"/>
              </a:spcBef>
              <a:spcAft>
                <a:spcPts val="0"/>
              </a:spcAft>
              <a:buClr>
                <a:schemeClr val="dk1"/>
              </a:buClr>
              <a:buSzPts val="1100"/>
              <a:buFont typeface="Arial"/>
              <a:buNone/>
            </a:pPr>
            <a:r>
              <a:rPr lang="en"/>
              <a:t>F(h) = G₂(h) + F_α(h) + F_mid(h)</a:t>
            </a:r>
            <a:endParaRPr/>
          </a:p>
          <a:p>
            <a:pPr indent="0" lvl="0" marL="0" rtl="0" algn="l">
              <a:lnSpc>
                <a:spcPct val="115000"/>
              </a:lnSpc>
              <a:spcBef>
                <a:spcPts val="0"/>
              </a:spcBef>
              <a:spcAft>
                <a:spcPts val="0"/>
              </a:spcAft>
              <a:buClr>
                <a:schemeClr val="dk1"/>
              </a:buClr>
              <a:buSzPts val="1100"/>
              <a:buFont typeface="Arial"/>
              <a:buNone/>
            </a:pPr>
            <a:r>
              <a:rPr lang="en"/>
              <a:t>G₁ is sampled from the full P. Its job is purely structural — to locate the split points α and β. It never enters the coreset Z.</a:t>
            </a:r>
            <a:endParaRPr/>
          </a:p>
          <a:p>
            <a:pPr indent="0" lvl="0" marL="0" rtl="0" algn="l">
              <a:lnSpc>
                <a:spcPct val="115000"/>
              </a:lnSpc>
              <a:spcBef>
                <a:spcPts val="0"/>
              </a:spcBef>
              <a:spcAft>
                <a:spcPts val="0"/>
              </a:spcAft>
              <a:buClr>
                <a:schemeClr val="dk1"/>
              </a:buClr>
              <a:buSzPts val="1100"/>
              <a:buFont typeface="Arial"/>
              <a:buNone/>
            </a:pPr>
            <a:r>
              <a:rPr lang="en"/>
              <a:t>G₂ is sampled from P_rest. It approximates the error on P_rest, and its sample S₂ enters Z with weight |P_rest|/|S₂|.</a:t>
            </a:r>
            <a:endParaRPr/>
          </a:p>
          <a:p>
            <a:pPr indent="0" lvl="0" marL="0" rtl="0" algn="l">
              <a:lnSpc>
                <a:spcPct val="115000"/>
              </a:lnSpc>
              <a:spcBef>
                <a:spcPts val="0"/>
              </a:spcBef>
              <a:spcAft>
                <a:spcPts val="0"/>
              </a:spcAft>
              <a:buClr>
                <a:schemeClr val="dk1"/>
              </a:buClr>
              <a:buSzPts val="1100"/>
              <a:buFont typeface="Arial"/>
              <a:buNone/>
            </a:pPr>
            <a:r>
              <a:rPr lang="en"/>
              <a:t>F_α is sampled from P_α. It approximates the error on P_α, and S_α enters Z with weight |P_α|/|S_α|.</a:t>
            </a:r>
            <a:endParaRPr/>
          </a:p>
          <a:p>
            <a:pPr indent="0" lvl="0" marL="0" rtl="0" algn="l">
              <a:lnSpc>
                <a:spcPct val="115000"/>
              </a:lnSpc>
              <a:spcBef>
                <a:spcPts val="0"/>
              </a:spcBef>
              <a:spcAft>
                <a:spcPts val="0"/>
              </a:spcAft>
              <a:buClr>
                <a:schemeClr val="dk1"/>
              </a:buClr>
              <a:buSzPts val="1100"/>
              <a:buFont typeface="Arial"/>
              <a:buNone/>
            </a:pPr>
            <a:r>
              <a:rPr lang="en"/>
              <a:t>F_mid comes from the recursive call on P_mid.</a:t>
            </a:r>
            <a:endParaRPr/>
          </a:p>
          <a:p>
            <a:pPr indent="0" lvl="0" marL="0" rtl="0" algn="l">
              <a:lnSpc>
                <a:spcPct val="115000"/>
              </a:lnSpc>
              <a:spcBef>
                <a:spcPts val="0"/>
              </a:spcBef>
              <a:spcAft>
                <a:spcPts val="0"/>
              </a:spcAft>
              <a:buClr>
                <a:schemeClr val="dk1"/>
              </a:buClr>
              <a:buSzPts val="1100"/>
              <a:buFont typeface="Arial"/>
              <a:buNone/>
            </a:pPr>
            <a:r>
              <a:rPr lang="en"/>
              <a:t>If no α or β is found, then F_α and F_mid are zero, and F(h) = G₂(h) alone.</a:t>
            </a:r>
            <a:endParaRPr/>
          </a:p>
          <a:p>
            <a:pPr indent="0" lvl="0" marL="0" rtl="0" algn="l">
              <a:lnSpc>
                <a:spcPct val="115000"/>
              </a:lnSpc>
              <a:spcBef>
                <a:spcPts val="0"/>
              </a:spcBef>
              <a:spcAft>
                <a:spcPts val="0"/>
              </a:spcAft>
              <a:buClr>
                <a:schemeClr val="dk1"/>
              </a:buClr>
              <a:buSzPts val="1100"/>
              <a:buFont typeface="Arial"/>
              <a:buNone/>
            </a:pPr>
            <a:r>
              <a:rPr lang="en"/>
              <a:t>The construction of G is simple: draw a uniform sample S from a set Q, and define G(h) = (|Q|/|S|) · err_S(h). This scaled count is an unbiased estimator of err_Q(h).</a:t>
            </a:r>
            <a:endParaRPr/>
          </a:p>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d5383ab4c4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3d5383ab4c4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There's a subtle issue here. G₁ and G₂ need to satisfy their conditions simultaneously for all h ∈ H_mon. But H_mon contains infinitely many threshold classifiers — so a naive union bound over all of them is impossible.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The fix is to observe that only |P| + 1 distinct thresholds actually produce different labellings on P — specifically those that fall on or between points of P. All other thresholds behave identically to one of these. So we replace H_mon with the finite set H_mon^P, which has at most |P| + 1 elements.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Now we can take a union bound over this finite set, and it costs a log|P| factor — which is exactly where the log|P| in the sample size comes from.</a:t>
            </a:r>
            <a:endParaRPr/>
          </a:p>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d4f2124dd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d4f2124dd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d5383ab4c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3d5383ab4c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d5383ab4c4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3d5383ab4c4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d5383ab4c4_1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d5383ab4c4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87059b1330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87059b1330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So what does G₁ actually do? Its job is to find where the error function transitions through the value |P|/4.</a:t>
            </a:r>
            <a:endParaRPr/>
          </a:p>
          <a:p>
            <a:pPr indent="0" lvl="0" marL="0" rtl="0" algn="l">
              <a:lnSpc>
                <a:spcPct val="115000"/>
              </a:lnSpc>
              <a:spcBef>
                <a:spcPts val="0"/>
              </a:spcBef>
              <a:spcAft>
                <a:spcPts val="0"/>
              </a:spcAft>
              <a:buClr>
                <a:schemeClr val="dk1"/>
              </a:buClr>
              <a:buSzPts val="1100"/>
              <a:buFont typeface="Arial"/>
              <a:buNone/>
            </a:pPr>
            <a:r>
              <a:rPr lang="en"/>
              <a:t>We define: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α = the smallest threshold τ such that G₁(h_τ) &lt; |P|(1/4 − ε/64)</a:t>
            </a:r>
            <a:endParaRPr/>
          </a:p>
          <a:p>
            <a:pPr indent="0" lvl="0" marL="0" rtl="0" algn="l">
              <a:lnSpc>
                <a:spcPct val="115000"/>
              </a:lnSpc>
              <a:spcBef>
                <a:spcPts val="0"/>
              </a:spcBef>
              <a:spcAft>
                <a:spcPts val="0"/>
              </a:spcAft>
              <a:buClr>
                <a:schemeClr val="dk1"/>
              </a:buClr>
              <a:buSzPts val="1100"/>
              <a:buFont typeface="Arial"/>
              <a:buNone/>
            </a:pPr>
            <a:r>
              <a:rPr lang="en"/>
              <a:t>β = the largest such threshold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Points in P are then partitioned: P_α = {p = α}, P_mid = {α &lt; p ≤ β}, P_rest = everything else.</a:t>
            </a:r>
            <a:endParaRPr/>
          </a:p>
          <a:p>
            <a:pPr indent="0" lvl="0" marL="0" rtl="0" algn="l">
              <a:lnSpc>
                <a:spcPct val="115000"/>
              </a:lnSpc>
              <a:spcBef>
                <a:spcPts val="0"/>
              </a:spcBef>
              <a:spcAft>
                <a:spcPts val="0"/>
              </a:spcAft>
              <a:buClr>
                <a:schemeClr val="dk1"/>
              </a:buClr>
              <a:buSzPts val="1100"/>
              <a:buFont typeface="Arial"/>
              <a:buNone/>
            </a:pPr>
            <a:r>
              <a:rPr lang="en"/>
              <a:t>The critical fact is that |P_mid| &lt; |P|/2 at every level. Here's why intuitively: P_mid can't contain more than |P|/4 positive-label points (otherwise G₁(h_β) would exceed the threshold, contradicting the definition of β). By a symmetric argument, it can't contain more than |P|/4 negative-label points. So |P_mid| &lt; |P|/2.</a:t>
            </a:r>
            <a:endParaRPr/>
          </a:p>
          <a:p>
            <a:pPr indent="0" lvl="0" marL="0" rtl="0" algn="l">
              <a:lnSpc>
                <a:spcPct val="115000"/>
              </a:lnSpc>
              <a:spcBef>
                <a:spcPts val="0"/>
              </a:spcBef>
              <a:spcAft>
                <a:spcPts val="0"/>
              </a:spcAft>
              <a:buClr>
                <a:schemeClr val="dk1"/>
              </a:buClr>
              <a:buSzPts val="1100"/>
              <a:buFont typeface="Arial"/>
              <a:buNone/>
            </a:pPr>
            <a:r>
              <a:rPr lang="en"/>
              <a:t>This means each recursive call halves P_mid. After O(log n) levels, P_mid reaches size 1 and the recursion terminates.</a:t>
            </a:r>
            <a:endParaRPr/>
          </a:p>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d5383ab4c4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d5383ab4c4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d5383ab4c4_1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3d5383ab4c4_1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38b4acedada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38b4acedada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87059b1330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387059b1330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To assemble Z, we combine three components: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Sample S₂ from P_rest, with weight |P_rest|/|S₂|</a:t>
            </a:r>
            <a:endParaRPr/>
          </a:p>
          <a:p>
            <a:pPr indent="0" lvl="0" marL="0" rtl="0" algn="l">
              <a:lnSpc>
                <a:spcPct val="115000"/>
              </a:lnSpc>
              <a:spcBef>
                <a:spcPts val="0"/>
              </a:spcBef>
              <a:spcAft>
                <a:spcPts val="0"/>
              </a:spcAft>
              <a:buClr>
                <a:schemeClr val="dk1"/>
              </a:buClr>
              <a:buSzPts val="1100"/>
              <a:buFont typeface="Arial"/>
              <a:buNone/>
            </a:pPr>
            <a:r>
              <a:rPr lang="en"/>
              <a:t>Sample S_α from P_α, with weight |P_α|/|S_α|</a:t>
            </a:r>
            <a:endParaRPr/>
          </a:p>
          <a:p>
            <a:pPr indent="0" lvl="0" marL="0" rtl="0" algn="l">
              <a:lnSpc>
                <a:spcPct val="115000"/>
              </a:lnSpc>
              <a:spcBef>
                <a:spcPts val="0"/>
              </a:spcBef>
              <a:spcAft>
                <a:spcPts val="0"/>
              </a:spcAft>
              <a:buClr>
                <a:schemeClr val="dk1"/>
              </a:buClr>
              <a:buSzPts val="1100"/>
              <a:buFont typeface="Arial"/>
              <a:buNone/>
            </a:pPr>
            <a:r>
              <a:rPr lang="en"/>
              <a:t>Sub-coreset Z_mid returned from the recursion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weight assignment is important: each sampled point represents many original points it was drawn from. The weight = (set size)/(sample size) effectively undoes the sub-sampling, ensuring that w-errZ scales back correctly to represent all of P. Without this, the weighted error would be systematically underestimated.</a:t>
            </a:r>
            <a:endParaRPr/>
          </a:p>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8b4acedada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38b4acedad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3d5383ab4c4_1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3d5383ab4c4_1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d5383ab4c4_1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d5383ab4c4_1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d5383ab4c4_1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d5383ab4c4_1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3d5383ab4c4_1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3d5383ab4c4_1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g3d5383ab4c4_1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5" name="Google Shape;1665;g3d5383ab4c4_1_1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de2d08b97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de2d08b97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de2d08b97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2" name="Google Shape;1692;g3de2d08b97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3de2d08b97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8" name="Google Shape;1708;g3de2d08b97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g3de2d08b97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4" name="Google Shape;1724;g3de2d08b97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g3de2d08b978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0" name="Google Shape;1740;g3de2d08b978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g3de2d08b978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2" name="Google Shape;1762;g3de2d08b978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3de2d08b97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3de2d08b97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3de2d08b978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g3de2d08b978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Notice the total weight is 1 + 1 + 1 + 5/2 + 5/2 = 8 = |P|. This is a sanity check: the weights correctly scale back to represent all of P. The coreset Z has only 5 points but captures the structure needed to compare all classifiers.</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8b4acedada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38b4acedada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Let's count the cost. At each of the ℓ = O(log n) recursion levels, we probe O(1/ε² · log(n/δ)) elements for G₁, G₂, and F_α combined. Over all levels, this gives: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Total probes per chain: O(log n / ε² · log(n/δ))</a:t>
            </a:r>
            <a:endParaRPr/>
          </a:p>
          <a:p>
            <a:pPr indent="0" lvl="0" marL="0" rtl="0" algn="l">
              <a:lnSpc>
                <a:spcPct val="115000"/>
              </a:lnSpc>
              <a:spcBef>
                <a:spcPts val="0"/>
              </a:spcBef>
              <a:spcAft>
                <a:spcPts val="0"/>
              </a:spcAft>
              <a:buClr>
                <a:schemeClr val="dk1"/>
              </a:buClr>
              <a:buSzPts val="1100"/>
              <a:buFont typeface="Arial"/>
              <a:buNone/>
            </a:pPr>
            <a:r>
              <a:rPr lang="en"/>
              <a:t>Each of G₁, G₂, F_α satisfies its condition with probability ≥ 1 − δ/ℓ per level, so by a union bound over all levels, everything holds simultaneously with probability ≥ 1 − δ.</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Once we have coreset Z, finding the best classifier requires no further probes — we just compute ĥ = argmin_{h ∈ H_mon} w-errZ(h), which is polynomial in |Z| and d.</a:t>
            </a:r>
            <a:endParaRPr/>
          </a:p>
          <a:p>
            <a:pPr indent="0" lvl="0" marL="0" rtl="0" algn="l">
              <a:lnSpc>
                <a:spcPct val="115000"/>
              </a:lnSpc>
              <a:spcBef>
                <a:spcPts val="0"/>
              </a:spcBef>
              <a:spcAft>
                <a:spcPts val="0"/>
              </a:spcAft>
              <a:buClr>
                <a:schemeClr val="dk1"/>
              </a:buClr>
              <a:buSzPts val="1100"/>
              <a:buFont typeface="Arial"/>
              <a:buNone/>
            </a:pPr>
            <a:r>
              <a:rPr lang="en"/>
              <a:t>Why does ĥ achieve err_P(ĥ) ≤ (1 + ε) · k*? Because:</a:t>
            </a:r>
            <a:endParaRPr/>
          </a:p>
          <a:p>
            <a:pPr indent="0" lvl="0" marL="0" rtl="0" algn="l">
              <a:lnSpc>
                <a:spcPct val="115000"/>
              </a:lnSpc>
              <a:spcBef>
                <a:spcPts val="0"/>
              </a:spcBef>
              <a:spcAft>
                <a:spcPts val="0"/>
              </a:spcAft>
              <a:buNone/>
            </a:pPr>
            <a:r>
              <a:rPr lang="en"/>
              <a:t>err_P(ĥ)(1 − ε/4) ≤ w-errZ(ĥ) − Δ ≤ w-errZ(h*) − Δ ≤ err_P(h*)(1 + ε/4)</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first inequality is the left bound of our condition for ĥ. The middle step is because ĥ minimises w-errZ, so w-errZ(ĥ) ≤ w-errZ(h*). The last step is the right bound for h*. Rearranging gives err_P(ĥ) ≤ (1 + ε) · k*. Theorem 6 is established for d = 1. ✓</a:t>
            </a:r>
            <a:endParaRPr/>
          </a:p>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g3de2d08b97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1" name="Google Shape;1861;g3de2d08b97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evaluate the weighted error for every threshold classifier on our 5-point coreset. As the table shows, h₄ achieves the minimum weighted error of 0 — which exactly matches the true optimal classifier h₄ on the full dataset P. The algorithm correctly recovers the best classifier from the small coreset alone, with no further probing.</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g3de2d08b978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7" name="Google Shape;1887;g3de2d08b978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3d4f2124dd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3d4f2124dd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For d &gt; 1, we use the same chain decomposition from Dilworth's Theorem that the previous speaker described for RPE.</a:t>
            </a:r>
            <a:endParaRPr/>
          </a:p>
          <a:p>
            <a:pPr indent="0" lvl="0" marL="0" rtl="0" algn="l">
              <a:lnSpc>
                <a:spcPct val="115000"/>
              </a:lnSpc>
              <a:spcBef>
                <a:spcPts val="0"/>
              </a:spcBef>
              <a:spcAft>
                <a:spcPts val="0"/>
              </a:spcAft>
              <a:buNone/>
            </a:pPr>
            <a:r>
              <a:rPr lang="en"/>
              <a:t>We decompose P into w chains C₁, …, C_w, where w is the width of the partial order. Each chain is a 1D sub-problem, so we apply our 1D coreset construction to each chain independently, getting sub-coresets Z₁, …, Z_w.</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The final coreset is Z = ∪ Zᵢ. This works because error decomposes additively over chains: err_P(h) = Σ err_{Cᵢ}(h), so w-errZ(h) = Σ w-err_{Zᵢ}(h). The unknown shifts also add up: Δ = Σ Δᵢ — but as we proved, Δ cancels in comparisons regardless of its value.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The total probe cost is O(log(n/δ)/ε² · Σ log|Cᵢ|) = O(log(n/δ)/ε² · w · log(n/w)) = O(w/ε² · log(nw/δ) · log n) — exactly the bound stated in Theorem 6.</a:t>
            </a:r>
            <a:endParaRPr/>
          </a:p>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387059b1330_2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7" name="Google Shape;1927;g387059b1330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Let me bring everything together.</a:t>
            </a:r>
            <a:endParaRPr/>
          </a:p>
          <a:p>
            <a:pPr indent="0" lvl="0" marL="0" rtl="0" algn="l">
              <a:lnSpc>
                <a:spcPct val="115000"/>
              </a:lnSpc>
              <a:spcBef>
                <a:spcPts val="0"/>
              </a:spcBef>
              <a:spcAft>
                <a:spcPts val="0"/>
              </a:spcAft>
              <a:buNone/>
            </a:pPr>
            <a:r>
              <a:rPr lang="en"/>
              <a:t>The Problem: RPE gives a 2k* approximation, and that bound is tight. We want (1 + ε)k* for any ε &gt; 0. Direct estimation costs Ω(n) probes, so we need a fundamentally different approach.</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None/>
            </a:pPr>
            <a:r>
              <a:rPr lang="en"/>
              <a:t>The Unknown-Δ Trick: Instead of estimating err_P(h) exactly, we find a proxy F where all estimates are shifted by the same unknown constant Δ. Since Δ is the same for every classifier, it cancels when we compare — and comparisons are all we ever need.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Building the Coreset: We split P into P_α, P_mid, and P_rest using G₁. We sample from the outer parts with rescaling weights. We recurse on P_mid. Since |P_mid| &lt; |P|/2 at every level, the recursion terminates in O(log n) steps.</a:t>
            </a:r>
            <a:endParaRPr/>
          </a:p>
          <a:p>
            <a:pPr indent="0" lvl="0" marL="0" rtl="0" algn="l">
              <a:lnSpc>
                <a:spcPct val="115000"/>
              </a:lnSpc>
              <a:spcBef>
                <a:spcPts val="0"/>
              </a:spcBef>
              <a:spcAft>
                <a:spcPts val="0"/>
              </a:spcAft>
              <a:buNone/>
            </a:pPr>
            <a:r>
              <a:rPr lang="en"/>
              <a:t>The Guarantee: Minimise w-errZ over Z — no further probes needed. The minimiser ĥ achieves err_P(ĥ) ≤ (1 + ε) · k*, using O(w/ε² · log²n) probes total.</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t>And with that, I'll pass over to the next speaker, who will be discussing the bounds.</a:t>
            </a:r>
            <a:endParaRPr/>
          </a:p>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3d512fe102c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6" name="Google Shape;1936;g3d512fe102c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g3d512fe102c_0_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g3d512fe102c_0_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far in these lecture notes we have seen two algorithms for the monotone classification problem. The first one, RPE, which stands for Random Probe and Eliminate, gives us a classifier whose expected error is at most two times the optimal monotone error, k-star. And it does this using O of w times Log of n over w probes, where w is the dominance width of the partially ordered set. The second algorithm, which is based on relative-comparison coresets, goes further: for any epsilon you choose, it gives you a classifier with error at most one plus epsilon times k-star, and it uses O of w over epsilon squared times Log of n over w times log n probes.</a:t>
            </a:r>
            <a:br>
              <a:rPr lang="en"/>
            </a:br>
            <a:br>
              <a:rPr lang="en"/>
            </a:br>
            <a:r>
              <a:rPr lang="en"/>
              <a:t>Now, both of these results are interesting, but they naturally raise the question: can we do better? Is there some smarter algorithm out there that could achieve the same accuracy with fewer probes? Or, maybe, could we get a tighter approximation ratio without paying more in terms of probes?</a:t>
            </a:r>
            <a:br>
              <a:rPr lang="en"/>
            </a:br>
            <a:br>
              <a:rPr lang="en"/>
            </a:br>
            <a:r>
              <a:rPr lang="en"/>
              <a:t>This is exactly what this section of the paper addresses. The authors prove three lower bound results that essentially say no, you cannot do significantly better. These are not just arguments about specific algorithms. These are information-theoretic lower bounds, meaning they apply to every possible algorithm, no matter how clever. By the end of this section, we will see that RPE and the coreset algorithm are, up to small logarithmic factors, the best we can hope for. Let us start with the most extreme case.</a:t>
            </a:r>
            <a:endParaRPr/>
          </a:p>
        </p:txBody>
      </p:sp>
      <p:sp>
        <p:nvSpPr>
          <p:cNvPr id="1943" name="Google Shape;1943;g3d512fe102c_0_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3d512fe102c_0_1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4" name="Google Shape;1954;g3d512fe102c_0_1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first lower bound is Theorem 10, and it deals with the case where epsilon equals zero, meaning we want the exact optimal monotone classifier, not an approximation. The result says that any algorithm which outputs a classifier with error exactly equal to k-star, with probability greater than two-thirds, must probe at least omega of n elements in expectation. And this holds even in the simplest possible setting: one-dimensional data, and even if the algorithm is told the value of k-star upfront.</a:t>
            </a:r>
            <a:br>
              <a:rPr lang="en"/>
            </a:br>
            <a:br>
              <a:rPr lang="en"/>
            </a:br>
            <a:r>
              <a:rPr lang="en"/>
              <a:t>Why is this significant? Well, if your dataset has n elements, probing omega of n elements is essentially the same as reading the entire dataset. So this theorem tells us that there is no shortcut. If you insist on exact optimality, you are forced to look at almost everything.</a:t>
            </a:r>
            <a:br>
              <a:rPr lang="en"/>
            </a:br>
            <a:br>
              <a:rPr lang="en"/>
            </a:br>
            <a:r>
              <a:rPr lang="en"/>
              <a:t>This is a strong negative result. It means that the problem of finding the exact best monotone classifier is fundamentally different from the approximation version. No matter how smart your algorithm is, whether it is deterministic or randomized, adaptive or non-adaptive, it cannot avoid reading a constant fraction of the input.</a:t>
            </a:r>
            <a:br>
              <a:rPr lang="en"/>
            </a:br>
            <a:br>
              <a:rPr lang="en"/>
            </a:br>
            <a:r>
              <a:rPr lang="en"/>
              <a:t>To prove this, the authors construct a specific family of hard inputs where the exact optimum is impossible to find without essentially inspecting every element. Let me show you what this family looks like.</a:t>
            </a:r>
            <a:endParaRPr/>
          </a:p>
        </p:txBody>
      </p:sp>
      <p:sp>
        <p:nvSpPr>
          <p:cNvPr id="1955" name="Google Shape;1955;g3d512fe102c_0_1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d512fe102c_0_1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5" name="Google Shape;1965;g3d512fe102c_0_1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proof constructs what we call a hard input family. Here is how it works. Take n elements and group them into n over 2 consecutive pairs: pair one is elements one and two, pair two is elements three and four, and so on. In every normal pair, the odd-numbered element gets label plus one and the even-numbered element gets label minus one.</a:t>
            </a:r>
            <a:br>
              <a:rPr lang="en"/>
            </a:br>
            <a:br>
              <a:rPr lang="en"/>
            </a:br>
            <a:r>
              <a:rPr lang="en"/>
              <a:t>Now, here is the twist. Exactly one of these pairs is an anomaly. In the anomaly pair, both elements get the same label, either both minus one or both plus one. So overall, we have n different possible inputs: n over 2 possible anomaly positions, each with two possible polarities.</a:t>
            </a:r>
            <a:br>
              <a:rPr lang="en"/>
            </a:br>
            <a:br>
              <a:rPr lang="en"/>
            </a:br>
            <a:r>
              <a:rPr lang="en"/>
              <a:t>The key observation is that k-star equals n over 2 minus 1 for every single input in this family. Why? Because any monotone classifier on a totally ordered set is just a threshold: everything up to some point gets minus one, everything after gets plus one. And for every normal pair, one element will be misclassified no matter where you put the threshold. So the minimum error is exactly one per normal pair, except at the anomaly where you can get both right.</a:t>
            </a:r>
            <a:br>
              <a:rPr lang="en"/>
            </a:br>
            <a:br>
              <a:rPr lang="en"/>
            </a:br>
            <a:r>
              <a:rPr lang="en"/>
              <a:t>But the optimal classifier is different depending on where the anomaly is and what its labels are. So the algorithm must figure out which pair is anomalous. And the only way to determine that is to probe elements in different pairs until you find the one that behaves differently. Since the anomaly could be anywhere, this requires searching through a linear number of pairs. That gives us the omega of n lower bound.</a:t>
            </a:r>
            <a:endParaRPr/>
          </a:p>
        </p:txBody>
      </p:sp>
      <p:sp>
        <p:nvSpPr>
          <p:cNvPr id="1966" name="Google Shape;1966;g3d512fe102c_0_1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d512fe102c_0_5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0" name="Google Shape;2000;g3d512fe102c_0_5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Now I should explain how the proof actually goes through formally, because what I just described gives the intuition, but we need to handle the fact that algorithms can be randomized.</a:t>
            </a:r>
            <a:br>
              <a:rPr lang="en"/>
            </a:br>
            <a:br>
              <a:rPr lang="en"/>
            </a:br>
            <a:r>
              <a:rPr lang="en"/>
              <a:t>The formal proof uses a beautiful technique called Yao's minimax principle. The idea is this: instead of directly reasoning about randomized algorithms, which are hard to analyze because they make random choices, we instead reason about deterministic algorithms run against a randomly chosen input.</a:t>
            </a:r>
            <a:br>
              <a:rPr lang="en"/>
            </a:br>
            <a:br>
              <a:rPr lang="en"/>
            </a:br>
            <a:r>
              <a:rPr lang="en"/>
              <a:t>Here is the argument. First, we give the algorithm a boost: when it probes either element of a pair, it learns both labels for free. This only makes the algorithm stronger, so any lower bound we prove in this model also applies to the original model.</a:t>
            </a:r>
            <a:br>
              <a:rPr lang="en"/>
            </a:br>
            <a:br>
              <a:rPr lang="en"/>
            </a:br>
            <a:r>
              <a:rPr lang="en"/>
              <a:t>Now consider a deterministic algorithm that probes pairs in some fixed order. We use a counting argument, this is Lemma 11 in the paper. If the algorithm only probes t pairs, then for the n over 2 minus t pairs it never checked, it cannot distinguish between the two anomaly types. So it must get at least one of the two versions wrong for each unchecked pair. This gives us a lower bound on the total number of errors across the whole family.</a:t>
            </a:r>
            <a:br>
              <a:rPr lang="en"/>
            </a:br>
            <a:br>
              <a:rPr lang="en"/>
            </a:br>
            <a:r>
              <a:rPr lang="en"/>
              <a:t>At the same time, we can compute the total probing cost across the family. Combining these two, we get that the total family cost, the sum of probes over all inputs, is at least n squared times one minus c squared over 4. Since there are n inputs in the family, at least one of them must require omega of n probes.</a:t>
            </a:r>
            <a:br>
              <a:rPr lang="en"/>
            </a:br>
            <a:br>
              <a:rPr lang="en"/>
            </a:br>
            <a:r>
              <a:rPr lang="en"/>
              <a:t>Yao's principle then tells us: if every deterministic algorithm has high average cost on this distribution, then every randomized algorithm has high worst-case cost. And that completes the proof of Theorem 10.</a:t>
            </a:r>
            <a:endParaRPr/>
          </a:p>
        </p:txBody>
      </p:sp>
      <p:sp>
        <p:nvSpPr>
          <p:cNvPr id="2001" name="Google Shape;2001;g3d512fe102c_0_5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g3d512fe102c_0_6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1" name="Google Shape;2011;g3d512fe102c_0_6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the exact case requires omega of n probes. What if we relax our requirements and allow some approximation? Theorem 13 answers this for constant-factor approximation.</a:t>
            </a:r>
            <a:br>
              <a:rPr lang="en"/>
            </a:br>
            <a:br>
              <a:rPr lang="en"/>
            </a:br>
            <a:r>
              <a:rPr lang="en"/>
              <a:t>The result says: for any constant c greater than or equal to 1, any algorithm that guarantees expected error at most c times k-star must use at least omega of w-prime times Log of n-prime over w-prime probes on some input of width w and optimal error k-star.</a:t>
            </a:r>
            <a:br>
              <a:rPr lang="en"/>
            </a:br>
            <a:br>
              <a:rPr lang="en"/>
            </a:br>
            <a:r>
              <a:rPr lang="en"/>
              <a:t>The proof uses a clever reduction to the realizable case. The idea is to take a hard family where k-star equals zero, the realizable setting, and then add so-called dummy points to artificially create a nonzero k-star. These dummy points are carefully placed so that each real point is surrounded by c times k dummy points that have the same correct label.</a:t>
            </a:r>
            <a:br>
              <a:rPr lang="en"/>
            </a:br>
            <a:br>
              <a:rPr lang="en"/>
            </a:br>
            <a:r>
              <a:rPr lang="en"/>
              <a:t>Why does this work? Because if the algorithm misclassifies even one real point, the c-k surrounding dummies will also be misclassified, giving a total error of at least c times k plus 1. Since the algorithm promises error at most c times k-star equals c times k, it cannot afford to get any real point wrong. This means the algorithm is forced to correctly classify every real point, which is exactly the realizable problem on the original points.</a:t>
            </a:r>
            <a:br>
              <a:rPr lang="en"/>
            </a:br>
            <a:br>
              <a:rPr lang="en"/>
            </a:br>
            <a:r>
              <a:rPr lang="en"/>
              <a:t>And we already know from a prior result that the realizable problem requires omega of w times Log of n over w probes. So the algorithm inherits that lower bound.</a:t>
            </a:r>
            <a:br>
              <a:rPr lang="en"/>
            </a:br>
            <a:br>
              <a:rPr lang="en"/>
            </a:br>
            <a:r>
              <a:rPr lang="en"/>
              <a:t>The bottom line is that RPE, which achieves O of w times Log of n over w probes, is essentially optimal for constant-factor approximation. You cannot beat it by more than a small factor depending on k-star.</a:t>
            </a:r>
            <a:endParaRPr/>
          </a:p>
        </p:txBody>
      </p:sp>
      <p:sp>
        <p:nvSpPr>
          <p:cNvPr id="2012" name="Google Shape;2012;g3d512fe102c_0_6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3d512fe102c_0_7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2" name="Google Shape;2022;g3d512fe102c_0_7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Now we come to the most important lower bound: Theorem 14. This one deals with arbitrary epsilon, and it says that any algorithm guaranteeing expected error at most one plus epsilon times k-star must use at least omega of w over epsilon squared probes. This holds even for two-dimensional data.</a:t>
            </a:r>
            <a:br>
              <a:rPr lang="en"/>
            </a:br>
            <a:br>
              <a:rPr lang="en"/>
            </a:br>
            <a:r>
              <a:rPr lang="en"/>
              <a:t>This is a very strong result because it tells us that the one over epsilon squared dependence in the coreset algorithm is not an artifact of the algorithm's design. It is a fundamental barrier. No algorithm can avoid it.</a:t>
            </a:r>
            <a:br>
              <a:rPr lang="en"/>
            </a:br>
            <a:br>
              <a:rPr lang="en"/>
            </a:br>
            <a:r>
              <a:rPr lang="en"/>
              <a:t>The hard input construction is different from the previous ones. Here we place n over w points at each of w pairwise incomparable locations. Think of these locations as forming an antichain, no location dominates any other. Then each location independently gets a random bias: either mu-1 which equals one half minus gamma over 2, or mu-2 which equals one half plus gamma over 2, where gamma is about 9 epsilon. Each point at a location gets label plus one with probability equal to that location's bias, independently.</a:t>
            </a:r>
            <a:br>
              <a:rPr lang="en"/>
            </a:br>
            <a:br>
              <a:rPr lang="en"/>
            </a:br>
            <a:r>
              <a:rPr lang="en"/>
              <a:t>The crux of the difficulty is a coin-distinguishing problem. At each location, the algorithm sees a sequence of random labels, some plus one, some minus one. The distribution of these labels is either slightly biased toward minus one or slightly biased toward plus one. The difference between the two biases is tiny, it is proportional to epsilon. And the classical result from statistics, related to Le Cam's method, says that you need theta of one over epsilon squared samples to reliably tell these two distributions apart.</a:t>
            </a:r>
            <a:br>
              <a:rPr lang="en"/>
            </a:br>
            <a:br>
              <a:rPr lang="en"/>
            </a:br>
            <a:r>
              <a:rPr lang="en"/>
              <a:t>Since the algorithm must figure out the bias at each of the w locations to classify correctly, it needs at least omega of w over epsilon squared probes in total.</a:t>
            </a:r>
            <a:endParaRPr/>
          </a:p>
        </p:txBody>
      </p:sp>
      <p:sp>
        <p:nvSpPr>
          <p:cNvPr id="2023" name="Google Shape;2023;g3d512fe102c_0_7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3d512fe102c_0_8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3" name="Google Shape;2033;g3d512fe102c_0_8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 me give you the intuition for why the proof works, because I think this is the most elegant part.</a:t>
            </a:r>
            <a:br>
              <a:rPr lang="en"/>
            </a:br>
            <a:br>
              <a:rPr lang="en"/>
            </a:br>
            <a:r>
              <a:rPr lang="en"/>
              <a:t>Imagine you have a coin, and you want to figure out whether it lands heads with probability one half minus epsilon, or one half plus epsilon. These two coins are very similar. The difference in their bias is only 2 epsilon. If you only flip the coin a few times, you will see roughly the same mix of heads and tails either way. It is only when you flip it many times, specifically on the order of one over epsilon squared times, that the law of large numbers kicks in and you can reliably tell the two coins apart.</a:t>
            </a:r>
            <a:br>
              <a:rPr lang="en"/>
            </a:br>
            <a:br>
              <a:rPr lang="en"/>
            </a:br>
            <a:r>
              <a:rPr lang="en"/>
              <a:t>This is a classical result in statistics. It follows from what is known as Le Cam's method, or in the context of this paper, the Anthony-Bartlett distinguishing lemma. The authors formalize this by defining two random processes: RP-1, where all labels are generated upfront, and RP-2, where labels are generated on demand as the algorithm probes. They prove that these two processes are equivalent in terms of the expected approximation ratio, this is Lemma 15.</a:t>
            </a:r>
            <a:br>
              <a:rPr lang="en"/>
            </a:br>
            <a:br>
              <a:rPr lang="en"/>
            </a:br>
            <a:r>
              <a:rPr lang="en"/>
              <a:t>The advantage of RP-2 is that we can track exactly how many times the algorithm probes each location. If the total probe budget is less than w times M over 8, where M is theta of one over epsilon squared, then by a simple averaging argument, more than half the locations have been probed fewer than M times. At these under-probed or light locations, Lemma 19 shows the algorithm guesses the bias wrong with probability greater than one quarter.</a:t>
            </a:r>
            <a:br>
              <a:rPr lang="en"/>
            </a:br>
            <a:br>
              <a:rPr lang="en"/>
            </a:br>
            <a:r>
              <a:rPr lang="en"/>
              <a:t>Each wrong guess contributes a certain amount of excess error. Summing over all the light locations, the expected approximation ratio exceeds one plus epsilon, violating the algorithm's guarantee. This contradiction proves that the algorithm must use at least omega of w over epsilon squared probes.</a:t>
            </a:r>
            <a:endParaRPr/>
          </a:p>
        </p:txBody>
      </p:sp>
      <p:sp>
        <p:nvSpPr>
          <p:cNvPr id="2034" name="Google Shape;2034;g3d512fe102c_0_8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g3d512fe102c_0_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1" name="Google Shape;2051;g3d512fe102c_0_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 me now put everything together. This table summarizes the three regimes and how the upper and lower bounds compare.</a:t>
            </a:r>
            <a:br>
              <a:rPr lang="en"/>
            </a:br>
            <a:br>
              <a:rPr lang="en"/>
            </a:br>
            <a:r>
              <a:rPr lang="en"/>
              <a:t>In the first regime, epsilon equals zero, we want the exact optimum. The upper bound is trivially O of n because you can just read everything. And Theorem 10 says the lower bound is omega of n. So these are tight. Finding the exact optimum is genuinely as hard as reading the entire input.</a:t>
            </a:r>
            <a:br>
              <a:rPr lang="en"/>
            </a:br>
            <a:br>
              <a:rPr lang="en"/>
            </a:br>
            <a:r>
              <a:rPr lang="en"/>
              <a:t>In the second regime, we allow a constant approximation factor c. The RPE algorithm gives an upper bound of O of w times Log of n over w. Theorem 13 gives a lower bound of omega of w times Log of n over k-star-w. When k-star is not too large, specifically when k-star is at most n over w to the power one minus delta for some small delta, these two bounds match. So RPE is optimal for constant-factor approximation in the typical case.</a:t>
            </a:r>
            <a:br>
              <a:rPr lang="en"/>
            </a:br>
            <a:br>
              <a:rPr lang="en"/>
            </a:br>
            <a:r>
              <a:rPr lang="en"/>
              <a:t>In the third regime, we want a one-plus-epsilon approximation for any epsilon. The coreset algorithm achieves O of w over epsilon squared times Log of n over w times log n probes. Theorem 14 gives a lower bound of omega of w over epsilon squared. So there is a gap, but it is only polylogarithmic, just some Log and log n factors.</a:t>
            </a:r>
            <a:br>
              <a:rPr lang="en"/>
            </a:br>
            <a:br>
              <a:rPr lang="en"/>
            </a:br>
            <a:r>
              <a:rPr lang="en"/>
              <a:t>The conclusion is remarkable: our algorithms are near-optimal. The dominant terms, w in the cost, one over epsilon squared in the sampling, are all necessary. The only remaining open question is whether the polylogarithmic gap can be closed, either by improving the upper bound or by strengthening the lower bound. But the core complexity of the monotone classification problem is now fully understood: it is theta of w over epsilon squared, up to polylogarithmic factors. And that is a very satisfying conclusion.</a:t>
            </a:r>
            <a:endParaRPr/>
          </a:p>
        </p:txBody>
      </p:sp>
      <p:sp>
        <p:nvSpPr>
          <p:cNvPr id="2052" name="Google Shape;2052;g3d512fe102c_0_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g38b4ac6c6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9" name="Google Shape;2059;g38b4ac6c6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0.png"/><Relationship Id="rId4" Type="http://schemas.openxmlformats.org/officeDocument/2006/relationships/image" Target="../media/image1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2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 Id="rId3" Type="http://schemas.openxmlformats.org/officeDocument/2006/relationships/image" Target="../media/image17.png"/><Relationship Id="rId4" Type="http://schemas.openxmlformats.org/officeDocument/2006/relationships/image" Target="../media/image2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image" Target="../media/image2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 Id="rId3" Type="http://schemas.openxmlformats.org/officeDocument/2006/relationships/image" Target="../media/image2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 Id="rId3" Type="http://schemas.openxmlformats.org/officeDocument/2006/relationships/image" Target="../media/image2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 Id="rId3" Type="http://schemas.openxmlformats.org/officeDocument/2006/relationships/image" Target="../media/image2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 Id="rId3" Type="http://schemas.openxmlformats.org/officeDocument/2006/relationships/image" Target="../media/image3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2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 name="Shape 54"/>
        <p:cNvGrpSpPr/>
        <p:nvPr/>
      </p:nvGrpSpPr>
      <p:grpSpPr>
        <a:xfrm>
          <a:off x="0" y="0"/>
          <a:ext cx="0" cy="0"/>
          <a:chOff x="0" y="0"/>
          <a:chExt cx="0" cy="0"/>
        </a:xfrm>
      </p:grpSpPr>
      <p:pic>
        <p:nvPicPr>
          <p:cNvPr id="55" name="Google Shape;55;p14"/>
          <p:cNvPicPr preferRelativeResize="0"/>
          <p:nvPr/>
        </p:nvPicPr>
        <p:blipFill>
          <a:blip r:embed="rId3">
            <a:alphaModFix/>
          </a:blip>
          <a:stretch>
            <a:fillRect/>
          </a:stretch>
        </p:blipFill>
        <p:spPr>
          <a:xfrm>
            <a:off x="2408000" y="152400"/>
            <a:ext cx="4327996" cy="4838700"/>
          </a:xfrm>
          <a:prstGeom prst="rect">
            <a:avLst/>
          </a:prstGeom>
          <a:noFill/>
          <a:ln>
            <a:noFill/>
          </a:ln>
        </p:spPr>
      </p:pic>
      <p:pic>
        <p:nvPicPr>
          <p:cNvPr id="56" name="Google Shape;56;p14"/>
          <p:cNvPicPr preferRelativeResize="0"/>
          <p:nvPr/>
        </p:nvPicPr>
        <p:blipFill>
          <a:blip r:embed="rId4">
            <a:alphaModFix/>
          </a:blip>
          <a:stretch>
            <a:fillRect/>
          </a:stretch>
        </p:blipFill>
        <p:spPr>
          <a:xfrm rot="647995">
            <a:off x="4688180" y="794107"/>
            <a:ext cx="2210197" cy="1314460"/>
          </a:xfrm>
          <a:prstGeom prst="rect">
            <a:avLst/>
          </a:prstGeom>
          <a:noFill/>
          <a:ln cap="flat" cmpd="sng" w="9525">
            <a:solidFill>
              <a:schemeClr val="dk2"/>
            </a:solidFill>
            <a:prstDash val="solid"/>
            <a:round/>
            <a:headEnd len="sm" w="sm" type="none"/>
            <a:tailEnd len="sm" w="sm" type="none"/>
          </a:ln>
        </p:spPr>
      </p:pic>
      <p:pic>
        <p:nvPicPr>
          <p:cNvPr id="57" name="Google Shape;57;p14"/>
          <p:cNvPicPr preferRelativeResize="0"/>
          <p:nvPr/>
        </p:nvPicPr>
        <p:blipFill>
          <a:blip r:embed="rId5">
            <a:alphaModFix/>
          </a:blip>
          <a:stretch>
            <a:fillRect/>
          </a:stretch>
        </p:blipFill>
        <p:spPr>
          <a:xfrm rot="496313">
            <a:off x="2530013" y="442661"/>
            <a:ext cx="2020876" cy="1203830"/>
          </a:xfrm>
          <a:prstGeom prst="rect">
            <a:avLst/>
          </a:prstGeom>
          <a:noFill/>
          <a:ln cap="flat" cmpd="sng" w="9525">
            <a:solidFill>
              <a:schemeClr val="dk2"/>
            </a:solidFill>
            <a:prstDash val="solid"/>
            <a:round/>
            <a:headEnd len="sm" w="sm" type="none"/>
            <a:tailEnd len="sm" w="sm" type="none"/>
          </a:ln>
        </p:spPr>
      </p:pic>
      <p:sp>
        <p:nvSpPr>
          <p:cNvPr id="58" name="Google Shape;58;p14"/>
          <p:cNvSpPr/>
          <p:nvPr/>
        </p:nvSpPr>
        <p:spPr>
          <a:xfrm>
            <a:off x="4174500" y="2397550"/>
            <a:ext cx="556200" cy="20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product</a:t>
            </a:r>
            <a:endParaRPr sz="800"/>
          </a:p>
        </p:txBody>
      </p:sp>
      <p:sp>
        <p:nvSpPr>
          <p:cNvPr id="59" name="Google Shape;59;p14"/>
          <p:cNvSpPr/>
          <p:nvPr/>
        </p:nvSpPr>
        <p:spPr>
          <a:xfrm>
            <a:off x="5425450" y="2397550"/>
            <a:ext cx="556200" cy="20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product</a:t>
            </a:r>
            <a:endParaRPr sz="800"/>
          </a:p>
        </p:txBody>
      </p:sp>
      <p:sp>
        <p:nvSpPr>
          <p:cNvPr id="60" name="Google Shape;60;p14"/>
          <p:cNvSpPr/>
          <p:nvPr/>
        </p:nvSpPr>
        <p:spPr>
          <a:xfrm>
            <a:off x="5063500" y="4753400"/>
            <a:ext cx="556200" cy="20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product</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259463" y="60080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Monotone Classification with Relative Approximations</a:t>
            </a:r>
            <a:endParaRPr/>
          </a:p>
        </p:txBody>
      </p:sp>
      <p:sp>
        <p:nvSpPr>
          <p:cNvPr id="66" name="Google Shape;66;p15"/>
          <p:cNvSpPr txBox="1"/>
          <p:nvPr>
            <p:ph idx="1" type="subTitle"/>
          </p:nvPr>
        </p:nvSpPr>
        <p:spPr>
          <a:xfrm>
            <a:off x="259463" y="2690350"/>
            <a:ext cx="8520600" cy="494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B</a:t>
            </a:r>
            <a:r>
              <a:rPr lang="en" sz="2000"/>
              <a:t>ased on the paper by Yufei Tao (2026)</a:t>
            </a:r>
            <a:endParaRPr sz="2000"/>
          </a:p>
        </p:txBody>
      </p:sp>
      <p:sp>
        <p:nvSpPr>
          <p:cNvPr id="67" name="Google Shape;67;p15"/>
          <p:cNvSpPr txBox="1"/>
          <p:nvPr>
            <p:ph idx="1" type="subTitle"/>
          </p:nvPr>
        </p:nvSpPr>
        <p:spPr>
          <a:xfrm>
            <a:off x="226613" y="3152450"/>
            <a:ext cx="8586300" cy="389100"/>
          </a:xfrm>
          <a:prstGeom prst="rect">
            <a:avLst/>
          </a:prstGeom>
        </p:spPr>
        <p:txBody>
          <a:bodyPr anchorCtr="0" anchor="t" bIns="91425" lIns="91425" spcFirstLastPara="1" rIns="91425" wrap="square" tIns="91425">
            <a:normAutofit/>
          </a:bodyPr>
          <a:lstStyle/>
          <a:p>
            <a:pPr indent="0" lvl="0" marL="0" rtl="0" algn="ctr">
              <a:lnSpc>
                <a:spcPct val="90000"/>
              </a:lnSpc>
              <a:spcBef>
                <a:spcPts val="0"/>
              </a:spcBef>
              <a:spcAft>
                <a:spcPts val="0"/>
              </a:spcAft>
              <a:buNone/>
            </a:pPr>
            <a:r>
              <a:rPr i="1" lang="en" sz="900"/>
              <a:t>Presented by Ethan Leo Ming Quan, Balakrishnan Vaisiya, Atharshlakshmi Vijayakumar, Zhu Ke Xiong</a:t>
            </a:r>
            <a:endParaRPr i="1" sz="900"/>
          </a:p>
        </p:txBody>
      </p:sp>
      <p:pic>
        <p:nvPicPr>
          <p:cNvPr descr="a small black cat is standing on a white background (Provided by Tenor)" id="68" name="Google Shape;68;p15"/>
          <p:cNvPicPr preferRelativeResize="0"/>
          <p:nvPr/>
        </p:nvPicPr>
        <p:blipFill>
          <a:blip r:embed="rId3">
            <a:alphaModFix/>
          </a:blip>
          <a:stretch>
            <a:fillRect/>
          </a:stretch>
        </p:blipFill>
        <p:spPr>
          <a:xfrm>
            <a:off x="3631426" y="3184750"/>
            <a:ext cx="1776687" cy="1733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1073209"/>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i="1" lang="en"/>
              <a:t>Are these two listings referring to the same product?</a:t>
            </a:r>
            <a:endParaRPr i="1"/>
          </a:p>
        </p:txBody>
      </p:sp>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Scenario:</a:t>
            </a:r>
            <a:endParaRPr/>
          </a:p>
        </p:txBody>
      </p:sp>
      <p:pic>
        <p:nvPicPr>
          <p:cNvPr id="75" name="Google Shape;75;p16"/>
          <p:cNvPicPr preferRelativeResize="0"/>
          <p:nvPr/>
        </p:nvPicPr>
        <p:blipFill>
          <a:blip r:embed="rId3">
            <a:alphaModFix/>
          </a:blip>
          <a:stretch>
            <a:fillRect/>
          </a:stretch>
        </p:blipFill>
        <p:spPr>
          <a:xfrm>
            <a:off x="4479403" y="1685695"/>
            <a:ext cx="4101955" cy="2439575"/>
          </a:xfrm>
          <a:prstGeom prst="rect">
            <a:avLst/>
          </a:prstGeom>
          <a:noFill/>
          <a:ln cap="flat" cmpd="sng" w="9525">
            <a:solidFill>
              <a:schemeClr val="dk2"/>
            </a:solidFill>
            <a:prstDash val="solid"/>
            <a:round/>
            <a:headEnd len="sm" w="sm" type="none"/>
            <a:tailEnd len="sm" w="sm" type="none"/>
          </a:ln>
        </p:spPr>
      </p:pic>
      <p:pic>
        <p:nvPicPr>
          <p:cNvPr id="76" name="Google Shape;76;p16"/>
          <p:cNvPicPr preferRelativeResize="0"/>
          <p:nvPr/>
        </p:nvPicPr>
        <p:blipFill>
          <a:blip r:embed="rId4">
            <a:alphaModFix/>
          </a:blip>
          <a:stretch>
            <a:fillRect/>
          </a:stretch>
        </p:blipFill>
        <p:spPr>
          <a:xfrm>
            <a:off x="320686" y="1721120"/>
            <a:ext cx="4035845" cy="24041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 Matching</a:t>
            </a:r>
            <a:endParaRPr/>
          </a:p>
        </p:txBody>
      </p:sp>
      <p:sp>
        <p:nvSpPr>
          <p:cNvPr id="82" name="Google Shape;82;p17"/>
          <p:cNvSpPr/>
          <p:nvPr/>
        </p:nvSpPr>
        <p:spPr>
          <a:xfrm>
            <a:off x="311700" y="1739300"/>
            <a:ext cx="4283700" cy="1845300"/>
          </a:xfrm>
          <a:prstGeom prst="roundRect">
            <a:avLst>
              <a:gd fmla="val 10364"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t" bIns="144450" lIns="144450" spcFirstLastPara="1" rIns="144450" wrap="square" tIns="14445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Given two sets of entities E</a:t>
            </a:r>
            <a:r>
              <a:rPr baseline="-25000" lang="en">
                <a:solidFill>
                  <a:schemeClr val="dk1"/>
                </a:solidFill>
              </a:rPr>
              <a:t>1</a:t>
            </a:r>
            <a:r>
              <a:rPr lang="en">
                <a:solidFill>
                  <a:schemeClr val="dk1"/>
                </a:solidFill>
              </a:rPr>
              <a:t> and E</a:t>
            </a:r>
            <a:r>
              <a:rPr baseline="-25000" lang="en">
                <a:solidFill>
                  <a:schemeClr val="dk1"/>
                </a:solidFill>
              </a:rPr>
              <a:t>2</a:t>
            </a:r>
            <a:r>
              <a:rPr lang="en">
                <a:solidFill>
                  <a:schemeClr val="dk1"/>
                </a:solidFill>
              </a:rPr>
              <a:t>, determine for every pair (e</a:t>
            </a:r>
            <a:r>
              <a:rPr baseline="-25000" lang="en">
                <a:solidFill>
                  <a:schemeClr val="dk1"/>
                </a:solidFill>
              </a:rPr>
              <a:t>1</a:t>
            </a:r>
            <a:r>
              <a:rPr lang="en">
                <a:solidFill>
                  <a:schemeClr val="dk1"/>
                </a:solidFill>
              </a:rPr>
              <a:t>, e</a:t>
            </a:r>
            <a:r>
              <a:rPr baseline="-25000" lang="en">
                <a:solidFill>
                  <a:schemeClr val="dk1"/>
                </a:solidFill>
              </a:rPr>
              <a:t>2</a:t>
            </a:r>
            <a:r>
              <a:rPr lang="en">
                <a:solidFill>
                  <a:schemeClr val="dk1"/>
                </a:solidFill>
              </a:rPr>
              <a:t>) ∈ E</a:t>
            </a:r>
            <a:r>
              <a:rPr baseline="-25000" lang="en">
                <a:solidFill>
                  <a:schemeClr val="dk1"/>
                </a:solidFill>
              </a:rPr>
              <a:t>1</a:t>
            </a:r>
            <a:r>
              <a:rPr lang="en">
                <a:solidFill>
                  <a:schemeClr val="dk1"/>
                </a:solidFill>
              </a:rPr>
              <a:t> × E</a:t>
            </a:r>
            <a:r>
              <a:rPr baseline="-25000" lang="en">
                <a:solidFill>
                  <a:schemeClr val="dk1"/>
                </a:solidFill>
              </a:rPr>
              <a:t>2</a:t>
            </a:r>
            <a:r>
              <a:rPr lang="en">
                <a:solidFill>
                  <a:schemeClr val="dk1"/>
                </a:solidFill>
              </a:rPr>
              <a:t> whether they refer to the same real-world entity.  </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It is a binary classification task to determine if a pair is a match (+1) or non-match (-1).</a:t>
            </a:r>
            <a:endParaRPr sz="1500">
              <a:solidFill>
                <a:srgbClr val="1C4587"/>
              </a:solidFill>
            </a:endParaRPr>
          </a:p>
        </p:txBody>
      </p:sp>
      <p:pic>
        <p:nvPicPr>
          <p:cNvPr id="83" name="Google Shape;83;p17"/>
          <p:cNvPicPr preferRelativeResize="0"/>
          <p:nvPr/>
        </p:nvPicPr>
        <p:blipFill>
          <a:blip r:embed="rId3">
            <a:alphaModFix/>
          </a:blip>
          <a:stretch>
            <a:fillRect/>
          </a:stretch>
        </p:blipFill>
        <p:spPr>
          <a:xfrm>
            <a:off x="4789350" y="493475"/>
            <a:ext cx="3879220" cy="4336968"/>
          </a:xfrm>
          <a:prstGeom prst="rect">
            <a:avLst/>
          </a:prstGeom>
          <a:noFill/>
          <a:ln>
            <a:noFill/>
          </a:ln>
        </p:spPr>
      </p:pic>
      <p:pic>
        <p:nvPicPr>
          <p:cNvPr id="84" name="Google Shape;84;p17"/>
          <p:cNvPicPr preferRelativeResize="0"/>
          <p:nvPr/>
        </p:nvPicPr>
        <p:blipFill>
          <a:blip r:embed="rId4">
            <a:alphaModFix/>
          </a:blip>
          <a:stretch>
            <a:fillRect/>
          </a:stretch>
        </p:blipFill>
        <p:spPr>
          <a:xfrm rot="647999">
            <a:off x="6833095" y="1068645"/>
            <a:ext cx="1981017" cy="1178160"/>
          </a:xfrm>
          <a:prstGeom prst="rect">
            <a:avLst/>
          </a:prstGeom>
          <a:noFill/>
          <a:ln cap="flat" cmpd="sng" w="8525">
            <a:solidFill>
              <a:schemeClr val="dk2"/>
            </a:solidFill>
            <a:prstDash val="solid"/>
            <a:round/>
            <a:headEnd len="sm" w="sm" type="none"/>
            <a:tailEnd len="sm" w="sm" type="none"/>
          </a:ln>
        </p:spPr>
      </p:pic>
      <p:pic>
        <p:nvPicPr>
          <p:cNvPr id="85" name="Google Shape;85;p17"/>
          <p:cNvPicPr preferRelativeResize="0"/>
          <p:nvPr/>
        </p:nvPicPr>
        <p:blipFill>
          <a:blip r:embed="rId5">
            <a:alphaModFix/>
          </a:blip>
          <a:stretch>
            <a:fillRect/>
          </a:stretch>
        </p:blipFill>
        <p:spPr>
          <a:xfrm rot="496306">
            <a:off x="4898713" y="753637"/>
            <a:ext cx="1811325" cy="1079003"/>
          </a:xfrm>
          <a:prstGeom prst="rect">
            <a:avLst/>
          </a:prstGeom>
          <a:noFill/>
          <a:ln cap="flat" cmpd="sng" w="8525">
            <a:solidFill>
              <a:schemeClr val="dk2"/>
            </a:solidFill>
            <a:prstDash val="solid"/>
            <a:round/>
            <a:headEnd len="sm" w="sm" type="none"/>
            <a:tailEnd len="sm" w="sm" type="none"/>
          </a:ln>
        </p:spPr>
      </p:pic>
      <p:sp>
        <p:nvSpPr>
          <p:cNvPr id="86" name="Google Shape;86;p17"/>
          <p:cNvSpPr/>
          <p:nvPr/>
        </p:nvSpPr>
        <p:spPr>
          <a:xfrm>
            <a:off x="6372679" y="2505831"/>
            <a:ext cx="498300" cy="184500"/>
          </a:xfrm>
          <a:prstGeom prst="rect">
            <a:avLst/>
          </a:prstGeom>
          <a:solidFill>
            <a:schemeClr val="lt2"/>
          </a:solidFill>
          <a:ln cap="flat" cmpd="sng" w="8525">
            <a:solidFill>
              <a:schemeClr val="dk2"/>
            </a:solidFill>
            <a:prstDash val="solid"/>
            <a:round/>
            <a:headEnd len="sm" w="sm" type="none"/>
            <a:tailEnd len="sm" w="sm" type="none"/>
          </a:ln>
        </p:spPr>
        <p:txBody>
          <a:bodyPr anchorCtr="0" anchor="ctr" bIns="81925" lIns="81925" spcFirstLastPara="1" rIns="81925" wrap="square" tIns="81925">
            <a:noAutofit/>
          </a:bodyPr>
          <a:lstStyle/>
          <a:p>
            <a:pPr indent="0" lvl="0" marL="0" rtl="0" algn="ctr">
              <a:spcBef>
                <a:spcPts val="0"/>
              </a:spcBef>
              <a:spcAft>
                <a:spcPts val="0"/>
              </a:spcAft>
              <a:buNone/>
            </a:pPr>
            <a:r>
              <a:rPr lang="en" sz="717"/>
              <a:t>product</a:t>
            </a:r>
            <a:endParaRPr sz="717"/>
          </a:p>
        </p:txBody>
      </p:sp>
      <p:sp>
        <p:nvSpPr>
          <p:cNvPr id="87" name="Google Shape;87;p17"/>
          <p:cNvSpPr/>
          <p:nvPr/>
        </p:nvSpPr>
        <p:spPr>
          <a:xfrm>
            <a:off x="7493916" y="2505831"/>
            <a:ext cx="498300" cy="184500"/>
          </a:xfrm>
          <a:prstGeom prst="rect">
            <a:avLst/>
          </a:prstGeom>
          <a:solidFill>
            <a:schemeClr val="lt2"/>
          </a:solidFill>
          <a:ln cap="flat" cmpd="sng" w="8525">
            <a:solidFill>
              <a:schemeClr val="dk2"/>
            </a:solidFill>
            <a:prstDash val="solid"/>
            <a:round/>
            <a:headEnd len="sm" w="sm" type="none"/>
            <a:tailEnd len="sm" w="sm" type="none"/>
          </a:ln>
        </p:spPr>
        <p:txBody>
          <a:bodyPr anchorCtr="0" anchor="ctr" bIns="81925" lIns="81925" spcFirstLastPara="1" rIns="81925" wrap="square" tIns="81925">
            <a:noAutofit/>
          </a:bodyPr>
          <a:lstStyle/>
          <a:p>
            <a:pPr indent="0" lvl="0" marL="0" rtl="0" algn="ctr">
              <a:spcBef>
                <a:spcPts val="0"/>
              </a:spcBef>
              <a:spcAft>
                <a:spcPts val="0"/>
              </a:spcAft>
              <a:buNone/>
            </a:pPr>
            <a:r>
              <a:rPr lang="en" sz="717"/>
              <a:t>product</a:t>
            </a:r>
            <a:endParaRPr sz="717"/>
          </a:p>
        </p:txBody>
      </p:sp>
      <p:sp>
        <p:nvSpPr>
          <p:cNvPr id="88" name="Google Shape;88;p17"/>
          <p:cNvSpPr/>
          <p:nvPr/>
        </p:nvSpPr>
        <p:spPr>
          <a:xfrm>
            <a:off x="7169497" y="4617408"/>
            <a:ext cx="498300" cy="184500"/>
          </a:xfrm>
          <a:prstGeom prst="rect">
            <a:avLst/>
          </a:prstGeom>
          <a:solidFill>
            <a:schemeClr val="lt2"/>
          </a:solidFill>
          <a:ln cap="flat" cmpd="sng" w="8525">
            <a:solidFill>
              <a:schemeClr val="dk2"/>
            </a:solidFill>
            <a:prstDash val="solid"/>
            <a:round/>
            <a:headEnd len="sm" w="sm" type="none"/>
            <a:tailEnd len="sm" w="sm" type="none"/>
          </a:ln>
        </p:spPr>
        <p:txBody>
          <a:bodyPr anchorCtr="0" anchor="ctr" bIns="81925" lIns="81925" spcFirstLastPara="1" rIns="81925" wrap="square" tIns="81925">
            <a:noAutofit/>
          </a:bodyPr>
          <a:lstStyle/>
          <a:p>
            <a:pPr indent="0" lvl="0" marL="0" rtl="0" algn="ctr">
              <a:spcBef>
                <a:spcPts val="0"/>
              </a:spcBef>
              <a:spcAft>
                <a:spcPts val="0"/>
              </a:spcAft>
              <a:buNone/>
            </a:pPr>
            <a:r>
              <a:rPr lang="en" sz="717"/>
              <a:t>product</a:t>
            </a:r>
            <a:endParaRPr sz="717"/>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Entity Resolution Pipeline</a:t>
            </a:r>
            <a:endParaRPr/>
          </a:p>
        </p:txBody>
      </p:sp>
      <p:sp>
        <p:nvSpPr>
          <p:cNvPr id="94" name="Google Shape;94;p18"/>
          <p:cNvSpPr txBox="1"/>
          <p:nvPr>
            <p:ph idx="1" type="body"/>
          </p:nvPr>
        </p:nvSpPr>
        <p:spPr>
          <a:xfrm>
            <a:off x="311700" y="1152475"/>
            <a:ext cx="8520600" cy="986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Blocking: Narrow down the search space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Comparison: Quantify similarities between candidate pairs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Matching: </a:t>
            </a:r>
            <a:r>
              <a:rPr lang="en" sz="1400">
                <a:solidFill>
                  <a:schemeClr val="dk1"/>
                </a:solidFill>
              </a:rPr>
              <a:t>Determine matching (+1) and non-matching (-1) pairs</a:t>
            </a:r>
            <a:endParaRPr sz="1400">
              <a:solidFill>
                <a:schemeClr val="dk1"/>
              </a:solidFill>
            </a:endParaRPr>
          </a:p>
        </p:txBody>
      </p:sp>
      <p:pic>
        <p:nvPicPr>
          <p:cNvPr id="95" name="Google Shape;95;p18"/>
          <p:cNvPicPr preferRelativeResize="0"/>
          <p:nvPr/>
        </p:nvPicPr>
        <p:blipFill>
          <a:blip r:embed="rId3">
            <a:alphaModFix/>
          </a:blip>
          <a:stretch>
            <a:fillRect/>
          </a:stretch>
        </p:blipFill>
        <p:spPr>
          <a:xfrm>
            <a:off x="1169338" y="2623026"/>
            <a:ext cx="6805324" cy="881750"/>
          </a:xfrm>
          <a:prstGeom prst="rect">
            <a:avLst/>
          </a:prstGeom>
          <a:noFill/>
          <a:ln>
            <a:noFill/>
          </a:ln>
        </p:spPr>
      </p:pic>
      <p:sp>
        <p:nvSpPr>
          <p:cNvPr id="96" name="Google Shape;96;p18"/>
          <p:cNvSpPr/>
          <p:nvPr/>
        </p:nvSpPr>
        <p:spPr>
          <a:xfrm>
            <a:off x="6369050" y="2537975"/>
            <a:ext cx="1785300" cy="1211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8"/>
          <p:cNvSpPr txBox="1"/>
          <p:nvPr/>
        </p:nvSpPr>
        <p:spPr>
          <a:xfrm>
            <a:off x="5903999" y="3745249"/>
            <a:ext cx="2745600" cy="32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This is the main focus of the paper</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Blocking</a:t>
            </a:r>
            <a:endParaRPr/>
          </a:p>
        </p:txBody>
      </p:sp>
      <p:sp>
        <p:nvSpPr>
          <p:cNvPr id="103" name="Google Shape;103;p19"/>
          <p:cNvSpPr txBox="1"/>
          <p:nvPr>
            <p:ph idx="1" type="body"/>
          </p:nvPr>
        </p:nvSpPr>
        <p:spPr>
          <a:xfrm>
            <a:off x="311700" y="938499"/>
            <a:ext cx="8520600" cy="849900"/>
          </a:xfrm>
          <a:prstGeom prst="rect">
            <a:avLst/>
          </a:prstGeom>
        </p:spPr>
        <p:txBody>
          <a:bodyPr anchorCtr="0" anchor="t" bIns="91425" lIns="91425" spcFirstLastPara="1" rIns="91425" wrap="square" tIns="91425">
            <a:normAutofit/>
          </a:bodyPr>
          <a:lstStyle/>
          <a:p>
            <a:pPr indent="-317500" lvl="0" marL="457200" rtl="0" algn="l">
              <a:lnSpc>
                <a:spcPct val="105000"/>
              </a:lnSpc>
              <a:spcBef>
                <a:spcPts val="0"/>
              </a:spcBef>
              <a:spcAft>
                <a:spcPts val="0"/>
              </a:spcAft>
              <a:buClr>
                <a:schemeClr val="dk1"/>
              </a:buClr>
              <a:buSzPts val="1400"/>
              <a:buChar char="-"/>
            </a:pPr>
            <a:r>
              <a:rPr lang="en" sz="1400">
                <a:solidFill>
                  <a:schemeClr val="dk1"/>
                </a:solidFill>
              </a:rPr>
              <a:t>Prune the set of possible pairs into a smaller subset of candidate pairs: S ⊆ E</a:t>
            </a:r>
            <a:r>
              <a:rPr baseline="-25000" lang="en" sz="1400">
                <a:solidFill>
                  <a:schemeClr val="dk1"/>
                </a:solidFill>
              </a:rPr>
              <a:t>1</a:t>
            </a:r>
            <a:r>
              <a:rPr lang="en" sz="1400">
                <a:solidFill>
                  <a:schemeClr val="dk1"/>
                </a:solidFill>
              </a:rPr>
              <a:t> ✕ E</a:t>
            </a:r>
            <a:r>
              <a:rPr baseline="-25000" lang="en" sz="1400">
                <a:solidFill>
                  <a:schemeClr val="dk1"/>
                </a:solidFill>
              </a:rPr>
              <a:t>2</a:t>
            </a:r>
            <a:r>
              <a:rPr lang="en" sz="1400">
                <a:solidFill>
                  <a:schemeClr val="dk1"/>
                </a:solidFill>
              </a:rPr>
              <a:t> using an application-dependent heuristic.</a:t>
            </a:r>
            <a:endParaRPr sz="1400">
              <a:solidFill>
                <a:schemeClr val="dk1"/>
              </a:solidFill>
            </a:endParaRPr>
          </a:p>
          <a:p>
            <a:pPr indent="-317500" lvl="0" marL="457200" rtl="0" algn="l">
              <a:lnSpc>
                <a:spcPct val="105000"/>
              </a:lnSpc>
              <a:spcBef>
                <a:spcPts val="0"/>
              </a:spcBef>
              <a:spcAft>
                <a:spcPts val="0"/>
              </a:spcAft>
              <a:buClr>
                <a:schemeClr val="dk1"/>
              </a:buClr>
              <a:buSzPts val="1400"/>
              <a:buChar char="-"/>
            </a:pPr>
            <a:r>
              <a:rPr lang="en" sz="1400">
                <a:solidFill>
                  <a:schemeClr val="dk1"/>
                </a:solidFill>
              </a:rPr>
              <a:t>Locality Sensitive Hashing (LSH) can also be used for this step.</a:t>
            </a:r>
            <a:endParaRPr sz="1400">
              <a:solidFill>
                <a:schemeClr val="dk1"/>
              </a:solidFill>
            </a:endParaRPr>
          </a:p>
        </p:txBody>
      </p:sp>
      <p:sp>
        <p:nvSpPr>
          <p:cNvPr id="104" name="Google Shape;104;p19"/>
          <p:cNvSpPr txBox="1"/>
          <p:nvPr/>
        </p:nvSpPr>
        <p:spPr>
          <a:xfrm>
            <a:off x="1450950" y="4714378"/>
            <a:ext cx="6242100" cy="3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Forming candidate pairs based on agreeing year </a:t>
            </a:r>
            <a:r>
              <a:rPr lang="en" sz="1200">
                <a:solidFill>
                  <a:schemeClr val="dk1"/>
                </a:solidFill>
              </a:rPr>
              <a:t>which the product was released (p-year)</a:t>
            </a:r>
            <a:endParaRPr sz="1200">
              <a:solidFill>
                <a:schemeClr val="dk1"/>
              </a:solidFill>
            </a:endParaRPr>
          </a:p>
        </p:txBody>
      </p:sp>
      <p:pic>
        <p:nvPicPr>
          <p:cNvPr id="105" name="Google Shape;105;p19"/>
          <p:cNvPicPr preferRelativeResize="0"/>
          <p:nvPr/>
        </p:nvPicPr>
        <p:blipFill>
          <a:blip r:embed="rId3">
            <a:alphaModFix/>
          </a:blip>
          <a:stretch>
            <a:fillRect/>
          </a:stretch>
        </p:blipFill>
        <p:spPr>
          <a:xfrm>
            <a:off x="408475" y="2924363"/>
            <a:ext cx="1465350" cy="424625"/>
          </a:xfrm>
          <a:prstGeom prst="rect">
            <a:avLst/>
          </a:prstGeom>
          <a:noFill/>
          <a:ln>
            <a:noFill/>
          </a:ln>
        </p:spPr>
      </p:pic>
      <p:sp>
        <p:nvSpPr>
          <p:cNvPr id="106" name="Google Shape;106;p19"/>
          <p:cNvSpPr txBox="1"/>
          <p:nvPr/>
        </p:nvSpPr>
        <p:spPr>
          <a:xfrm>
            <a:off x="408475" y="2571750"/>
            <a:ext cx="1725300" cy="42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Consider each product with the following attributes:</a:t>
            </a:r>
            <a:endParaRPr sz="900">
              <a:solidFill>
                <a:schemeClr val="dk1"/>
              </a:solidFill>
            </a:endParaRPr>
          </a:p>
        </p:txBody>
      </p:sp>
      <p:pic>
        <p:nvPicPr>
          <p:cNvPr id="107" name="Google Shape;107;p19"/>
          <p:cNvPicPr preferRelativeResize="0"/>
          <p:nvPr/>
        </p:nvPicPr>
        <p:blipFill>
          <a:blip r:embed="rId4">
            <a:alphaModFix/>
          </a:blip>
          <a:stretch>
            <a:fillRect/>
          </a:stretch>
        </p:blipFill>
        <p:spPr>
          <a:xfrm>
            <a:off x="2286175" y="1940800"/>
            <a:ext cx="4471173" cy="27246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09082"/>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a:t>
            </a:r>
            <a:endParaRPr/>
          </a:p>
        </p:txBody>
      </p:sp>
      <p:sp>
        <p:nvSpPr>
          <p:cNvPr id="113" name="Google Shape;113;p20"/>
          <p:cNvSpPr txBox="1"/>
          <p:nvPr>
            <p:ph idx="1" type="body"/>
          </p:nvPr>
        </p:nvSpPr>
        <p:spPr>
          <a:xfrm>
            <a:off x="311700" y="1001425"/>
            <a:ext cx="8520600" cy="382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rPr>
              <a:t>For each candidate pair </a:t>
            </a:r>
            <a:r>
              <a:rPr lang="en" sz="1400">
                <a:solidFill>
                  <a:schemeClr val="dk1"/>
                </a:solidFill>
              </a:rPr>
              <a:t>(e</a:t>
            </a:r>
            <a:r>
              <a:rPr baseline="-25000" lang="en" sz="1400">
                <a:solidFill>
                  <a:schemeClr val="dk1"/>
                </a:solidFill>
              </a:rPr>
              <a:t>1</a:t>
            </a:r>
            <a:r>
              <a:rPr lang="en" sz="1400">
                <a:solidFill>
                  <a:schemeClr val="dk1"/>
                </a:solidFill>
              </a:rPr>
              <a:t>,e</a:t>
            </a:r>
            <a:r>
              <a:rPr baseline="-25000" lang="en" sz="1400">
                <a:solidFill>
                  <a:schemeClr val="dk1"/>
                </a:solidFill>
              </a:rPr>
              <a:t>2</a:t>
            </a:r>
            <a:r>
              <a:rPr lang="en" sz="1400">
                <a:solidFill>
                  <a:schemeClr val="dk1"/>
                </a:solidFill>
              </a:rPr>
              <a:t>) ∈ S, </a:t>
            </a:r>
            <a:r>
              <a:rPr lang="en" sz="1400">
                <a:solidFill>
                  <a:schemeClr val="dk1"/>
                </a:solidFill>
              </a:rPr>
              <a:t>quantify the similarity across d attributes using a set of predefined similarity functions sim</a:t>
            </a:r>
            <a:r>
              <a:rPr baseline="-25000" lang="en" sz="1400">
                <a:solidFill>
                  <a:schemeClr val="dk1"/>
                </a:solidFill>
              </a:rPr>
              <a:t>1</a:t>
            </a:r>
            <a:r>
              <a:rPr lang="en" sz="1400">
                <a:solidFill>
                  <a:schemeClr val="dk1"/>
                </a:solidFill>
              </a:rPr>
              <a:t>, sim</a:t>
            </a:r>
            <a:r>
              <a:rPr baseline="-25000" lang="en" sz="1400">
                <a:solidFill>
                  <a:schemeClr val="dk1"/>
                </a:solidFill>
              </a:rPr>
              <a:t>2</a:t>
            </a:r>
            <a:r>
              <a:rPr lang="en" sz="1400">
                <a:solidFill>
                  <a:schemeClr val="dk1"/>
                </a:solidFill>
              </a:rPr>
              <a:t>,...,sim</a:t>
            </a:r>
            <a:r>
              <a:rPr baseline="-25000" lang="en" sz="1400">
                <a:solidFill>
                  <a:schemeClr val="dk1"/>
                </a:solidFill>
              </a:rPr>
              <a:t>d</a:t>
            </a:r>
            <a:r>
              <a:rPr lang="en" sz="1400">
                <a:solidFill>
                  <a:schemeClr val="dk1"/>
                </a:solidFill>
              </a:rPr>
              <a:t>.  </a:t>
            </a:r>
            <a:endParaRPr sz="1400">
              <a:solidFill>
                <a:schemeClr val="dk1"/>
              </a:solidFill>
            </a:endParaRPr>
          </a:p>
          <a:p>
            <a:pPr indent="0" lvl="0" marL="0" rtl="0" algn="l">
              <a:spcBef>
                <a:spcPts val="1200"/>
              </a:spcBef>
              <a:spcAft>
                <a:spcPts val="0"/>
              </a:spcAft>
              <a:buNone/>
            </a:pPr>
            <a:r>
              <a:rPr lang="en" sz="1400">
                <a:solidFill>
                  <a:schemeClr val="dk1"/>
                </a:solidFill>
              </a:rPr>
              <a:t>Consider the first candidate pair </a:t>
            </a:r>
            <a:r>
              <a:rPr lang="en" sz="1400">
                <a:solidFill>
                  <a:schemeClr val="dk1"/>
                </a:solidFill>
              </a:rPr>
              <a:t>(e</a:t>
            </a:r>
            <a:r>
              <a:rPr baseline="-25000" lang="en" sz="1400">
                <a:solidFill>
                  <a:schemeClr val="dk1"/>
                </a:solidFill>
              </a:rPr>
              <a:t>1</a:t>
            </a:r>
            <a:r>
              <a:rPr lang="en" sz="1400">
                <a:solidFill>
                  <a:schemeClr val="dk1"/>
                </a:solidFill>
              </a:rPr>
              <a:t>,e</a:t>
            </a:r>
            <a:r>
              <a:rPr baseline="-25000" lang="en" sz="1400">
                <a:solidFill>
                  <a:schemeClr val="dk1"/>
                </a:solidFill>
              </a:rPr>
              <a:t>2</a:t>
            </a:r>
            <a:r>
              <a:rPr lang="en" sz="1400">
                <a:solidFill>
                  <a:schemeClr val="dk1"/>
                </a:solidFill>
              </a:rPr>
              <a:t>) in S from earlier with attributes (</a:t>
            </a:r>
            <a:r>
              <a:rPr lang="en" sz="1400">
                <a:solidFill>
                  <a:srgbClr val="188038"/>
                </a:solidFill>
                <a:latin typeface="Roboto Mono"/>
                <a:ea typeface="Roboto Mono"/>
                <a:cs typeface="Roboto Mono"/>
                <a:sym typeface="Roboto Mono"/>
              </a:rPr>
              <a:t>p-name,p-year,price</a:t>
            </a:r>
            <a:r>
              <a:rPr lang="en" sz="1400">
                <a:solidFill>
                  <a:schemeClr val="dk1"/>
                </a:solidFill>
              </a:rPr>
              <a:t>)</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e</a:t>
            </a:r>
            <a:r>
              <a:rPr baseline="-25000" lang="en" sz="1400">
                <a:solidFill>
                  <a:schemeClr val="dk1"/>
                </a:solidFill>
              </a:rPr>
              <a:t>1 </a:t>
            </a:r>
            <a:r>
              <a:rPr lang="en" sz="1400">
                <a:solidFill>
                  <a:schemeClr val="dk1"/>
                </a:solidFill>
              </a:rPr>
              <a:t>: (“Sony XM5”, 2022, $388.90)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a:t>
            </a:r>
            <a:r>
              <a:rPr baseline="-25000" lang="en" sz="1400">
                <a:solidFill>
                  <a:schemeClr val="dk1"/>
                </a:solidFill>
              </a:rPr>
              <a:t>2 </a:t>
            </a:r>
            <a:r>
              <a:rPr lang="en" sz="1400">
                <a:solidFill>
                  <a:schemeClr val="dk1"/>
                </a:solidFill>
              </a:rPr>
              <a:t>: (“Sony WHXM5”, 2022, $389)</a:t>
            </a:r>
            <a:endParaRPr sz="1400">
              <a:solidFill>
                <a:schemeClr val="dk1"/>
              </a:solidFill>
            </a:endParaRPr>
          </a:p>
          <a:p>
            <a:pPr indent="0" lvl="0" marL="0" rtl="0" algn="l">
              <a:spcBef>
                <a:spcPts val="1200"/>
              </a:spcBef>
              <a:spcAft>
                <a:spcPts val="0"/>
              </a:spcAft>
              <a:buNone/>
            </a:pPr>
            <a:r>
              <a:rPr lang="en" sz="1400">
                <a:solidFill>
                  <a:schemeClr val="dk1"/>
                </a:solidFill>
              </a:rPr>
              <a:t>Apply similarity functions across each attribute:</a:t>
            </a:r>
            <a:endParaRPr sz="1400">
              <a:solidFill>
                <a:schemeClr val="dk1"/>
              </a:solidFill>
            </a:endParaRPr>
          </a:p>
          <a:p>
            <a:pPr indent="0" lvl="0" marL="0" rtl="0" algn="l">
              <a:spcBef>
                <a:spcPts val="1200"/>
              </a:spcBef>
              <a:spcAft>
                <a:spcPts val="0"/>
              </a:spcAft>
              <a:buNone/>
            </a:pPr>
            <a:r>
              <a:rPr lang="en" sz="1400">
                <a:solidFill>
                  <a:srgbClr val="188038"/>
                </a:solidFill>
                <a:latin typeface="Roboto Mono"/>
                <a:ea typeface="Roboto Mono"/>
                <a:cs typeface="Roboto Mono"/>
                <a:sym typeface="Roboto Mono"/>
              </a:rPr>
              <a:t>p-name</a:t>
            </a:r>
            <a:r>
              <a:rPr lang="en" sz="1400">
                <a:solidFill>
                  <a:schemeClr val="dk1"/>
                </a:solidFill>
              </a:rPr>
              <a:t> : Jaccard Distance -&gt; sim</a:t>
            </a:r>
            <a:r>
              <a:rPr baseline="-25000" lang="en" sz="1400">
                <a:solidFill>
                  <a:schemeClr val="dk1"/>
                </a:solidFill>
              </a:rPr>
              <a:t>1</a:t>
            </a:r>
            <a:r>
              <a:rPr lang="en" sz="1400">
                <a:solidFill>
                  <a:schemeClr val="dk1"/>
                </a:solidFill>
              </a:rPr>
              <a:t>(e</a:t>
            </a:r>
            <a:r>
              <a:rPr baseline="-25000" lang="en" sz="1400">
                <a:solidFill>
                  <a:schemeClr val="dk1"/>
                </a:solidFill>
              </a:rPr>
              <a:t>1</a:t>
            </a:r>
            <a:r>
              <a:rPr lang="en" sz="1400">
                <a:solidFill>
                  <a:schemeClr val="dk1"/>
                </a:solidFill>
              </a:rPr>
              <a:t>.p-name, e</a:t>
            </a:r>
            <a:r>
              <a:rPr baseline="-25000" lang="en" sz="1400">
                <a:solidFill>
                  <a:schemeClr val="dk1"/>
                </a:solidFill>
              </a:rPr>
              <a:t>2</a:t>
            </a:r>
            <a:r>
              <a:rPr lang="en" sz="1400">
                <a:solidFill>
                  <a:schemeClr val="dk1"/>
                </a:solidFill>
              </a:rPr>
              <a:t>p-name) = 0.8</a:t>
            </a:r>
            <a:endParaRPr sz="1400">
              <a:solidFill>
                <a:schemeClr val="dk1"/>
              </a:solidFill>
            </a:endParaRPr>
          </a:p>
          <a:p>
            <a:pPr indent="0" lvl="0" marL="0" rtl="0" algn="l">
              <a:spcBef>
                <a:spcPts val="1200"/>
              </a:spcBef>
              <a:spcAft>
                <a:spcPts val="0"/>
              </a:spcAft>
              <a:buNone/>
            </a:pPr>
            <a:r>
              <a:rPr lang="en" sz="1400">
                <a:solidFill>
                  <a:srgbClr val="188038"/>
                </a:solidFill>
                <a:latin typeface="Roboto Mono"/>
                <a:ea typeface="Roboto Mono"/>
                <a:cs typeface="Roboto Mono"/>
                <a:sym typeface="Roboto Mono"/>
              </a:rPr>
              <a:t>p-year</a:t>
            </a:r>
            <a:r>
              <a:rPr lang="en" sz="1400">
                <a:solidFill>
                  <a:schemeClr val="dk1"/>
                </a:solidFill>
              </a:rPr>
              <a:t> : Use exact match, return 1 if equal and 0 otherwise  -&gt; sim</a:t>
            </a:r>
            <a:r>
              <a:rPr baseline="-25000" lang="en" sz="1400">
                <a:solidFill>
                  <a:schemeClr val="dk1"/>
                </a:solidFill>
              </a:rPr>
              <a:t>2</a:t>
            </a:r>
            <a:r>
              <a:rPr lang="en" sz="1400">
                <a:solidFill>
                  <a:schemeClr val="dk1"/>
                </a:solidFill>
              </a:rPr>
              <a:t>(e</a:t>
            </a:r>
            <a:r>
              <a:rPr baseline="-25000" lang="en" sz="1400">
                <a:solidFill>
                  <a:schemeClr val="dk1"/>
                </a:solidFill>
              </a:rPr>
              <a:t>1</a:t>
            </a:r>
            <a:r>
              <a:rPr lang="en" sz="1400">
                <a:solidFill>
                  <a:schemeClr val="dk1"/>
                </a:solidFill>
              </a:rPr>
              <a:t>.p-year, e</a:t>
            </a:r>
            <a:r>
              <a:rPr baseline="-25000" lang="en" sz="1400">
                <a:solidFill>
                  <a:schemeClr val="dk1"/>
                </a:solidFill>
              </a:rPr>
              <a:t>2</a:t>
            </a:r>
            <a:r>
              <a:rPr lang="en" sz="1400">
                <a:solidFill>
                  <a:schemeClr val="dk1"/>
                </a:solidFill>
              </a:rPr>
              <a:t>.p-year) = 1</a:t>
            </a:r>
            <a:endParaRPr sz="1400">
              <a:solidFill>
                <a:schemeClr val="dk1"/>
              </a:solidFill>
            </a:endParaRPr>
          </a:p>
          <a:p>
            <a:pPr indent="0" lvl="0" marL="0" rtl="0" algn="l">
              <a:spcBef>
                <a:spcPts val="1200"/>
              </a:spcBef>
              <a:spcAft>
                <a:spcPts val="0"/>
              </a:spcAft>
              <a:buNone/>
            </a:pPr>
            <a:r>
              <a:rPr lang="en" sz="1400">
                <a:solidFill>
                  <a:srgbClr val="188038"/>
                </a:solidFill>
                <a:latin typeface="Roboto Mono"/>
                <a:ea typeface="Roboto Mono"/>
                <a:cs typeface="Roboto Mono"/>
                <a:sym typeface="Roboto Mono"/>
              </a:rPr>
              <a:t>price</a:t>
            </a:r>
            <a:r>
              <a:rPr lang="en" sz="1400">
                <a:solidFill>
                  <a:schemeClr val="dk1"/>
                </a:solidFill>
              </a:rPr>
              <a:t> : Negated absolute difference -&gt; sim</a:t>
            </a:r>
            <a:r>
              <a:rPr baseline="-25000" lang="en" sz="1400">
                <a:solidFill>
                  <a:schemeClr val="dk1"/>
                </a:solidFill>
              </a:rPr>
              <a:t>3</a:t>
            </a:r>
            <a:r>
              <a:rPr lang="en" sz="1400">
                <a:solidFill>
                  <a:schemeClr val="dk1"/>
                </a:solidFill>
              </a:rPr>
              <a:t>(e</a:t>
            </a:r>
            <a:r>
              <a:rPr baseline="-25000" lang="en" sz="1400">
                <a:solidFill>
                  <a:schemeClr val="dk1"/>
                </a:solidFill>
              </a:rPr>
              <a:t>1</a:t>
            </a:r>
            <a:r>
              <a:rPr lang="en" sz="1400">
                <a:solidFill>
                  <a:schemeClr val="dk1"/>
                </a:solidFill>
              </a:rPr>
              <a:t>, e</a:t>
            </a:r>
            <a:r>
              <a:rPr baseline="-25000" lang="en" sz="1400">
                <a:solidFill>
                  <a:schemeClr val="dk1"/>
                </a:solidFill>
              </a:rPr>
              <a:t>2</a:t>
            </a:r>
            <a:r>
              <a:rPr lang="en" sz="1400">
                <a:solidFill>
                  <a:schemeClr val="dk1"/>
                </a:solidFill>
              </a:rPr>
              <a:t>) =  - |e</a:t>
            </a:r>
            <a:r>
              <a:rPr baseline="-25000" lang="en" sz="1400">
                <a:solidFill>
                  <a:schemeClr val="dk1"/>
                </a:solidFill>
              </a:rPr>
              <a:t>1</a:t>
            </a:r>
            <a:r>
              <a:rPr lang="en" sz="1400">
                <a:solidFill>
                  <a:schemeClr val="dk1"/>
                </a:solidFill>
              </a:rPr>
              <a:t>.price - e</a:t>
            </a:r>
            <a:r>
              <a:rPr baseline="-25000" lang="en" sz="1400">
                <a:solidFill>
                  <a:schemeClr val="dk1"/>
                </a:solidFill>
              </a:rPr>
              <a:t>2</a:t>
            </a:r>
            <a:r>
              <a:rPr lang="en" sz="1400">
                <a:solidFill>
                  <a:schemeClr val="dk1"/>
                </a:solidFill>
              </a:rPr>
              <a:t>.price|  = - 0.1</a:t>
            </a:r>
            <a:endParaRPr sz="1400">
              <a:solidFill>
                <a:schemeClr val="dk1"/>
              </a:solidFill>
            </a:endParaRPr>
          </a:p>
          <a:p>
            <a:pPr indent="0" lvl="0" marL="0" rtl="0" algn="l">
              <a:spcBef>
                <a:spcPts val="1200"/>
              </a:spcBef>
              <a:spcAft>
                <a:spcPts val="1200"/>
              </a:spcAft>
              <a:buNone/>
            </a:pPr>
            <a:r>
              <a:rPr lang="en" sz="1400">
                <a:solidFill>
                  <a:schemeClr val="dk1"/>
                </a:solidFill>
              </a:rPr>
              <a:t>The resulting point representing this pair in ℝ</a:t>
            </a:r>
            <a:r>
              <a:rPr baseline="30000" lang="en" sz="1400">
                <a:solidFill>
                  <a:schemeClr val="dk1"/>
                </a:solidFill>
              </a:rPr>
              <a:t>3</a:t>
            </a:r>
            <a:r>
              <a:rPr lang="en" sz="1400">
                <a:solidFill>
                  <a:schemeClr val="dk1"/>
                </a:solidFill>
              </a:rPr>
              <a:t> is  p</a:t>
            </a:r>
            <a:r>
              <a:rPr baseline="-25000" lang="en" sz="1400">
                <a:solidFill>
                  <a:schemeClr val="dk1"/>
                </a:solidFill>
              </a:rPr>
              <a:t>e1, e2 </a:t>
            </a:r>
            <a:r>
              <a:rPr lang="en" sz="1400">
                <a:solidFill>
                  <a:schemeClr val="dk1"/>
                </a:solidFill>
              </a:rPr>
              <a:t>= (0.8, 1, -0.1)</a:t>
            </a:r>
            <a:endParaRPr sz="1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Matching</a:t>
            </a:r>
            <a:endParaRPr/>
          </a:p>
        </p:txBody>
      </p:sp>
      <p:sp>
        <p:nvSpPr>
          <p:cNvPr id="119" name="Google Shape;119;p21"/>
          <p:cNvSpPr txBox="1"/>
          <p:nvPr>
            <p:ph idx="1" type="body"/>
          </p:nvPr>
        </p:nvSpPr>
        <p:spPr>
          <a:xfrm>
            <a:off x="311700" y="1038169"/>
            <a:ext cx="8520600" cy="2016300"/>
          </a:xfrm>
          <a:prstGeom prst="rect">
            <a:avLst/>
          </a:prstGeom>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The comparison step produces a d-dimensional set of points P = {p</a:t>
            </a:r>
            <a:r>
              <a:rPr baseline="-25000" lang="en" sz="1400">
                <a:solidFill>
                  <a:schemeClr val="dk1"/>
                </a:solidFill>
              </a:rPr>
              <a:t>e1,e2 </a:t>
            </a:r>
            <a:r>
              <a:rPr lang="en" sz="1400">
                <a:solidFill>
                  <a:schemeClr val="dk1"/>
                </a:solidFill>
              </a:rPr>
              <a:t>| (e</a:t>
            </a:r>
            <a:r>
              <a:rPr baseline="-25000" lang="en" sz="1400">
                <a:solidFill>
                  <a:schemeClr val="dk1"/>
                </a:solidFill>
              </a:rPr>
              <a:t>1</a:t>
            </a:r>
            <a:r>
              <a:rPr lang="en" sz="1400">
                <a:solidFill>
                  <a:schemeClr val="dk1"/>
                </a:solidFill>
              </a:rPr>
              <a:t>,e</a:t>
            </a:r>
            <a:r>
              <a:rPr baseline="-25000" lang="en" sz="1400">
                <a:solidFill>
                  <a:schemeClr val="dk1"/>
                </a:solidFill>
              </a:rPr>
              <a:t>2</a:t>
            </a:r>
            <a:r>
              <a:rPr lang="en" sz="1400">
                <a:solidFill>
                  <a:schemeClr val="dk1"/>
                </a:solidFill>
              </a:rPr>
              <a:t>)  ∈ S }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Each point carries a label, +1 if  (e</a:t>
            </a:r>
            <a:r>
              <a:rPr baseline="-25000" lang="en" sz="1400">
                <a:solidFill>
                  <a:schemeClr val="dk1"/>
                </a:solidFill>
              </a:rPr>
              <a:t>1</a:t>
            </a:r>
            <a:r>
              <a:rPr lang="en" sz="1400">
                <a:solidFill>
                  <a:schemeClr val="dk1"/>
                </a:solidFill>
              </a:rPr>
              <a:t>, e</a:t>
            </a:r>
            <a:r>
              <a:rPr baseline="-25000" lang="en" sz="1400">
                <a:solidFill>
                  <a:schemeClr val="dk1"/>
                </a:solidFill>
              </a:rPr>
              <a:t>2</a:t>
            </a:r>
            <a:r>
              <a:rPr lang="en" sz="1400">
                <a:solidFill>
                  <a:schemeClr val="dk1"/>
                </a:solidFill>
              </a:rPr>
              <a:t>) is a match and -1 otherwise</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But this label is hidden</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Labelling is ultimately determined by a human expert</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But with thousands of listings on e-commerce platforms, E</a:t>
            </a:r>
            <a:r>
              <a:rPr baseline="-25000" lang="en" sz="1400">
                <a:solidFill>
                  <a:schemeClr val="dk1"/>
                </a:solidFill>
              </a:rPr>
              <a:t>1</a:t>
            </a:r>
            <a:r>
              <a:rPr lang="en" sz="1400">
                <a:solidFill>
                  <a:schemeClr val="dk1"/>
                </a:solidFill>
              </a:rPr>
              <a:t> × E</a:t>
            </a:r>
            <a:r>
              <a:rPr baseline="-25000" lang="en" sz="1400">
                <a:solidFill>
                  <a:schemeClr val="dk1"/>
                </a:solidFill>
              </a:rPr>
              <a:t>2</a:t>
            </a:r>
            <a:r>
              <a:rPr lang="en" sz="1400">
                <a:solidFill>
                  <a:schemeClr val="dk1"/>
                </a:solidFill>
              </a:rPr>
              <a:t> grows quadratically</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Labelling is expensive and </a:t>
            </a:r>
            <a:r>
              <a:rPr lang="en" sz="1400" strike="sngStrike">
                <a:solidFill>
                  <a:schemeClr val="dk1"/>
                </a:solidFill>
              </a:rPr>
              <a:t>torturous for a human being</a:t>
            </a:r>
            <a:r>
              <a:rPr lang="en" sz="1400">
                <a:solidFill>
                  <a:schemeClr val="dk1"/>
                </a:solidFill>
              </a:rPr>
              <a:t> labour intensive</a:t>
            </a:r>
            <a:endParaRPr sz="1400">
              <a:solidFill>
                <a:schemeClr val="dk1"/>
              </a:solidFill>
            </a:endParaRPr>
          </a:p>
        </p:txBody>
      </p:sp>
      <p:pic>
        <p:nvPicPr>
          <p:cNvPr id="120" name="Google Shape;120;p21"/>
          <p:cNvPicPr preferRelativeResize="0"/>
          <p:nvPr/>
        </p:nvPicPr>
        <p:blipFill>
          <a:blip r:embed="rId3">
            <a:alphaModFix/>
          </a:blip>
          <a:stretch>
            <a:fillRect/>
          </a:stretch>
        </p:blipFill>
        <p:spPr>
          <a:xfrm>
            <a:off x="3273437" y="3125925"/>
            <a:ext cx="2597124" cy="18228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4500"/>
              <a:t>Monotone Classification</a:t>
            </a:r>
            <a:endParaRPr sz="4500"/>
          </a:p>
        </p:txBody>
      </p:sp>
      <p:sp>
        <p:nvSpPr>
          <p:cNvPr id="126" name="Google Shape;126;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2000"/>
              <a:t>Classification with a monotonicity guarantee…. But </a:t>
            </a:r>
            <a:r>
              <a:rPr i="1" lang="en" sz="2000"/>
              <a:t>what’s</a:t>
            </a:r>
            <a:r>
              <a:rPr i="1" lang="en" sz="2000"/>
              <a:t> that?</a:t>
            </a:r>
            <a:endParaRPr i="1"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Monotone Classification</a:t>
            </a:r>
            <a:endParaRPr/>
          </a:p>
        </p:txBody>
      </p:sp>
      <p:sp>
        <p:nvSpPr>
          <p:cNvPr id="132" name="Google Shape;132;p23"/>
          <p:cNvSpPr txBox="1"/>
          <p:nvPr>
            <p:ph idx="1" type="body"/>
          </p:nvPr>
        </p:nvSpPr>
        <p:spPr>
          <a:xfrm>
            <a:off x="311700" y="1016640"/>
            <a:ext cx="8520600" cy="379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1018"/>
              <a:buNone/>
            </a:pPr>
            <a:r>
              <a:rPr lang="en" sz="1400">
                <a:solidFill>
                  <a:schemeClr val="dk1"/>
                </a:solidFill>
              </a:rPr>
              <a:t>We define a classifier as a function:</a:t>
            </a:r>
            <a:endParaRPr sz="1400">
              <a:solidFill>
                <a:schemeClr val="dk1"/>
              </a:solidFill>
            </a:endParaRPr>
          </a:p>
        </p:txBody>
      </p:sp>
      <p:pic>
        <p:nvPicPr>
          <p:cNvPr id="133" name="Google Shape;133;p23" title="Screenshot 2026-04-09 at 22.53.55.png"/>
          <p:cNvPicPr preferRelativeResize="0"/>
          <p:nvPr/>
        </p:nvPicPr>
        <p:blipFill>
          <a:blip r:embed="rId3">
            <a:alphaModFix/>
          </a:blip>
          <a:stretch>
            <a:fillRect/>
          </a:stretch>
        </p:blipFill>
        <p:spPr>
          <a:xfrm>
            <a:off x="3205600" y="1694041"/>
            <a:ext cx="2732802" cy="747900"/>
          </a:xfrm>
          <a:prstGeom prst="rect">
            <a:avLst/>
          </a:prstGeom>
          <a:noFill/>
          <a:ln>
            <a:noFill/>
          </a:ln>
        </p:spPr>
      </p:pic>
      <p:sp>
        <p:nvSpPr>
          <p:cNvPr id="134" name="Google Shape;134;p23"/>
          <p:cNvSpPr txBox="1"/>
          <p:nvPr>
            <p:ph idx="1" type="body"/>
          </p:nvPr>
        </p:nvSpPr>
        <p:spPr>
          <a:xfrm>
            <a:off x="311925" y="2941747"/>
            <a:ext cx="8573700" cy="1106700"/>
          </a:xfrm>
          <a:prstGeom prst="rect">
            <a:avLst/>
          </a:prstGeom>
        </p:spPr>
        <p:txBody>
          <a:bodyPr anchorCtr="0" anchor="t" bIns="91425" lIns="91425" spcFirstLastPara="1" rIns="91425" wrap="square" tIns="91425">
            <a:spAutoFit/>
          </a:bodyPr>
          <a:lstStyle/>
          <a:p>
            <a:pPr indent="0" lvl="0" marL="0" marR="0" rtl="0" algn="l">
              <a:lnSpc>
                <a:spcPct val="95000"/>
              </a:lnSpc>
              <a:spcBef>
                <a:spcPts val="0"/>
              </a:spcBef>
              <a:spcAft>
                <a:spcPts val="0"/>
              </a:spcAft>
              <a:buSzPts val="1018"/>
              <a:buNone/>
            </a:pPr>
            <a:r>
              <a:rPr lang="en" sz="1400">
                <a:solidFill>
                  <a:schemeClr val="dk1"/>
                </a:solidFill>
              </a:rPr>
              <a:t>Where the input is the set </a:t>
            </a:r>
            <a:r>
              <a:rPr lang="en" sz="1400">
                <a:solidFill>
                  <a:schemeClr val="dk1"/>
                </a:solidFill>
                <a:latin typeface="Times New Roman"/>
                <a:ea typeface="Times New Roman"/>
                <a:cs typeface="Times New Roman"/>
                <a:sym typeface="Times New Roman"/>
              </a:rPr>
              <a:t>P</a:t>
            </a:r>
            <a:r>
              <a:rPr lang="en" sz="1400">
                <a:solidFill>
                  <a:schemeClr val="dk1"/>
                </a:solidFill>
              </a:rPr>
              <a:t> of </a:t>
            </a:r>
            <a:r>
              <a:rPr lang="en" sz="1400">
                <a:solidFill>
                  <a:schemeClr val="dk1"/>
                </a:solidFill>
                <a:latin typeface="Times New Roman"/>
                <a:ea typeface="Times New Roman"/>
                <a:cs typeface="Times New Roman"/>
                <a:sym typeface="Times New Roman"/>
              </a:rPr>
              <a:t>n</a:t>
            </a:r>
            <a:r>
              <a:rPr lang="en" sz="1400">
                <a:solidFill>
                  <a:schemeClr val="dk1"/>
                </a:solidFill>
              </a:rPr>
              <a:t> points in ℝ</a:t>
            </a:r>
            <a:r>
              <a:rPr baseline="30000" lang="en" sz="1400">
                <a:solidFill>
                  <a:schemeClr val="dk1"/>
                </a:solidFill>
              </a:rPr>
              <a:t>d</a:t>
            </a:r>
            <a:r>
              <a:rPr lang="en" sz="1400">
                <a:solidFill>
                  <a:schemeClr val="dk1"/>
                </a:solidFill>
              </a:rPr>
              <a:t> for </a:t>
            </a:r>
            <a:r>
              <a:rPr lang="en" sz="1400">
                <a:solidFill>
                  <a:schemeClr val="dk1"/>
                </a:solidFill>
                <a:latin typeface="Times New Roman"/>
                <a:ea typeface="Times New Roman"/>
                <a:cs typeface="Times New Roman"/>
                <a:sym typeface="Times New Roman"/>
              </a:rPr>
              <a:t>d</a:t>
            </a:r>
            <a:r>
              <a:rPr lang="en" sz="1400">
                <a:solidFill>
                  <a:schemeClr val="dk1"/>
                </a:solidFill>
              </a:rPr>
              <a:t> ≥ 1</a:t>
            </a:r>
            <a:endParaRPr sz="1400">
              <a:solidFill>
                <a:schemeClr val="dk1"/>
              </a:solidFill>
            </a:endParaRPr>
          </a:p>
          <a:p>
            <a:pPr indent="0" lvl="0" marL="0" rtl="0" algn="l">
              <a:lnSpc>
                <a:spcPct val="95000"/>
              </a:lnSpc>
              <a:spcBef>
                <a:spcPts val="1200"/>
              </a:spcBef>
              <a:spcAft>
                <a:spcPts val="0"/>
              </a:spcAft>
              <a:buSzPts val="1018"/>
              <a:buNone/>
            </a:pPr>
            <a:r>
              <a:rPr lang="en" sz="1400">
                <a:solidFill>
                  <a:schemeClr val="dk1"/>
                </a:solidFill>
              </a:rPr>
              <a:t>Each point </a:t>
            </a:r>
            <a:r>
              <a:rPr lang="en" sz="1400">
                <a:solidFill>
                  <a:schemeClr val="dk1"/>
                </a:solidFill>
                <a:latin typeface="Times New Roman"/>
                <a:ea typeface="Times New Roman"/>
                <a:cs typeface="Times New Roman"/>
                <a:sym typeface="Times New Roman"/>
              </a:rPr>
              <a:t> p ∈ P</a:t>
            </a:r>
            <a:r>
              <a:rPr lang="en" sz="1400">
                <a:solidFill>
                  <a:schemeClr val="dk1"/>
                </a:solidFill>
              </a:rPr>
              <a:t> has a label from {-1, 1} represented as </a:t>
            </a:r>
            <a:r>
              <a:rPr lang="en" sz="1400">
                <a:solidFill>
                  <a:schemeClr val="dk1"/>
                </a:solidFill>
                <a:latin typeface="Times New Roman"/>
                <a:ea typeface="Times New Roman"/>
                <a:cs typeface="Times New Roman"/>
                <a:sym typeface="Times New Roman"/>
              </a:rPr>
              <a:t>label(p)</a:t>
            </a:r>
            <a:endParaRPr sz="14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rPr lang="en" sz="1400">
                <a:solidFill>
                  <a:schemeClr val="dk1"/>
                </a:solidFill>
              </a:rPr>
              <a:t>A correct classification of a point </a:t>
            </a:r>
            <a:r>
              <a:rPr lang="en" sz="1400">
                <a:solidFill>
                  <a:schemeClr val="dk1"/>
                </a:solidFill>
                <a:latin typeface="Times New Roman"/>
                <a:ea typeface="Times New Roman"/>
                <a:cs typeface="Times New Roman"/>
                <a:sym typeface="Times New Roman"/>
              </a:rPr>
              <a:t>p ∈ P</a:t>
            </a:r>
            <a:r>
              <a:rPr lang="en" sz="1400">
                <a:solidFill>
                  <a:schemeClr val="dk1"/>
                </a:solidFill>
              </a:rPr>
              <a:t> is if </a:t>
            </a:r>
            <a:r>
              <a:rPr lang="en" sz="1400">
                <a:solidFill>
                  <a:schemeClr val="dk1"/>
                </a:solidFill>
                <a:latin typeface="Times New Roman"/>
                <a:ea typeface="Times New Roman"/>
                <a:cs typeface="Times New Roman"/>
                <a:sym typeface="Times New Roman"/>
              </a:rPr>
              <a:t>h(p) = label(p) </a:t>
            </a:r>
            <a:r>
              <a:rPr lang="en" sz="1400">
                <a:solidFill>
                  <a:schemeClr val="dk1"/>
                </a:solidFill>
              </a:rPr>
              <a:t>and a misclassification otherwise</a:t>
            </a:r>
            <a:endParaRPr sz="1400">
              <a:solidFill>
                <a:schemeClr val="dk1"/>
              </a:solidFill>
              <a:latin typeface="Times New Roman"/>
              <a:ea typeface="Times New Roman"/>
              <a:cs typeface="Times New Roman"/>
              <a:sym typeface="Times New Roman"/>
            </a:endParaRPr>
          </a:p>
        </p:txBody>
      </p:sp>
      <p:sp>
        <p:nvSpPr>
          <p:cNvPr id="135" name="Google Shape;135;p23"/>
          <p:cNvSpPr txBox="1"/>
          <p:nvPr>
            <p:ph idx="1" type="body"/>
          </p:nvPr>
        </p:nvSpPr>
        <p:spPr>
          <a:xfrm>
            <a:off x="311925" y="4173221"/>
            <a:ext cx="8573700" cy="379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1018"/>
              <a:buNone/>
            </a:pPr>
            <a:r>
              <a:rPr lang="en" sz="1400">
                <a:solidFill>
                  <a:schemeClr val="dk1"/>
                </a:solidFill>
              </a:rPr>
              <a:t>But what would be a suitable classifier?</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Monotone Classification</a:t>
            </a:r>
            <a:endParaRPr/>
          </a:p>
        </p:txBody>
      </p:sp>
      <p:sp>
        <p:nvSpPr>
          <p:cNvPr id="141" name="Google Shape;141;p24"/>
          <p:cNvSpPr txBox="1"/>
          <p:nvPr>
            <p:ph idx="1" type="body"/>
          </p:nvPr>
        </p:nvSpPr>
        <p:spPr>
          <a:xfrm>
            <a:off x="311700" y="2139853"/>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chemeClr val="dk1"/>
                </a:solidFill>
              </a:rPr>
              <a:t>The Monotonicity Constraint</a:t>
            </a:r>
            <a:endParaRPr>
              <a:solidFill>
                <a:schemeClr val="dk1"/>
              </a:solidFill>
            </a:endParaRPr>
          </a:p>
        </p:txBody>
      </p:sp>
      <p:sp>
        <p:nvSpPr>
          <p:cNvPr id="142" name="Google Shape;142;p24"/>
          <p:cNvSpPr txBox="1"/>
          <p:nvPr>
            <p:ph idx="1" type="body"/>
          </p:nvPr>
        </p:nvSpPr>
        <p:spPr>
          <a:xfrm>
            <a:off x="311700" y="1092626"/>
            <a:ext cx="85206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b="1" lang="en" sz="1500">
                <a:solidFill>
                  <a:schemeClr val="dk1"/>
                </a:solidFill>
              </a:rPr>
              <a:t>Dominance: </a:t>
            </a:r>
            <a:r>
              <a:rPr lang="en" sz="1500">
                <a:solidFill>
                  <a:schemeClr val="dk1"/>
                </a:solidFill>
              </a:rPr>
              <a:t>A point </a:t>
            </a:r>
            <a:r>
              <a:rPr lang="en" sz="1500">
                <a:solidFill>
                  <a:schemeClr val="dk1"/>
                </a:solidFill>
                <a:latin typeface="Times New Roman"/>
                <a:ea typeface="Times New Roman"/>
                <a:cs typeface="Times New Roman"/>
                <a:sym typeface="Times New Roman"/>
              </a:rPr>
              <a:t>p ∈ </a:t>
            </a:r>
            <a:r>
              <a:rPr lang="en" sz="1500">
                <a:solidFill>
                  <a:schemeClr val="dk1"/>
                </a:solidFill>
              </a:rPr>
              <a:t>ℝ</a:t>
            </a:r>
            <a:r>
              <a:rPr baseline="30000" lang="en" sz="1500">
                <a:solidFill>
                  <a:schemeClr val="dk1"/>
                </a:solidFill>
              </a:rPr>
              <a:t>d</a:t>
            </a:r>
            <a:r>
              <a:rPr lang="en" sz="1500">
                <a:solidFill>
                  <a:schemeClr val="dk1"/>
                </a:solidFill>
                <a:latin typeface="Times New Roman"/>
                <a:ea typeface="Times New Roman"/>
                <a:cs typeface="Times New Roman"/>
                <a:sym typeface="Times New Roman"/>
              </a:rPr>
              <a:t> </a:t>
            </a:r>
            <a:r>
              <a:rPr lang="en" sz="1500">
                <a:solidFill>
                  <a:schemeClr val="dk1"/>
                </a:solidFill>
              </a:rPr>
              <a:t>dominates another point </a:t>
            </a:r>
            <a:r>
              <a:rPr lang="en" sz="1500">
                <a:solidFill>
                  <a:schemeClr val="dk1"/>
                </a:solidFill>
                <a:latin typeface="Times New Roman"/>
                <a:ea typeface="Times New Roman"/>
                <a:cs typeface="Times New Roman"/>
                <a:sym typeface="Times New Roman"/>
              </a:rPr>
              <a:t>q</a:t>
            </a:r>
            <a:r>
              <a:rPr lang="en" sz="1500">
                <a:solidFill>
                  <a:schemeClr val="dk1"/>
                </a:solidFill>
              </a:rPr>
              <a:t> </a:t>
            </a:r>
            <a:r>
              <a:rPr lang="en" sz="1500">
                <a:solidFill>
                  <a:schemeClr val="dk1"/>
                </a:solidFill>
                <a:latin typeface="Times New Roman"/>
                <a:ea typeface="Times New Roman"/>
                <a:cs typeface="Times New Roman"/>
                <a:sym typeface="Times New Roman"/>
              </a:rPr>
              <a:t>∈</a:t>
            </a:r>
            <a:r>
              <a:rPr lang="en" sz="1500">
                <a:solidFill>
                  <a:schemeClr val="dk1"/>
                </a:solidFill>
              </a:rPr>
              <a:t> </a:t>
            </a:r>
            <a:r>
              <a:rPr lang="en" sz="1500">
                <a:solidFill>
                  <a:schemeClr val="dk1"/>
                </a:solidFill>
              </a:rPr>
              <a:t>ℝ</a:t>
            </a:r>
            <a:r>
              <a:rPr baseline="30000" lang="en" sz="1500">
                <a:solidFill>
                  <a:schemeClr val="dk1"/>
                </a:solidFill>
              </a:rPr>
              <a:t>d</a:t>
            </a:r>
            <a:r>
              <a:rPr lang="en" sz="1500">
                <a:solidFill>
                  <a:schemeClr val="dk1"/>
                </a:solidFill>
              </a:rPr>
              <a:t> , denoted as </a:t>
            </a:r>
            <a:r>
              <a:rPr lang="en" sz="1500">
                <a:solidFill>
                  <a:schemeClr val="dk1"/>
                </a:solidFill>
                <a:latin typeface="Times New Roman"/>
                <a:ea typeface="Times New Roman"/>
                <a:cs typeface="Times New Roman"/>
                <a:sym typeface="Times New Roman"/>
              </a:rPr>
              <a:t>p </a:t>
            </a:r>
            <a:r>
              <a:rPr lang="en" sz="1500">
                <a:solidFill>
                  <a:schemeClr val="dk1"/>
                </a:solidFill>
              </a:rPr>
              <a:t>≻ </a:t>
            </a:r>
            <a:r>
              <a:rPr lang="en" sz="1500">
                <a:solidFill>
                  <a:schemeClr val="dk1"/>
                </a:solidFill>
                <a:latin typeface="Times New Roman"/>
                <a:ea typeface="Times New Roman"/>
                <a:cs typeface="Times New Roman"/>
                <a:sym typeface="Times New Roman"/>
              </a:rPr>
              <a:t>q </a:t>
            </a:r>
            <a:r>
              <a:rPr lang="en" sz="1500">
                <a:solidFill>
                  <a:schemeClr val="dk1"/>
                </a:solidFill>
              </a:rPr>
              <a:t>if: </a:t>
            </a:r>
            <a:endParaRPr sz="1500">
              <a:solidFill>
                <a:schemeClr val="dk1"/>
              </a:solidFill>
            </a:endParaRPr>
          </a:p>
        </p:txBody>
      </p:sp>
      <p:pic>
        <p:nvPicPr>
          <p:cNvPr id="143" name="Google Shape;143;p24" title="Screenshot 2026-04-09 at 23.36.18.png"/>
          <p:cNvPicPr preferRelativeResize="0"/>
          <p:nvPr/>
        </p:nvPicPr>
        <p:blipFill>
          <a:blip r:embed="rId3">
            <a:alphaModFix/>
          </a:blip>
          <a:stretch>
            <a:fillRect/>
          </a:stretch>
        </p:blipFill>
        <p:spPr>
          <a:xfrm>
            <a:off x="3127775" y="1536957"/>
            <a:ext cx="2888449" cy="512800"/>
          </a:xfrm>
          <a:prstGeom prst="rect">
            <a:avLst/>
          </a:prstGeom>
          <a:noFill/>
          <a:ln>
            <a:noFill/>
          </a:ln>
        </p:spPr>
      </p:pic>
      <p:sp>
        <p:nvSpPr>
          <p:cNvPr id="144" name="Google Shape;144;p24"/>
          <p:cNvSpPr txBox="1"/>
          <p:nvPr>
            <p:ph idx="1" type="body"/>
          </p:nvPr>
        </p:nvSpPr>
        <p:spPr>
          <a:xfrm>
            <a:off x="311700" y="2601558"/>
            <a:ext cx="85206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lang="en" sz="1500">
                <a:solidFill>
                  <a:schemeClr val="dk1"/>
                </a:solidFill>
              </a:rPr>
              <a:t>A classifier is said to be monotone if:</a:t>
            </a:r>
            <a:endParaRPr sz="1500">
              <a:solidFill>
                <a:schemeClr val="dk1"/>
              </a:solidFill>
            </a:endParaRPr>
          </a:p>
        </p:txBody>
      </p:sp>
      <p:pic>
        <p:nvPicPr>
          <p:cNvPr id="145" name="Google Shape;145;p24" title="Screenshot 2026-04-09 at 23.42.59.png"/>
          <p:cNvPicPr preferRelativeResize="0"/>
          <p:nvPr/>
        </p:nvPicPr>
        <p:blipFill>
          <a:blip r:embed="rId4">
            <a:alphaModFix/>
          </a:blip>
          <a:stretch>
            <a:fillRect/>
          </a:stretch>
        </p:blipFill>
        <p:spPr>
          <a:xfrm>
            <a:off x="3210775" y="3020160"/>
            <a:ext cx="2722425" cy="633825"/>
          </a:xfrm>
          <a:prstGeom prst="rect">
            <a:avLst/>
          </a:prstGeom>
          <a:noFill/>
          <a:ln>
            <a:noFill/>
          </a:ln>
        </p:spPr>
      </p:pic>
      <p:sp>
        <p:nvSpPr>
          <p:cNvPr id="146" name="Google Shape;146;p24"/>
          <p:cNvSpPr txBox="1"/>
          <p:nvPr>
            <p:ph idx="1" type="body"/>
          </p:nvPr>
        </p:nvSpPr>
        <p:spPr>
          <a:xfrm>
            <a:off x="311700" y="3695722"/>
            <a:ext cx="8520600" cy="646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lang="en" sz="1500">
                <a:solidFill>
                  <a:schemeClr val="dk1"/>
                </a:solidFill>
              </a:rPr>
              <a:t>In other words, if pair p is as similar as q on every attribute, if a classifier h labels q as a match, then it should also label p as a match. </a:t>
            </a:r>
            <a:endParaRPr sz="1500">
              <a:solidFill>
                <a:schemeClr val="dk1"/>
              </a:solidFill>
            </a:endParaRPr>
          </a:p>
        </p:txBody>
      </p:sp>
      <p:sp>
        <p:nvSpPr>
          <p:cNvPr id="147" name="Google Shape;147;p24"/>
          <p:cNvSpPr txBox="1"/>
          <p:nvPr>
            <p:ph idx="1" type="body"/>
          </p:nvPr>
        </p:nvSpPr>
        <p:spPr>
          <a:xfrm>
            <a:off x="311700" y="4336836"/>
            <a:ext cx="85206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lang="en" sz="1500">
                <a:solidFill>
                  <a:schemeClr val="dk1"/>
                </a:solidFill>
              </a:rPr>
              <a:t>This is a key criteria for our </a:t>
            </a:r>
            <a:r>
              <a:rPr lang="en" sz="1500">
                <a:solidFill>
                  <a:schemeClr val="dk1"/>
                </a:solidFill>
              </a:rPr>
              <a:t>classifier. We denote the set of monotone classifiers as</a:t>
            </a:r>
            <a:endParaRPr sz="1500">
              <a:solidFill>
                <a:schemeClr val="dk1"/>
              </a:solidFill>
            </a:endParaRPr>
          </a:p>
        </p:txBody>
      </p:sp>
      <p:pic>
        <p:nvPicPr>
          <p:cNvPr id="148" name="Google Shape;148;p24" title="Screenshot 2026-04-10 at 00.08.22.png"/>
          <p:cNvPicPr preferRelativeResize="0"/>
          <p:nvPr/>
        </p:nvPicPr>
        <p:blipFill>
          <a:blip r:embed="rId5">
            <a:alphaModFix/>
          </a:blip>
          <a:stretch>
            <a:fillRect/>
          </a:stretch>
        </p:blipFill>
        <p:spPr>
          <a:xfrm>
            <a:off x="7406654" y="4388213"/>
            <a:ext cx="593950" cy="332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Monotone Classification</a:t>
            </a:r>
            <a:endParaRPr/>
          </a:p>
        </p:txBody>
      </p:sp>
      <p:sp>
        <p:nvSpPr>
          <p:cNvPr id="154" name="Google Shape;154;p25"/>
          <p:cNvSpPr txBox="1"/>
          <p:nvPr>
            <p:ph idx="1" type="body"/>
          </p:nvPr>
        </p:nvSpPr>
        <p:spPr>
          <a:xfrm>
            <a:off x="311700" y="1058916"/>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a:solidFill>
                  <a:schemeClr val="dk1"/>
                </a:solidFill>
              </a:rPr>
              <a:t>Optimal Monotone Error</a:t>
            </a:r>
            <a:endParaRPr>
              <a:solidFill>
                <a:schemeClr val="dk1"/>
              </a:solidFill>
            </a:endParaRPr>
          </a:p>
        </p:txBody>
      </p:sp>
      <p:sp>
        <p:nvSpPr>
          <p:cNvPr id="155" name="Google Shape;155;p25"/>
          <p:cNvSpPr txBox="1"/>
          <p:nvPr>
            <p:ph idx="1" type="body"/>
          </p:nvPr>
        </p:nvSpPr>
        <p:spPr>
          <a:xfrm>
            <a:off x="311700" y="1499139"/>
            <a:ext cx="8520600" cy="400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lang="en" sz="1400">
                <a:solidFill>
                  <a:schemeClr val="dk1"/>
                </a:solidFill>
              </a:rPr>
              <a:t>Given a classifier h, its error is defined as the number of misclassifications it makes on P:</a:t>
            </a:r>
            <a:endParaRPr sz="1400">
              <a:solidFill>
                <a:schemeClr val="dk1"/>
              </a:solidFill>
            </a:endParaRPr>
          </a:p>
        </p:txBody>
      </p:sp>
      <p:pic>
        <p:nvPicPr>
          <p:cNvPr id="156" name="Google Shape;156;p25" title="Screenshot 2026-04-10 at 00.11.13.png"/>
          <p:cNvPicPr preferRelativeResize="0"/>
          <p:nvPr/>
        </p:nvPicPr>
        <p:blipFill>
          <a:blip r:embed="rId3">
            <a:alphaModFix/>
          </a:blip>
          <a:stretch>
            <a:fillRect/>
          </a:stretch>
        </p:blipFill>
        <p:spPr>
          <a:xfrm>
            <a:off x="3098863" y="1915623"/>
            <a:ext cx="2946275" cy="747650"/>
          </a:xfrm>
          <a:prstGeom prst="rect">
            <a:avLst/>
          </a:prstGeom>
          <a:noFill/>
          <a:ln>
            <a:noFill/>
          </a:ln>
        </p:spPr>
      </p:pic>
      <p:sp>
        <p:nvSpPr>
          <p:cNvPr id="157" name="Google Shape;157;p25"/>
          <p:cNvSpPr txBox="1"/>
          <p:nvPr>
            <p:ph idx="1" type="body"/>
          </p:nvPr>
        </p:nvSpPr>
        <p:spPr>
          <a:xfrm>
            <a:off x="311696" y="2999577"/>
            <a:ext cx="8520600" cy="6156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200"/>
              </a:spcAft>
              <a:buSzPts val="1018"/>
              <a:buNone/>
            </a:pPr>
            <a:r>
              <a:rPr lang="en" sz="1400">
                <a:solidFill>
                  <a:schemeClr val="dk1"/>
                </a:solidFill>
              </a:rPr>
              <a:t>A classifier h ∈ H</a:t>
            </a:r>
            <a:r>
              <a:rPr baseline="-25000" lang="en" sz="1400">
                <a:solidFill>
                  <a:schemeClr val="dk1"/>
                </a:solidFill>
              </a:rPr>
              <a:t>mon</a:t>
            </a:r>
            <a:r>
              <a:rPr lang="en" sz="1400">
                <a:solidFill>
                  <a:schemeClr val="dk1"/>
                </a:solidFill>
              </a:rPr>
              <a:t>  is </a:t>
            </a:r>
            <a:r>
              <a:rPr b="1" lang="en" sz="1400">
                <a:solidFill>
                  <a:schemeClr val="dk1"/>
                </a:solidFill>
              </a:rPr>
              <a:t>optimal</a:t>
            </a:r>
            <a:r>
              <a:rPr lang="en" sz="1400">
                <a:solidFill>
                  <a:schemeClr val="dk1"/>
                </a:solidFill>
              </a:rPr>
              <a:t> on P if it attains the smallest possible error over all </a:t>
            </a:r>
            <a:r>
              <a:rPr lang="en" sz="1400">
                <a:solidFill>
                  <a:schemeClr val="dk1"/>
                </a:solidFill>
              </a:rPr>
              <a:t>monotone</a:t>
            </a:r>
            <a:r>
              <a:rPr lang="en" sz="1400">
                <a:solidFill>
                  <a:schemeClr val="dk1"/>
                </a:solidFill>
              </a:rPr>
              <a:t> </a:t>
            </a:r>
            <a:r>
              <a:rPr lang="en" sz="1400">
                <a:solidFill>
                  <a:schemeClr val="dk1"/>
                </a:solidFill>
              </a:rPr>
              <a:t>classifiers</a:t>
            </a:r>
            <a:r>
              <a:rPr lang="en" sz="1400">
                <a:solidFill>
                  <a:schemeClr val="dk1"/>
                </a:solidFill>
              </a:rPr>
              <a:t>. This is defined as the Optimal Monotone Error:  </a:t>
            </a:r>
            <a:endParaRPr sz="1400">
              <a:solidFill>
                <a:schemeClr val="dk1"/>
              </a:solidFill>
            </a:endParaRPr>
          </a:p>
        </p:txBody>
      </p:sp>
      <p:pic>
        <p:nvPicPr>
          <p:cNvPr id="158" name="Google Shape;158;p25" title="Screenshot 2026-04-10 at 00.08.22.png"/>
          <p:cNvPicPr preferRelativeResize="0"/>
          <p:nvPr/>
        </p:nvPicPr>
        <p:blipFill>
          <a:blip r:embed="rId4">
            <a:alphaModFix/>
          </a:blip>
          <a:stretch>
            <a:fillRect/>
          </a:stretch>
        </p:blipFill>
        <p:spPr>
          <a:xfrm>
            <a:off x="1567100" y="3086575"/>
            <a:ext cx="462425" cy="259100"/>
          </a:xfrm>
          <a:prstGeom prst="rect">
            <a:avLst/>
          </a:prstGeom>
          <a:noFill/>
          <a:ln>
            <a:noFill/>
          </a:ln>
        </p:spPr>
      </p:pic>
      <p:pic>
        <p:nvPicPr>
          <p:cNvPr id="159" name="Google Shape;159;p25" title="Screenshot 2026-04-10 at 00.16.22.png"/>
          <p:cNvPicPr preferRelativeResize="0"/>
          <p:nvPr/>
        </p:nvPicPr>
        <p:blipFill>
          <a:blip r:embed="rId5">
            <a:alphaModFix/>
          </a:blip>
          <a:stretch>
            <a:fillRect/>
          </a:stretch>
        </p:blipFill>
        <p:spPr>
          <a:xfrm>
            <a:off x="3329513" y="3842625"/>
            <a:ext cx="2484991" cy="615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pic>
        <p:nvPicPr>
          <p:cNvPr id="165" name="Google Shape;165;p26"/>
          <p:cNvPicPr preferRelativeResize="0"/>
          <p:nvPr/>
        </p:nvPicPr>
        <p:blipFill rotWithShape="1">
          <a:blip r:embed="rId3">
            <a:alphaModFix/>
          </a:blip>
          <a:srcRect b="0" l="1730" r="0" t="0"/>
          <a:stretch/>
        </p:blipFill>
        <p:spPr>
          <a:xfrm>
            <a:off x="5104650" y="1382963"/>
            <a:ext cx="3727650" cy="2692775"/>
          </a:xfrm>
          <a:prstGeom prst="rect">
            <a:avLst/>
          </a:prstGeom>
          <a:noFill/>
          <a:ln cap="flat" cmpd="sng" w="9525">
            <a:solidFill>
              <a:schemeClr val="dk2"/>
            </a:solidFill>
            <a:prstDash val="solid"/>
            <a:round/>
            <a:headEnd len="sm" w="sm" type="none"/>
            <a:tailEnd len="sm" w="sm" type="none"/>
          </a:ln>
        </p:spPr>
      </p:pic>
      <p:sp>
        <p:nvSpPr>
          <p:cNvPr id="166" name="Google Shape;166;p26"/>
          <p:cNvSpPr txBox="1"/>
          <p:nvPr>
            <p:ph idx="1" type="body"/>
          </p:nvPr>
        </p:nvSpPr>
        <p:spPr>
          <a:xfrm>
            <a:off x="311700" y="1147750"/>
            <a:ext cx="4496700" cy="3163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018"/>
              <a:buNone/>
            </a:pPr>
            <a:r>
              <a:rPr lang="en" sz="1500">
                <a:solidFill>
                  <a:schemeClr val="dk1"/>
                </a:solidFill>
              </a:rPr>
              <a:t>The 2D grid illustrates an input set P. </a:t>
            </a:r>
            <a:endParaRPr sz="1500">
              <a:solidFill>
                <a:schemeClr val="dk1"/>
              </a:solidFill>
            </a:endParaRPr>
          </a:p>
          <a:p>
            <a:pPr indent="0" lvl="0" marL="0" rtl="0" algn="l">
              <a:lnSpc>
                <a:spcPct val="100000"/>
              </a:lnSpc>
              <a:spcBef>
                <a:spcPts val="1200"/>
              </a:spcBef>
              <a:spcAft>
                <a:spcPts val="0"/>
              </a:spcAft>
              <a:buSzPts val="1018"/>
              <a:buNone/>
            </a:pPr>
            <a:r>
              <a:rPr lang="en" sz="1500">
                <a:solidFill>
                  <a:schemeClr val="dk1"/>
                </a:solidFill>
              </a:rPr>
              <a:t>Consider a </a:t>
            </a:r>
            <a:r>
              <a:rPr lang="en" sz="1500">
                <a:solidFill>
                  <a:schemeClr val="dk1"/>
                </a:solidFill>
              </a:rPr>
              <a:t>monotone classifier h that:</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Classifies all black points except p</a:t>
            </a:r>
            <a:r>
              <a:rPr baseline="-25000" lang="en" sz="1500">
                <a:solidFill>
                  <a:schemeClr val="dk1"/>
                </a:solidFill>
              </a:rPr>
              <a:t>1</a:t>
            </a:r>
            <a:r>
              <a:rPr lang="en" sz="1500">
                <a:solidFill>
                  <a:schemeClr val="dk1"/>
                </a:solidFill>
              </a:rPr>
              <a:t> to 1</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Classifies all white points excep p</a:t>
            </a:r>
            <a:r>
              <a:rPr baseline="-25000" lang="en" sz="1500">
                <a:solidFill>
                  <a:schemeClr val="dk1"/>
                </a:solidFill>
              </a:rPr>
              <a:t>11 </a:t>
            </a:r>
            <a:r>
              <a:rPr lang="en" sz="1500">
                <a:solidFill>
                  <a:schemeClr val="dk1"/>
                </a:solidFill>
              </a:rPr>
              <a:t>and p</a:t>
            </a:r>
            <a:r>
              <a:rPr baseline="-25000" lang="en" sz="1500">
                <a:solidFill>
                  <a:schemeClr val="dk1"/>
                </a:solidFill>
              </a:rPr>
              <a:t>15 </a:t>
            </a:r>
            <a:r>
              <a:rPr lang="en" sz="1500">
                <a:solidFill>
                  <a:schemeClr val="dk1"/>
                </a:solidFill>
              </a:rPr>
              <a:t> to -1</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e</a:t>
            </a:r>
            <a:r>
              <a:rPr lang="en" sz="1500">
                <a:solidFill>
                  <a:schemeClr val="dk1"/>
                </a:solidFill>
              </a:rPr>
              <a:t>rr</a:t>
            </a:r>
            <a:r>
              <a:rPr baseline="-25000" lang="en" sz="1500">
                <a:solidFill>
                  <a:schemeClr val="dk1"/>
                </a:solidFill>
              </a:rPr>
              <a:t>p</a:t>
            </a:r>
            <a:r>
              <a:rPr lang="en" sz="1500">
                <a:solidFill>
                  <a:schemeClr val="dk1"/>
                </a:solidFill>
              </a:rPr>
              <a:t>(h) = 3</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Assuming no other </a:t>
            </a:r>
            <a:r>
              <a:rPr lang="en" sz="1500">
                <a:solidFill>
                  <a:schemeClr val="dk1"/>
                </a:solidFill>
              </a:rPr>
              <a:t>monotone</a:t>
            </a:r>
            <a:r>
              <a:rPr lang="en" sz="1500">
                <a:solidFill>
                  <a:schemeClr val="dk1"/>
                </a:solidFill>
              </a:rPr>
              <a:t> classifier has smaller error on P, k* = 3</a:t>
            </a:r>
            <a:endParaRPr sz="1500">
              <a:solidFill>
                <a:schemeClr val="dk1"/>
              </a:solidFill>
            </a:endParaRPr>
          </a:p>
          <a:p>
            <a:pPr indent="0" lvl="0" marL="0" rtl="0" algn="l">
              <a:lnSpc>
                <a:spcPct val="100000"/>
              </a:lnSpc>
              <a:spcBef>
                <a:spcPts val="1200"/>
              </a:spcBef>
              <a:spcAft>
                <a:spcPts val="1200"/>
              </a:spcAft>
              <a:buNone/>
            </a:pPr>
            <a:r>
              <a:rPr lang="en" sz="1500">
                <a:solidFill>
                  <a:schemeClr val="dk1"/>
                </a:solidFill>
              </a:rPr>
              <a:t>Since k* &gt; 0 here, this is considered as a </a:t>
            </a:r>
            <a:r>
              <a:rPr i="1" lang="en" sz="1500">
                <a:solidFill>
                  <a:schemeClr val="dk1"/>
                </a:solidFill>
              </a:rPr>
              <a:t>non-realizable</a:t>
            </a:r>
            <a:r>
              <a:rPr lang="en" sz="1500">
                <a:solidFill>
                  <a:schemeClr val="dk1"/>
                </a:solidFill>
              </a:rPr>
              <a:t> case.</a:t>
            </a:r>
            <a:endParaRPr sz="1500">
              <a:solidFill>
                <a:schemeClr val="dk1"/>
              </a:solidFill>
            </a:endParaRPr>
          </a:p>
        </p:txBody>
      </p:sp>
      <p:sp>
        <p:nvSpPr>
          <p:cNvPr id="167" name="Google Shape;167;p26"/>
          <p:cNvSpPr/>
          <p:nvPr/>
        </p:nvSpPr>
        <p:spPr>
          <a:xfrm>
            <a:off x="5213825" y="3326600"/>
            <a:ext cx="347700" cy="320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6"/>
          <p:cNvSpPr/>
          <p:nvPr/>
        </p:nvSpPr>
        <p:spPr>
          <a:xfrm>
            <a:off x="6451150" y="1711500"/>
            <a:ext cx="347700" cy="320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6"/>
          <p:cNvSpPr/>
          <p:nvPr/>
        </p:nvSpPr>
        <p:spPr>
          <a:xfrm>
            <a:off x="7449100" y="1476775"/>
            <a:ext cx="347700" cy="320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an Optimal Monotone Classifier</a:t>
            </a:r>
            <a:endParaRPr/>
          </a:p>
        </p:txBody>
      </p:sp>
      <p:sp>
        <p:nvSpPr>
          <p:cNvPr id="175" name="Google Shape;175;p27"/>
          <p:cNvSpPr txBox="1"/>
          <p:nvPr>
            <p:ph idx="1" type="body"/>
          </p:nvPr>
        </p:nvSpPr>
        <p:spPr>
          <a:xfrm>
            <a:off x="311700" y="1068450"/>
            <a:ext cx="8565900" cy="2083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500">
                <a:solidFill>
                  <a:schemeClr val="dk1"/>
                </a:solidFill>
              </a:rPr>
              <a:t>We want an algorithm A to return h ∈ H</a:t>
            </a:r>
            <a:r>
              <a:rPr baseline="-25000" lang="en" sz="1500">
                <a:solidFill>
                  <a:schemeClr val="dk1"/>
                </a:solidFill>
              </a:rPr>
              <a:t>mon</a:t>
            </a:r>
            <a:r>
              <a:rPr lang="en" sz="1500">
                <a:solidFill>
                  <a:schemeClr val="dk1"/>
                </a:solidFill>
              </a:rPr>
              <a:t> that has low error on P.</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Labels are hidden from A at the start. So A asks an </a:t>
            </a:r>
            <a:r>
              <a:rPr i="1" lang="en" sz="1500">
                <a:solidFill>
                  <a:schemeClr val="dk1"/>
                </a:solidFill>
              </a:rPr>
              <a:t>oracle </a:t>
            </a:r>
            <a:r>
              <a:rPr lang="en" sz="1500">
                <a:solidFill>
                  <a:schemeClr val="dk1"/>
                </a:solidFill>
              </a:rPr>
              <a:t>(e.g. human expert) to reveal a point’s hidden label - this is a </a:t>
            </a:r>
            <a:r>
              <a:rPr b="1" lang="en" sz="1500">
                <a:solidFill>
                  <a:schemeClr val="dk1"/>
                </a:solidFill>
              </a:rPr>
              <a:t>probe</a:t>
            </a:r>
            <a:r>
              <a:rPr lang="en" sz="1500">
                <a:solidFill>
                  <a:schemeClr val="dk1"/>
                </a:solidFill>
              </a:rPr>
              <a:t> </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Cost of A = total number of probes</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Probing all of P guarantees finding optimal h but with n cost.</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Probing nothing ensures zero cost but with poor classification results</a:t>
            </a:r>
            <a:endParaRPr sz="1500">
              <a:solidFill>
                <a:schemeClr val="dk1"/>
              </a:solidFill>
            </a:endParaRPr>
          </a:p>
        </p:txBody>
      </p:sp>
      <p:pic>
        <p:nvPicPr>
          <p:cNvPr id="176" name="Google Shape;176;p27" title="Screenshot 2026-04-10 at 00.08.22.png"/>
          <p:cNvPicPr preferRelativeResize="0"/>
          <p:nvPr/>
        </p:nvPicPr>
        <p:blipFill>
          <a:blip r:embed="rId3">
            <a:alphaModFix/>
          </a:blip>
          <a:stretch>
            <a:fillRect/>
          </a:stretch>
        </p:blipFill>
        <p:spPr>
          <a:xfrm>
            <a:off x="3522824" y="1179150"/>
            <a:ext cx="430451" cy="241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 an Optimal Monotone Classifier</a:t>
            </a:r>
            <a:endParaRPr/>
          </a:p>
        </p:txBody>
      </p:sp>
      <p:sp>
        <p:nvSpPr>
          <p:cNvPr id="182" name="Google Shape;182;p28"/>
          <p:cNvSpPr txBox="1"/>
          <p:nvPr>
            <p:ph idx="1" type="body"/>
          </p:nvPr>
        </p:nvSpPr>
        <p:spPr>
          <a:xfrm>
            <a:off x="311700" y="1110200"/>
            <a:ext cx="8520600" cy="1364700"/>
          </a:xfrm>
          <a:prstGeom prst="rect">
            <a:avLst/>
          </a:prstGeom>
        </p:spPr>
        <p:txBody>
          <a:bodyPr anchorCtr="0" anchor="t" bIns="91425" lIns="91425" spcFirstLastPara="1" rIns="91425" wrap="square" tIns="91425">
            <a:spAutoFit/>
          </a:bodyPr>
          <a:lstStyle/>
          <a:p>
            <a:pPr indent="0" lvl="0" marL="0" rtl="0" algn="l">
              <a:lnSpc>
                <a:spcPct val="100000"/>
              </a:lnSpc>
              <a:spcBef>
                <a:spcPts val="1000"/>
              </a:spcBef>
              <a:spcAft>
                <a:spcPts val="0"/>
              </a:spcAft>
              <a:buNone/>
            </a:pPr>
            <a:r>
              <a:rPr lang="en" sz="1500">
                <a:solidFill>
                  <a:schemeClr val="dk1"/>
                </a:solidFill>
              </a:rPr>
              <a:t>When k* = 0, this is the realizable case. There exists a classifier </a:t>
            </a:r>
            <a:r>
              <a:rPr lang="en" sz="1500">
                <a:solidFill>
                  <a:schemeClr val="dk1"/>
                </a:solidFill>
              </a:rPr>
              <a:t>h ∈ H</a:t>
            </a:r>
            <a:r>
              <a:rPr baseline="-25000" lang="en" sz="1500">
                <a:solidFill>
                  <a:schemeClr val="dk1"/>
                </a:solidFill>
              </a:rPr>
              <a:t>mon</a:t>
            </a:r>
            <a:r>
              <a:rPr lang="en" sz="1500">
                <a:solidFill>
                  <a:schemeClr val="dk1"/>
                </a:solidFill>
              </a:rPr>
              <a:t>  that perfectly classifies P</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When k* &gt; 0, this is the non-realizable case. No classifier in H</a:t>
            </a:r>
            <a:r>
              <a:rPr baseline="-25000" lang="en" sz="1500">
                <a:solidFill>
                  <a:schemeClr val="dk1"/>
                </a:solidFill>
              </a:rPr>
              <a:t>mon</a:t>
            </a:r>
            <a:r>
              <a:rPr lang="en" sz="1500">
                <a:solidFill>
                  <a:schemeClr val="dk1"/>
                </a:solidFill>
              </a:rPr>
              <a:t> </a:t>
            </a:r>
            <a:r>
              <a:rPr lang="en" sz="1500">
                <a:solidFill>
                  <a:schemeClr val="dk1"/>
                </a:solidFill>
              </a:rPr>
              <a:t> classifies P without min k* error</a:t>
            </a:r>
            <a:endParaRPr sz="1500">
              <a:solidFill>
                <a:schemeClr val="dk1"/>
              </a:solidFill>
            </a:endParaRPr>
          </a:p>
          <a:p>
            <a:pPr indent="0" lvl="0" marL="0" rtl="0" algn="l">
              <a:lnSpc>
                <a:spcPct val="100000"/>
              </a:lnSpc>
              <a:spcBef>
                <a:spcPts val="1000"/>
              </a:spcBef>
              <a:spcAft>
                <a:spcPts val="0"/>
              </a:spcAft>
              <a:buNone/>
            </a:pPr>
            <a:r>
              <a:rPr lang="en" sz="1500">
                <a:solidFill>
                  <a:schemeClr val="dk1"/>
                </a:solidFill>
              </a:rPr>
              <a:t>We define ε ≥ 0 as a tolerance parameter to allow the returned classifier to exceed k* by a small multiplicative factor</a:t>
            </a:r>
            <a:endParaRPr sz="1500">
              <a:solidFill>
                <a:schemeClr val="dk1"/>
              </a:solidFill>
            </a:endParaRPr>
          </a:p>
        </p:txBody>
      </p:sp>
      <p:sp>
        <p:nvSpPr>
          <p:cNvPr id="183" name="Google Shape;183;p28"/>
          <p:cNvSpPr txBox="1"/>
          <p:nvPr>
            <p:ph idx="1" type="body"/>
          </p:nvPr>
        </p:nvSpPr>
        <p:spPr>
          <a:xfrm>
            <a:off x="311700" y="2682048"/>
            <a:ext cx="8520600" cy="1096800"/>
          </a:xfrm>
          <a:prstGeom prst="rect">
            <a:avLst/>
          </a:prstGeom>
          <a:solidFill>
            <a:srgbClr val="FFF2CC"/>
          </a:solidFill>
          <a:ln cap="flat" cmpd="sng" w="9525">
            <a:solidFill>
              <a:srgbClr val="F1C23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1"/>
                </a:solidFill>
              </a:rPr>
              <a:t>Problem 1. </a:t>
            </a:r>
            <a:r>
              <a:rPr lang="en">
                <a:solidFill>
                  <a:schemeClr val="dk1"/>
                </a:solidFill>
              </a:rPr>
              <a:t>Monotone Classification with Relative Precision Guarantees</a:t>
            </a:r>
            <a:endParaRPr>
              <a:solidFill>
                <a:schemeClr val="dk1"/>
              </a:solidFill>
            </a:endParaRPr>
          </a:p>
          <a:p>
            <a:pPr indent="0" lvl="0" marL="0" rtl="0" algn="l">
              <a:spcBef>
                <a:spcPts val="0"/>
              </a:spcBef>
              <a:spcAft>
                <a:spcPts val="1200"/>
              </a:spcAft>
              <a:buNone/>
            </a:pPr>
            <a:r>
              <a:rPr lang="en" sz="1500">
                <a:solidFill>
                  <a:schemeClr val="dk1"/>
                </a:solidFill>
              </a:rPr>
              <a:t>Given a real value ε ≥ 0, find a monotone classifier h ∈ H</a:t>
            </a:r>
            <a:r>
              <a:rPr baseline="-25000" lang="en" sz="1500">
                <a:solidFill>
                  <a:schemeClr val="dk1"/>
                </a:solidFill>
              </a:rPr>
              <a:t>mon</a:t>
            </a:r>
            <a:r>
              <a:rPr lang="en" sz="1500">
                <a:solidFill>
                  <a:schemeClr val="dk1"/>
                </a:solidFill>
              </a:rPr>
              <a:t> whose error on P is at most (1+ε)•k*, while minimizing the number of probes made by A.</a:t>
            </a:r>
            <a:endParaRPr sz="1500">
              <a:solidFill>
                <a:schemeClr val="dk1"/>
              </a:solidFill>
            </a:endParaRPr>
          </a:p>
        </p:txBody>
      </p:sp>
      <p:pic>
        <p:nvPicPr>
          <p:cNvPr id="184" name="Google Shape;184;p28" title="Screenshot 2026-04-10 at 00.08.22.png"/>
          <p:cNvPicPr preferRelativeResize="0"/>
          <p:nvPr/>
        </p:nvPicPr>
        <p:blipFill>
          <a:blip r:embed="rId3">
            <a:alphaModFix/>
          </a:blip>
          <a:stretch>
            <a:fillRect/>
          </a:stretch>
        </p:blipFill>
        <p:spPr>
          <a:xfrm>
            <a:off x="6127449" y="1229725"/>
            <a:ext cx="430451" cy="241175"/>
          </a:xfrm>
          <a:prstGeom prst="rect">
            <a:avLst/>
          </a:prstGeom>
          <a:noFill/>
          <a:ln>
            <a:noFill/>
          </a:ln>
        </p:spPr>
      </p:pic>
      <p:pic>
        <p:nvPicPr>
          <p:cNvPr id="185" name="Google Shape;185;p28" title="Screenshot 2026-04-10 at 00.08.22.png"/>
          <p:cNvPicPr preferRelativeResize="0"/>
          <p:nvPr/>
        </p:nvPicPr>
        <p:blipFill>
          <a:blip r:embed="rId3">
            <a:alphaModFix/>
          </a:blip>
          <a:stretch>
            <a:fillRect/>
          </a:stretch>
        </p:blipFill>
        <p:spPr>
          <a:xfrm>
            <a:off x="5441149" y="1588625"/>
            <a:ext cx="430451" cy="241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Analogy to the realizable case</a:t>
            </a:r>
            <a:endParaRPr/>
          </a:p>
        </p:txBody>
      </p:sp>
      <p:pic>
        <p:nvPicPr>
          <p:cNvPr id="191" name="Google Shape;191;p29" title="Screenshot 2026-04-10 at 15.00.45.png"/>
          <p:cNvPicPr preferRelativeResize="0"/>
          <p:nvPr/>
        </p:nvPicPr>
        <p:blipFill>
          <a:blip r:embed="rId3">
            <a:alphaModFix/>
          </a:blip>
          <a:stretch>
            <a:fillRect/>
          </a:stretch>
        </p:blipFill>
        <p:spPr>
          <a:xfrm>
            <a:off x="2790550" y="2204149"/>
            <a:ext cx="3562899" cy="2493625"/>
          </a:xfrm>
          <a:prstGeom prst="rect">
            <a:avLst/>
          </a:prstGeom>
          <a:noFill/>
          <a:ln>
            <a:noFill/>
          </a:ln>
        </p:spPr>
      </p:pic>
      <p:sp>
        <p:nvSpPr>
          <p:cNvPr id="192" name="Google Shape;192;p29"/>
          <p:cNvSpPr txBox="1"/>
          <p:nvPr>
            <p:ph idx="1" type="body"/>
          </p:nvPr>
        </p:nvSpPr>
        <p:spPr>
          <a:xfrm>
            <a:off x="311700" y="1035704"/>
            <a:ext cx="8520600" cy="9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Recall from SC2300</a:t>
            </a:r>
            <a:r>
              <a:rPr lang="en" sz="1500">
                <a:solidFill>
                  <a:schemeClr val="dk1"/>
                </a:solidFill>
              </a:rPr>
              <a:t> on Linear Classification: </a:t>
            </a:r>
            <a:endParaRPr sz="1500">
              <a:solidFill>
                <a:schemeClr val="dk1"/>
              </a:solidFill>
            </a:endParaRPr>
          </a:p>
          <a:p>
            <a:pPr indent="0" lvl="0" marL="0" rtl="0" algn="l">
              <a:spcBef>
                <a:spcPts val="0"/>
              </a:spcBef>
              <a:spcAft>
                <a:spcPts val="0"/>
              </a:spcAft>
              <a:buNone/>
            </a:pPr>
            <a:r>
              <a:rPr lang="en" sz="1500">
                <a:solidFill>
                  <a:schemeClr val="dk1"/>
                </a:solidFill>
              </a:rPr>
              <a:t>The realizable case is when the </a:t>
            </a:r>
            <a:r>
              <a:rPr lang="en" sz="1500">
                <a:solidFill>
                  <a:schemeClr val="dk1"/>
                </a:solidFill>
              </a:rPr>
              <a:t>training dataset S</a:t>
            </a:r>
            <a:r>
              <a:rPr baseline="-25000" lang="en" sz="1500">
                <a:solidFill>
                  <a:schemeClr val="dk1"/>
                </a:solidFill>
              </a:rPr>
              <a:t>n</a:t>
            </a:r>
            <a:r>
              <a:rPr lang="en" sz="1500">
                <a:solidFill>
                  <a:schemeClr val="dk1"/>
                </a:solidFill>
              </a:rPr>
              <a:t> = {(x</a:t>
            </a:r>
            <a:r>
              <a:rPr baseline="30000" lang="en" sz="1500">
                <a:solidFill>
                  <a:schemeClr val="dk1"/>
                </a:solidFill>
              </a:rPr>
              <a:t>(t)</a:t>
            </a:r>
            <a:r>
              <a:rPr lang="en" sz="1500">
                <a:solidFill>
                  <a:schemeClr val="dk1"/>
                </a:solidFill>
              </a:rPr>
              <a:t>, y</a:t>
            </a:r>
            <a:r>
              <a:rPr baseline="30000" lang="en" sz="1500">
                <a:solidFill>
                  <a:schemeClr val="dk1"/>
                </a:solidFill>
              </a:rPr>
              <a:t>(t)</a:t>
            </a:r>
            <a:r>
              <a:rPr lang="en" sz="1500">
                <a:solidFill>
                  <a:schemeClr val="dk1"/>
                </a:solidFill>
              </a:rPr>
              <a:t>), t =1,...,n} is linearly separable, the perceptron algorithm can find parameters θ and θ</a:t>
            </a:r>
            <a:r>
              <a:rPr baseline="-25000" lang="en" sz="1500">
                <a:solidFill>
                  <a:schemeClr val="dk1"/>
                </a:solidFill>
              </a:rPr>
              <a:t>0</a:t>
            </a:r>
            <a:r>
              <a:rPr lang="en" sz="1500">
                <a:solidFill>
                  <a:schemeClr val="dk1"/>
                </a:solidFill>
              </a:rPr>
              <a:t> to attain zero training error.</a:t>
            </a: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Analogy to the non-realizable case</a:t>
            </a:r>
            <a:endParaRPr/>
          </a:p>
        </p:txBody>
      </p:sp>
      <p:sp>
        <p:nvSpPr>
          <p:cNvPr id="198" name="Google Shape;198;p30"/>
          <p:cNvSpPr txBox="1"/>
          <p:nvPr>
            <p:ph idx="1" type="body"/>
          </p:nvPr>
        </p:nvSpPr>
        <p:spPr>
          <a:xfrm>
            <a:off x="311700" y="1026457"/>
            <a:ext cx="8520600" cy="9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Recall from SC2300 on Hinge Loss:</a:t>
            </a:r>
            <a:endParaRPr sz="1500">
              <a:solidFill>
                <a:schemeClr val="dk1"/>
              </a:solidFill>
            </a:endParaRPr>
          </a:p>
          <a:p>
            <a:pPr indent="0" lvl="0" marL="0" rtl="0" algn="l">
              <a:spcBef>
                <a:spcPts val="0"/>
              </a:spcBef>
              <a:spcAft>
                <a:spcPts val="0"/>
              </a:spcAft>
              <a:buNone/>
            </a:pPr>
            <a:r>
              <a:rPr lang="en" sz="1500">
                <a:solidFill>
                  <a:schemeClr val="dk1"/>
                </a:solidFill>
              </a:rPr>
              <a:t>The non-realizable case is when our points aren’t linearly separable. So we employ hinge loss to tolerate a margin of error on misclassifications.</a:t>
            </a:r>
            <a:endParaRPr sz="1500">
              <a:solidFill>
                <a:schemeClr val="dk1"/>
              </a:solidFill>
            </a:endParaRPr>
          </a:p>
        </p:txBody>
      </p:sp>
      <p:pic>
        <p:nvPicPr>
          <p:cNvPr id="199" name="Google Shape;199;p30" title="Screenshot 2026-04-10 at 16.08.33.png"/>
          <p:cNvPicPr preferRelativeResize="0"/>
          <p:nvPr/>
        </p:nvPicPr>
        <p:blipFill>
          <a:blip r:embed="rId3">
            <a:alphaModFix/>
          </a:blip>
          <a:stretch>
            <a:fillRect/>
          </a:stretch>
        </p:blipFill>
        <p:spPr>
          <a:xfrm>
            <a:off x="827375" y="2069281"/>
            <a:ext cx="3693318" cy="2465301"/>
          </a:xfrm>
          <a:prstGeom prst="rect">
            <a:avLst/>
          </a:prstGeom>
          <a:noFill/>
          <a:ln>
            <a:noFill/>
          </a:ln>
        </p:spPr>
      </p:pic>
      <p:pic>
        <p:nvPicPr>
          <p:cNvPr id="200" name="Google Shape;200;p30" title="Screenshot 2026-04-10 at 16.22.47.png"/>
          <p:cNvPicPr preferRelativeResize="0"/>
          <p:nvPr/>
        </p:nvPicPr>
        <p:blipFill>
          <a:blip r:embed="rId4">
            <a:alphaModFix/>
          </a:blip>
          <a:stretch>
            <a:fillRect/>
          </a:stretch>
        </p:blipFill>
        <p:spPr>
          <a:xfrm>
            <a:off x="4869800" y="2867604"/>
            <a:ext cx="3115508" cy="572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Active Classification</a:t>
            </a:r>
            <a:endParaRPr/>
          </a:p>
        </p:txBody>
      </p:sp>
      <p:sp>
        <p:nvSpPr>
          <p:cNvPr id="206" name="Google Shape;206;p31"/>
          <p:cNvSpPr txBox="1"/>
          <p:nvPr>
            <p:ph idx="1" type="body"/>
          </p:nvPr>
        </p:nvSpPr>
        <p:spPr>
          <a:xfrm>
            <a:off x="311700" y="1050752"/>
            <a:ext cx="8520600" cy="12120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500">
                <a:solidFill>
                  <a:schemeClr val="dk1"/>
                </a:solidFill>
              </a:rPr>
              <a:t>A supervised machine learning approach to train a classification model on data where labels are </a:t>
            </a:r>
            <a:r>
              <a:rPr lang="en" sz="1500">
                <a:solidFill>
                  <a:schemeClr val="dk1"/>
                </a:solidFill>
              </a:rPr>
              <a:t>absent or</a:t>
            </a:r>
            <a:r>
              <a:rPr lang="en" sz="1500">
                <a:solidFill>
                  <a:schemeClr val="dk1"/>
                </a:solidFill>
              </a:rPr>
              <a:t> not easily obtainable. It employs an </a:t>
            </a:r>
            <a:r>
              <a:rPr lang="en" sz="1500">
                <a:solidFill>
                  <a:schemeClr val="dk1"/>
                </a:solidFill>
              </a:rPr>
              <a:t>algorithm to query specific points for a label from an oracle (human expert), enough to accurately classify subsequent unlabelled data. This reduces the cost in having to determine all labels needed upfront in passive classification.</a:t>
            </a:r>
            <a:endParaRPr sz="1500">
              <a:solidFill>
                <a:schemeClr val="dk1"/>
              </a:solidFill>
            </a:endParaRPr>
          </a:p>
        </p:txBody>
      </p:sp>
      <p:graphicFrame>
        <p:nvGraphicFramePr>
          <p:cNvPr id="207" name="Google Shape;207;p31"/>
          <p:cNvGraphicFramePr/>
          <p:nvPr/>
        </p:nvGraphicFramePr>
        <p:xfrm>
          <a:off x="952500" y="2571756"/>
          <a:ext cx="3000000" cy="3000000"/>
        </p:xfrm>
        <a:graphic>
          <a:graphicData uri="http://schemas.openxmlformats.org/drawingml/2006/table">
            <a:tbl>
              <a:tblPr>
                <a:noFill/>
                <a:tableStyleId>{C2A80A2D-5547-4B00-81EF-F7A111BEE14F}</a:tableStyleId>
              </a:tblPr>
              <a:tblGrid>
                <a:gridCol w="1284775"/>
                <a:gridCol w="2995600"/>
                <a:gridCol w="2958625"/>
              </a:tblGrid>
              <a:tr h="6515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Active Classification</a:t>
                      </a:r>
                      <a:endParaRPr/>
                    </a:p>
                  </a:txBody>
                  <a:tcPr marT="91425" marB="91425" marR="91425" marL="91425"/>
                </a:tc>
                <a:tc>
                  <a:txBody>
                    <a:bodyPr/>
                    <a:lstStyle/>
                    <a:p>
                      <a:pPr indent="0" lvl="0" marL="0" rtl="0" algn="ctr">
                        <a:spcBef>
                          <a:spcPts val="0"/>
                        </a:spcBef>
                        <a:spcAft>
                          <a:spcPts val="0"/>
                        </a:spcAft>
                        <a:buNone/>
                      </a:pPr>
                      <a:r>
                        <a:rPr lang="en"/>
                        <a:t>Passive Classification</a:t>
                      </a:r>
                      <a:endParaRPr/>
                    </a:p>
                  </a:txBody>
                  <a:tcPr marT="91425" marB="91425" marR="91425" marL="91425"/>
                </a:tc>
              </a:tr>
              <a:tr h="381000">
                <a:tc>
                  <a:txBody>
                    <a:bodyPr/>
                    <a:lstStyle/>
                    <a:p>
                      <a:pPr indent="0" lvl="0" marL="0" rtl="0" algn="ctr">
                        <a:spcBef>
                          <a:spcPts val="0"/>
                        </a:spcBef>
                        <a:spcAft>
                          <a:spcPts val="0"/>
                        </a:spcAft>
                        <a:buNone/>
                      </a:pPr>
                      <a:r>
                        <a:rPr lang="en"/>
                        <a:t>Labels</a:t>
                      </a:r>
                      <a:endParaRPr/>
                    </a:p>
                  </a:txBody>
                  <a:tcPr marT="91425" marB="91425" marR="91425" marL="91425"/>
                </a:tc>
                <a:tc>
                  <a:txBody>
                    <a:bodyPr/>
                    <a:lstStyle/>
                    <a:p>
                      <a:pPr indent="0" lvl="0" marL="0" rtl="0" algn="ctr">
                        <a:spcBef>
                          <a:spcPts val="0"/>
                        </a:spcBef>
                        <a:spcAft>
                          <a:spcPts val="0"/>
                        </a:spcAft>
                        <a:buNone/>
                      </a:pPr>
                      <a:r>
                        <a:rPr lang="en"/>
                        <a:t> H</a:t>
                      </a:r>
                      <a:r>
                        <a:rPr lang="en"/>
                        <a:t>idden. </a:t>
                      </a:r>
                      <a:r>
                        <a:rPr lang="en"/>
                        <a:t>Acquired</a:t>
                      </a:r>
                      <a:r>
                        <a:rPr lang="en"/>
                        <a:t> from probing</a:t>
                      </a:r>
                      <a:endParaRPr/>
                    </a:p>
                  </a:txBody>
                  <a:tcPr marT="91425" marB="91425" marR="91425" marL="91425"/>
                </a:tc>
                <a:tc>
                  <a:txBody>
                    <a:bodyPr/>
                    <a:lstStyle/>
                    <a:p>
                      <a:pPr indent="0" lvl="0" marL="0" rtl="0" algn="ctr">
                        <a:spcBef>
                          <a:spcPts val="0"/>
                        </a:spcBef>
                        <a:spcAft>
                          <a:spcPts val="0"/>
                        </a:spcAft>
                        <a:buNone/>
                      </a:pPr>
                      <a:r>
                        <a:rPr lang="en"/>
                        <a:t>All provided upfront</a:t>
                      </a:r>
                      <a:endParaRPr/>
                    </a:p>
                  </a:txBody>
                  <a:tcPr marT="91425" marB="91425" marR="91425" marL="91425"/>
                </a:tc>
              </a:tr>
              <a:tr h="381000">
                <a:tc>
                  <a:txBody>
                    <a:bodyPr/>
                    <a:lstStyle/>
                    <a:p>
                      <a:pPr indent="0" lvl="0" marL="0" rtl="0" algn="ctr">
                        <a:spcBef>
                          <a:spcPts val="0"/>
                        </a:spcBef>
                        <a:spcAft>
                          <a:spcPts val="0"/>
                        </a:spcAft>
                        <a:buNone/>
                      </a:pPr>
                      <a:r>
                        <a:rPr lang="en"/>
                        <a:t>Cost</a:t>
                      </a:r>
                      <a:endParaRPr/>
                    </a:p>
                  </a:txBody>
                  <a:tcPr marT="91425" marB="91425" marR="91425" marL="91425"/>
                </a:tc>
                <a:tc>
                  <a:txBody>
                    <a:bodyPr/>
                    <a:lstStyle/>
                    <a:p>
                      <a:pPr indent="0" lvl="0" marL="0" rtl="0" algn="ctr">
                        <a:spcBef>
                          <a:spcPts val="0"/>
                        </a:spcBef>
                        <a:spcAft>
                          <a:spcPts val="0"/>
                        </a:spcAft>
                        <a:buNone/>
                      </a:pPr>
                      <a:r>
                        <a:rPr lang="en"/>
                        <a:t>Number of probes</a:t>
                      </a:r>
                      <a:endParaRPr/>
                    </a:p>
                  </a:txBody>
                  <a:tcPr marT="91425" marB="91425" marR="91425" marL="91425"/>
                </a:tc>
                <a:tc>
                  <a:txBody>
                    <a:bodyPr/>
                    <a:lstStyle/>
                    <a:p>
                      <a:pPr indent="0" lvl="0" marL="0" rtl="0" algn="ctr">
                        <a:spcBef>
                          <a:spcPts val="0"/>
                        </a:spcBef>
                        <a:spcAft>
                          <a:spcPts val="0"/>
                        </a:spcAft>
                        <a:buNone/>
                      </a:pPr>
                      <a:r>
                        <a:rPr lang="en"/>
                        <a:t>Number of iterations</a:t>
                      </a:r>
                      <a:endParaRPr/>
                    </a:p>
                  </a:txBody>
                  <a:tcPr marT="91425" marB="91425" marR="91425" marL="91425"/>
                </a:tc>
              </a:tr>
              <a:tr h="381000">
                <a:tc>
                  <a:txBody>
                    <a:bodyPr/>
                    <a:lstStyle/>
                    <a:p>
                      <a:pPr indent="0" lvl="0" marL="0" rtl="0" algn="ctr">
                        <a:spcBef>
                          <a:spcPts val="0"/>
                        </a:spcBef>
                        <a:spcAft>
                          <a:spcPts val="0"/>
                        </a:spcAft>
                        <a:buNone/>
                      </a:pPr>
                      <a:r>
                        <a:rPr lang="en"/>
                        <a:t>Examples</a:t>
                      </a:r>
                      <a:endParaRPr/>
                    </a:p>
                  </a:txBody>
                  <a:tcPr marT="91425" marB="91425" marR="91425" marL="91425"/>
                </a:tc>
                <a:tc>
                  <a:txBody>
                    <a:bodyPr/>
                    <a:lstStyle/>
                    <a:p>
                      <a:pPr indent="0" lvl="0" marL="0" rtl="0" algn="ctr">
                        <a:spcBef>
                          <a:spcPts val="0"/>
                        </a:spcBef>
                        <a:spcAft>
                          <a:spcPts val="0"/>
                        </a:spcAft>
                        <a:buNone/>
                      </a:pPr>
                      <a:r>
                        <a:rPr lang="en"/>
                        <a:t>Monotone Classifiers (e.g. RPE)</a:t>
                      </a:r>
                      <a:endParaRPr/>
                    </a:p>
                  </a:txBody>
                  <a:tcPr marT="91425" marB="91425" marR="91425" marL="91425"/>
                </a:tc>
                <a:tc>
                  <a:txBody>
                    <a:bodyPr/>
                    <a:lstStyle/>
                    <a:p>
                      <a:pPr indent="0" lvl="0" marL="0" rtl="0" algn="ctr">
                        <a:spcBef>
                          <a:spcPts val="0"/>
                        </a:spcBef>
                        <a:spcAft>
                          <a:spcPts val="0"/>
                        </a:spcAft>
                        <a:buNone/>
                      </a:pPr>
                      <a:r>
                        <a:rPr lang="en"/>
                        <a:t>Perceptron</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idx="1" type="body"/>
          </p:nvPr>
        </p:nvSpPr>
        <p:spPr>
          <a:xfrm>
            <a:off x="311700" y="1152475"/>
            <a:ext cx="6244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In most Active Classification techniques, it requires knowing the Optimal Monotone Error - k* beforehand.</a:t>
            </a:r>
            <a:endParaRPr sz="1500">
              <a:solidFill>
                <a:schemeClr val="dk1"/>
              </a:solidFill>
            </a:endParaRPr>
          </a:p>
          <a:p>
            <a:pPr indent="0" lvl="0" marL="0" rtl="0" algn="l">
              <a:spcBef>
                <a:spcPts val="1200"/>
              </a:spcBef>
              <a:spcAft>
                <a:spcPts val="0"/>
              </a:spcAft>
              <a:buNone/>
            </a:pPr>
            <a:r>
              <a:rPr lang="en" sz="1500">
                <a:solidFill>
                  <a:schemeClr val="dk1"/>
                </a:solidFill>
              </a:rPr>
              <a:t>But to know k*, you need to know all labels in P. </a:t>
            </a:r>
            <a:endParaRPr sz="1500">
              <a:solidFill>
                <a:schemeClr val="dk1"/>
              </a:solidFill>
            </a:endParaRPr>
          </a:p>
          <a:p>
            <a:pPr indent="0" lvl="0" marL="0" rtl="0" algn="l">
              <a:spcBef>
                <a:spcPts val="1200"/>
              </a:spcBef>
              <a:spcAft>
                <a:spcPts val="0"/>
              </a:spcAft>
              <a:buNone/>
            </a:pPr>
            <a:r>
              <a:rPr lang="en" sz="1500">
                <a:solidFill>
                  <a:schemeClr val="dk1"/>
                </a:solidFill>
              </a:rPr>
              <a:t>To get all labels, you need to probe everything. Defeating the purpose.</a:t>
            </a:r>
            <a:endParaRPr sz="1500">
              <a:solidFill>
                <a:schemeClr val="dk1"/>
              </a:solidFill>
            </a:endParaRPr>
          </a:p>
          <a:p>
            <a:pPr indent="0" lvl="0" marL="0" rtl="0" algn="l">
              <a:spcBef>
                <a:spcPts val="1200"/>
              </a:spcBef>
              <a:spcAft>
                <a:spcPts val="0"/>
              </a:spcAft>
              <a:buNone/>
            </a:pPr>
            <a:r>
              <a:rPr lang="en" sz="1500">
                <a:solidFill>
                  <a:schemeClr val="dk1"/>
                </a:solidFill>
              </a:rPr>
              <a:t>In fact, finding an exact optimal classifier requires Ω(n) probes, which is expensive.</a:t>
            </a:r>
            <a:endParaRPr sz="1500">
              <a:solidFill>
                <a:schemeClr val="dk1"/>
              </a:solidFill>
            </a:endParaRPr>
          </a:p>
          <a:p>
            <a:pPr indent="0" lvl="0" marL="0" rtl="0" algn="l">
              <a:spcBef>
                <a:spcPts val="1200"/>
              </a:spcBef>
              <a:spcAft>
                <a:spcPts val="1200"/>
              </a:spcAft>
              <a:buNone/>
            </a:pPr>
            <a:r>
              <a:rPr lang="en" sz="1500">
                <a:solidFill>
                  <a:schemeClr val="dk1"/>
                </a:solidFill>
              </a:rPr>
              <a:t>We will discuss two algorithms: </a:t>
            </a:r>
            <a:r>
              <a:rPr b="1" lang="en" sz="1500">
                <a:solidFill>
                  <a:schemeClr val="dk1"/>
                </a:solidFill>
              </a:rPr>
              <a:t>Random Probes with Elimination</a:t>
            </a:r>
            <a:r>
              <a:rPr lang="en" sz="1500">
                <a:solidFill>
                  <a:schemeClr val="dk1"/>
                </a:solidFill>
              </a:rPr>
              <a:t> </a:t>
            </a:r>
            <a:r>
              <a:rPr b="1" lang="en" sz="1500">
                <a:solidFill>
                  <a:schemeClr val="dk1"/>
                </a:solidFill>
              </a:rPr>
              <a:t>(RPE)</a:t>
            </a:r>
            <a:r>
              <a:rPr lang="en" sz="1500">
                <a:solidFill>
                  <a:schemeClr val="dk1"/>
                </a:solidFill>
              </a:rPr>
              <a:t> and </a:t>
            </a:r>
            <a:r>
              <a:rPr b="1" lang="en" sz="1500">
                <a:solidFill>
                  <a:schemeClr val="dk1"/>
                </a:solidFill>
              </a:rPr>
              <a:t>Relative Comparison Coresets</a:t>
            </a:r>
            <a:r>
              <a:rPr lang="en" sz="1500">
                <a:solidFill>
                  <a:schemeClr val="dk1"/>
                </a:solidFill>
              </a:rPr>
              <a:t> which instead aims to find a </a:t>
            </a:r>
            <a:r>
              <a:rPr b="1" lang="en" sz="1500">
                <a:solidFill>
                  <a:schemeClr val="dk1"/>
                </a:solidFill>
              </a:rPr>
              <a:t>near-optimal </a:t>
            </a:r>
            <a:r>
              <a:rPr lang="en" sz="1500">
                <a:solidFill>
                  <a:schemeClr val="dk1"/>
                </a:solidFill>
              </a:rPr>
              <a:t>classifier with fewer probes without knowing k*.</a:t>
            </a:r>
            <a:endParaRPr sz="1500">
              <a:solidFill>
                <a:schemeClr val="dk1"/>
              </a:solidFill>
            </a:endParaRPr>
          </a:p>
        </p:txBody>
      </p:sp>
      <p:sp>
        <p:nvSpPr>
          <p:cNvPr id="213" name="Google Shape;21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 with k*</a:t>
            </a:r>
            <a:endParaRPr/>
          </a:p>
        </p:txBody>
      </p:sp>
      <p:pic>
        <p:nvPicPr>
          <p:cNvPr id="214" name="Google Shape;214;p32"/>
          <p:cNvPicPr preferRelativeResize="0"/>
          <p:nvPr/>
        </p:nvPicPr>
        <p:blipFill>
          <a:blip r:embed="rId3">
            <a:alphaModFix/>
          </a:blip>
          <a:stretch>
            <a:fillRect/>
          </a:stretch>
        </p:blipFill>
        <p:spPr>
          <a:xfrm>
            <a:off x="6718150" y="1615687"/>
            <a:ext cx="2114149" cy="1912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RPE Speaker Notes</a:t>
            </a:r>
            <a:endParaRPr/>
          </a:p>
        </p:txBody>
      </p:sp>
      <p:sp>
        <p:nvSpPr>
          <p:cNvPr id="220" name="Google Shape;22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ignore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ctrTitle"/>
          </p:nvPr>
        </p:nvSpPr>
        <p:spPr>
          <a:xfrm>
            <a:off x="311708" y="511538"/>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500"/>
              <a:t>Random Probes with Elimination</a:t>
            </a:r>
            <a:endParaRPr sz="4500"/>
          </a:p>
        </p:txBody>
      </p:sp>
      <p:sp>
        <p:nvSpPr>
          <p:cNvPr id="226" name="Google Shape;226;p34"/>
          <p:cNvSpPr txBox="1"/>
          <p:nvPr>
            <p:ph idx="1" type="subTitle"/>
          </p:nvPr>
        </p:nvSpPr>
        <p:spPr>
          <a:xfrm>
            <a:off x="311700" y="2564138"/>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sz="2000"/>
              <a:t>A simple algorithm for monotone classification</a:t>
            </a:r>
            <a:endParaRPr i="1" sz="2000"/>
          </a:p>
        </p:txBody>
      </p:sp>
      <p:pic>
        <p:nvPicPr>
          <p:cNvPr id="227" name="Google Shape;227;p34"/>
          <p:cNvPicPr preferRelativeResize="0"/>
          <p:nvPr/>
        </p:nvPicPr>
        <p:blipFill rotWithShape="1">
          <a:blip r:embed="rId3">
            <a:alphaModFix/>
          </a:blip>
          <a:srcRect b="0" l="0" r="19504" t="0"/>
          <a:stretch/>
        </p:blipFill>
        <p:spPr>
          <a:xfrm>
            <a:off x="3581752" y="3247538"/>
            <a:ext cx="1980500" cy="1384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311700" y="445025"/>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Idea: </a:t>
            </a:r>
            <a:r>
              <a:rPr i="1" lang="en" sz="1700">
                <a:solidFill>
                  <a:schemeClr val="dk2"/>
                </a:solidFill>
              </a:rPr>
              <a:t>suppose we’re </a:t>
            </a:r>
            <a:r>
              <a:rPr i="1" lang="en" sz="1700">
                <a:solidFill>
                  <a:schemeClr val="dk2"/>
                </a:solidFill>
              </a:rPr>
              <a:t>given a set of points P</a:t>
            </a:r>
            <a:endParaRPr i="1" sz="1700">
              <a:solidFill>
                <a:schemeClr val="dk2"/>
              </a:solidFill>
            </a:endParaRPr>
          </a:p>
        </p:txBody>
      </p:sp>
      <p:sp>
        <p:nvSpPr>
          <p:cNvPr id="233" name="Google Shape;233;p35"/>
          <p:cNvSpPr/>
          <p:nvPr/>
        </p:nvSpPr>
        <p:spPr>
          <a:xfrm>
            <a:off x="311700" y="1312263"/>
            <a:ext cx="2639700" cy="852000"/>
          </a:xfrm>
          <a:prstGeom prst="roundRect">
            <a:avLst>
              <a:gd fmla="val 11504" name="adj"/>
            </a:avLst>
          </a:prstGeom>
          <a:solidFill>
            <a:srgbClr val="9FC5E8"/>
          </a:solidFill>
          <a:ln cap="flat" cmpd="sng" w="8525">
            <a:solidFill>
              <a:srgbClr val="3D85C6"/>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073763"/>
                </a:solidFill>
              </a:rPr>
              <a:t>Probe</a:t>
            </a:r>
            <a:endParaRPr sz="2000">
              <a:solidFill>
                <a:srgbClr val="073763"/>
              </a:solidFill>
            </a:endParaRPr>
          </a:p>
        </p:txBody>
      </p:sp>
      <p:sp>
        <p:nvSpPr>
          <p:cNvPr id="234" name="Google Shape;234;p35"/>
          <p:cNvSpPr txBox="1"/>
          <p:nvPr>
            <p:ph type="title"/>
          </p:nvPr>
        </p:nvSpPr>
        <p:spPr>
          <a:xfrm>
            <a:off x="311700" y="2464613"/>
            <a:ext cx="2639700" cy="122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1700"/>
              <a:t>Pick a random unlabelled point z from P.</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Query the oracle for label(z).</a:t>
            </a:r>
            <a:endParaRPr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311700" y="445025"/>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Idea: </a:t>
            </a:r>
            <a:r>
              <a:rPr i="1" lang="en" sz="1700">
                <a:solidFill>
                  <a:schemeClr val="dk2"/>
                </a:solidFill>
              </a:rPr>
              <a:t>suppose we’re given a set of points P</a:t>
            </a:r>
            <a:endParaRPr i="1" sz="1700">
              <a:solidFill>
                <a:schemeClr val="dk2"/>
              </a:solidFill>
            </a:endParaRPr>
          </a:p>
        </p:txBody>
      </p:sp>
      <p:sp>
        <p:nvSpPr>
          <p:cNvPr id="240" name="Google Shape;240;p36"/>
          <p:cNvSpPr/>
          <p:nvPr/>
        </p:nvSpPr>
        <p:spPr>
          <a:xfrm>
            <a:off x="311700" y="1312263"/>
            <a:ext cx="2639700" cy="852000"/>
          </a:xfrm>
          <a:prstGeom prst="roundRect">
            <a:avLst>
              <a:gd fmla="val 11504" name="adj"/>
            </a:avLst>
          </a:prstGeom>
          <a:solidFill>
            <a:srgbClr val="9FC5E8"/>
          </a:solidFill>
          <a:ln cap="flat" cmpd="sng" w="8525">
            <a:solidFill>
              <a:srgbClr val="3D85C6"/>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073763"/>
                </a:solidFill>
              </a:rPr>
              <a:t>Probe</a:t>
            </a:r>
            <a:endParaRPr sz="2000">
              <a:solidFill>
                <a:srgbClr val="073763"/>
              </a:solidFill>
            </a:endParaRPr>
          </a:p>
        </p:txBody>
      </p:sp>
      <p:sp>
        <p:nvSpPr>
          <p:cNvPr id="241" name="Google Shape;241;p36"/>
          <p:cNvSpPr/>
          <p:nvPr/>
        </p:nvSpPr>
        <p:spPr>
          <a:xfrm>
            <a:off x="3082831" y="1312263"/>
            <a:ext cx="2639700" cy="852000"/>
          </a:xfrm>
          <a:prstGeom prst="roundRect">
            <a:avLst>
              <a:gd fmla="val 11504" name="adj"/>
            </a:avLst>
          </a:prstGeom>
          <a:solidFill>
            <a:srgbClr val="EA9999"/>
          </a:solidFill>
          <a:ln cap="flat" cmpd="sng" w="8525">
            <a:solidFill>
              <a:srgbClr val="CC0000"/>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660000"/>
                </a:solidFill>
              </a:rPr>
              <a:t>Eliminate</a:t>
            </a:r>
            <a:endParaRPr sz="2000">
              <a:solidFill>
                <a:srgbClr val="660000"/>
              </a:solidFill>
            </a:endParaRPr>
          </a:p>
        </p:txBody>
      </p:sp>
      <p:sp>
        <p:nvSpPr>
          <p:cNvPr id="242" name="Google Shape;242;p36"/>
          <p:cNvSpPr txBox="1"/>
          <p:nvPr>
            <p:ph type="title"/>
          </p:nvPr>
        </p:nvSpPr>
        <p:spPr>
          <a:xfrm>
            <a:off x="311700" y="2464613"/>
            <a:ext cx="2639700" cy="122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1700"/>
              <a:t>Pick a random unlabelled point z from P.</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Query the oracle for label(z).</a:t>
            </a:r>
            <a:endParaRPr sz="1700"/>
          </a:p>
        </p:txBody>
      </p:sp>
      <p:sp>
        <p:nvSpPr>
          <p:cNvPr id="243" name="Google Shape;243;p36"/>
          <p:cNvSpPr txBox="1"/>
          <p:nvPr>
            <p:ph type="title"/>
          </p:nvPr>
        </p:nvSpPr>
        <p:spPr>
          <a:xfrm>
            <a:off x="3082825" y="2164275"/>
            <a:ext cx="2639700" cy="16344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1500"/>
              <a:t>Use monotonicity to instantly determine the labels of  many points around z.</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Remove them from P.</a:t>
            </a:r>
            <a:endParaRPr sz="1500"/>
          </a:p>
        </p:txBody>
      </p:sp>
      <p:cxnSp>
        <p:nvCxnSpPr>
          <p:cNvPr id="244" name="Google Shape;244;p36"/>
          <p:cNvCxnSpPr/>
          <p:nvPr/>
        </p:nvCxnSpPr>
        <p:spPr>
          <a:xfrm>
            <a:off x="2493400" y="1749188"/>
            <a:ext cx="941100" cy="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311700" y="445025"/>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Key Idea: </a:t>
            </a:r>
            <a:r>
              <a:rPr i="1" lang="en" sz="1700">
                <a:solidFill>
                  <a:schemeClr val="dk2"/>
                </a:solidFill>
              </a:rPr>
              <a:t>suppose we’re given a set of points P</a:t>
            </a:r>
            <a:endParaRPr i="1" sz="1700">
              <a:solidFill>
                <a:schemeClr val="dk2"/>
              </a:solidFill>
            </a:endParaRPr>
          </a:p>
        </p:txBody>
      </p:sp>
      <p:sp>
        <p:nvSpPr>
          <p:cNvPr id="250" name="Google Shape;250;p37"/>
          <p:cNvSpPr/>
          <p:nvPr/>
        </p:nvSpPr>
        <p:spPr>
          <a:xfrm>
            <a:off x="311700" y="1312263"/>
            <a:ext cx="2639700" cy="852000"/>
          </a:xfrm>
          <a:prstGeom prst="roundRect">
            <a:avLst>
              <a:gd fmla="val 11504" name="adj"/>
            </a:avLst>
          </a:prstGeom>
          <a:solidFill>
            <a:srgbClr val="9FC5E8"/>
          </a:solidFill>
          <a:ln cap="flat" cmpd="sng" w="8525">
            <a:solidFill>
              <a:srgbClr val="3D85C6"/>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073763"/>
                </a:solidFill>
              </a:rPr>
              <a:t>Probe</a:t>
            </a:r>
            <a:endParaRPr sz="2000">
              <a:solidFill>
                <a:srgbClr val="073763"/>
              </a:solidFill>
            </a:endParaRPr>
          </a:p>
        </p:txBody>
      </p:sp>
      <p:sp>
        <p:nvSpPr>
          <p:cNvPr id="251" name="Google Shape;251;p37"/>
          <p:cNvSpPr/>
          <p:nvPr/>
        </p:nvSpPr>
        <p:spPr>
          <a:xfrm>
            <a:off x="3082831" y="1312263"/>
            <a:ext cx="2639700" cy="852000"/>
          </a:xfrm>
          <a:prstGeom prst="roundRect">
            <a:avLst>
              <a:gd fmla="val 11504" name="adj"/>
            </a:avLst>
          </a:prstGeom>
          <a:solidFill>
            <a:srgbClr val="EA9999"/>
          </a:solidFill>
          <a:ln cap="flat" cmpd="sng" w="8525">
            <a:solidFill>
              <a:srgbClr val="CC0000"/>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660000"/>
                </a:solidFill>
              </a:rPr>
              <a:t>Eliminate</a:t>
            </a:r>
            <a:endParaRPr sz="2000">
              <a:solidFill>
                <a:srgbClr val="660000"/>
              </a:solidFill>
            </a:endParaRPr>
          </a:p>
        </p:txBody>
      </p:sp>
      <p:sp>
        <p:nvSpPr>
          <p:cNvPr id="252" name="Google Shape;252;p37"/>
          <p:cNvSpPr txBox="1"/>
          <p:nvPr>
            <p:ph type="title"/>
          </p:nvPr>
        </p:nvSpPr>
        <p:spPr>
          <a:xfrm>
            <a:off x="311700" y="2464613"/>
            <a:ext cx="2639700" cy="122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1700"/>
              <a:t>Pick a random unlabelled point z from P.</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Query the oracle for label(z).</a:t>
            </a:r>
            <a:endParaRPr sz="1700"/>
          </a:p>
        </p:txBody>
      </p:sp>
      <p:sp>
        <p:nvSpPr>
          <p:cNvPr id="253" name="Google Shape;253;p37"/>
          <p:cNvSpPr txBox="1"/>
          <p:nvPr>
            <p:ph type="title"/>
          </p:nvPr>
        </p:nvSpPr>
        <p:spPr>
          <a:xfrm>
            <a:off x="3082825" y="2164275"/>
            <a:ext cx="2639700" cy="16344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1500"/>
              <a:t>Use monotonicity to instantly determine the labels of  many points around z.</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Remove them from P.</a:t>
            </a:r>
            <a:endParaRPr sz="1500"/>
          </a:p>
        </p:txBody>
      </p:sp>
      <p:cxnSp>
        <p:nvCxnSpPr>
          <p:cNvPr id="254" name="Google Shape;254;p37"/>
          <p:cNvCxnSpPr/>
          <p:nvPr/>
        </p:nvCxnSpPr>
        <p:spPr>
          <a:xfrm>
            <a:off x="2493400" y="1749188"/>
            <a:ext cx="941100" cy="0"/>
          </a:xfrm>
          <a:prstGeom prst="straightConnector1">
            <a:avLst/>
          </a:prstGeom>
          <a:noFill/>
          <a:ln cap="flat" cmpd="sng" w="28575">
            <a:solidFill>
              <a:schemeClr val="dk1"/>
            </a:solidFill>
            <a:prstDash val="solid"/>
            <a:round/>
            <a:headEnd len="med" w="med" type="none"/>
            <a:tailEnd len="med" w="med" type="triangle"/>
          </a:ln>
        </p:spPr>
      </p:cxnSp>
      <p:sp>
        <p:nvSpPr>
          <p:cNvPr id="255" name="Google Shape;255;p37"/>
          <p:cNvSpPr/>
          <p:nvPr/>
        </p:nvSpPr>
        <p:spPr>
          <a:xfrm>
            <a:off x="5853962" y="1312263"/>
            <a:ext cx="2639700" cy="852000"/>
          </a:xfrm>
          <a:prstGeom prst="roundRect">
            <a:avLst>
              <a:gd fmla="val 11504" name="adj"/>
            </a:avLst>
          </a:prstGeom>
          <a:solidFill>
            <a:srgbClr val="B6D7A8"/>
          </a:solidFill>
          <a:ln cap="flat" cmpd="sng" w="8525">
            <a:solidFill>
              <a:srgbClr val="6AA84F"/>
            </a:solidFill>
            <a:prstDash val="solid"/>
            <a:round/>
            <a:headEnd len="sm" w="sm" type="none"/>
            <a:tailEnd len="sm" w="sm" type="none"/>
          </a:ln>
        </p:spPr>
        <p:txBody>
          <a:bodyPr anchorCtr="0" anchor="ctr" bIns="81800" lIns="81800" spcFirstLastPara="1" rIns="81800" wrap="square" tIns="81800">
            <a:noAutofit/>
          </a:bodyPr>
          <a:lstStyle/>
          <a:p>
            <a:pPr indent="0" lvl="0" marL="0" rtl="0" algn="ctr">
              <a:spcBef>
                <a:spcPts val="0"/>
              </a:spcBef>
              <a:spcAft>
                <a:spcPts val="0"/>
              </a:spcAft>
              <a:buNone/>
            </a:pPr>
            <a:r>
              <a:rPr lang="en" sz="2000">
                <a:solidFill>
                  <a:srgbClr val="274E13"/>
                </a:solidFill>
              </a:rPr>
              <a:t>Repeat</a:t>
            </a:r>
            <a:endParaRPr sz="2000">
              <a:solidFill>
                <a:srgbClr val="274E13"/>
              </a:solidFill>
            </a:endParaRPr>
          </a:p>
        </p:txBody>
      </p:sp>
      <p:sp>
        <p:nvSpPr>
          <p:cNvPr id="256" name="Google Shape;256;p37"/>
          <p:cNvSpPr txBox="1"/>
          <p:nvPr>
            <p:ph type="title"/>
          </p:nvPr>
        </p:nvSpPr>
        <p:spPr>
          <a:xfrm>
            <a:off x="5853950" y="2378563"/>
            <a:ext cx="2639700" cy="14121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None/>
            </a:pPr>
            <a:r>
              <a:rPr lang="en" sz="1700"/>
              <a:t>Continue on the remaining points whose labels are still unknown. </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rPr lang="en" sz="1700"/>
              <a:t>Stop when P is empty.</a:t>
            </a:r>
            <a:endParaRPr sz="1700"/>
          </a:p>
        </p:txBody>
      </p:sp>
      <p:cxnSp>
        <p:nvCxnSpPr>
          <p:cNvPr id="257" name="Google Shape;257;p37"/>
          <p:cNvCxnSpPr/>
          <p:nvPr/>
        </p:nvCxnSpPr>
        <p:spPr>
          <a:xfrm>
            <a:off x="5283850" y="1746288"/>
            <a:ext cx="941100" cy="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1111"/>
              <a:buFont typeface="Arial"/>
              <a:buNone/>
            </a:pPr>
            <a:r>
              <a:rPr lang="en"/>
              <a:t>How One Probe Determines Many Labels:</a:t>
            </a:r>
            <a:endParaRPr i="1" sz="1800">
              <a:solidFill>
                <a:schemeClr val="dk2"/>
              </a:solidFill>
            </a:endParaRPr>
          </a:p>
          <a:p>
            <a:pPr indent="0" lvl="0" marL="0" rtl="0" algn="l">
              <a:spcBef>
                <a:spcPts val="0"/>
              </a:spcBef>
              <a:spcAft>
                <a:spcPts val="0"/>
              </a:spcAft>
              <a:buNone/>
            </a:pPr>
            <a:r>
              <a:t/>
            </a:r>
            <a:endParaRPr/>
          </a:p>
        </p:txBody>
      </p:sp>
      <p:sp>
        <p:nvSpPr>
          <p:cNvPr id="263" name="Google Shape;263;p38"/>
          <p:cNvSpPr/>
          <p:nvPr/>
        </p:nvSpPr>
        <p:spPr>
          <a:xfrm>
            <a:off x="315750" y="1153450"/>
            <a:ext cx="3999900" cy="5727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1: label(z) = +1</a:t>
            </a:r>
            <a:endParaRPr sz="2000">
              <a:solidFill>
                <a:schemeClr val="lt1"/>
              </a:solidFill>
            </a:endParaRPr>
          </a:p>
        </p:txBody>
      </p:sp>
      <p:cxnSp>
        <p:nvCxnSpPr>
          <p:cNvPr id="264" name="Google Shape;264;p38"/>
          <p:cNvCxnSpPr/>
          <p:nvPr/>
        </p:nvCxnSpPr>
        <p:spPr>
          <a:xfrm flipH="1">
            <a:off x="74459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265" name="Google Shape;265;p38"/>
          <p:cNvCxnSpPr/>
          <p:nvPr/>
        </p:nvCxnSpPr>
        <p:spPr>
          <a:xfrm flipH="1">
            <a:off x="734950" y="4024800"/>
            <a:ext cx="2950500" cy="900"/>
          </a:xfrm>
          <a:prstGeom prst="straightConnector1">
            <a:avLst/>
          </a:prstGeom>
          <a:noFill/>
          <a:ln cap="flat" cmpd="sng" w="23750">
            <a:solidFill>
              <a:schemeClr val="dk2"/>
            </a:solidFill>
            <a:prstDash val="solid"/>
            <a:round/>
            <a:headEnd len="med" w="med" type="none"/>
            <a:tailEnd len="med" w="med" type="none"/>
          </a:ln>
        </p:spPr>
      </p:cxnSp>
      <p:sp>
        <p:nvSpPr>
          <p:cNvPr id="266" name="Google Shape;266;p38"/>
          <p:cNvSpPr/>
          <p:nvPr/>
        </p:nvSpPr>
        <p:spPr>
          <a:xfrm>
            <a:off x="1111877" y="35897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67" name="Google Shape;267;p38"/>
          <p:cNvSpPr txBox="1"/>
          <p:nvPr>
            <p:ph idx="1" type="body"/>
          </p:nvPr>
        </p:nvSpPr>
        <p:spPr>
          <a:xfrm>
            <a:off x="1111877" y="325920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38761D"/>
                </a:solidFill>
              </a:rPr>
              <a:t>z</a:t>
            </a:r>
            <a:endParaRPr b="1" sz="1413">
              <a:solidFill>
                <a:srgbClr val="38761D"/>
              </a:solidFill>
            </a:endParaRPr>
          </a:p>
        </p:txBody>
      </p:sp>
      <p:sp>
        <p:nvSpPr>
          <p:cNvPr id="268" name="Google Shape;268;p38"/>
          <p:cNvSpPr/>
          <p:nvPr/>
        </p:nvSpPr>
        <p:spPr>
          <a:xfrm>
            <a:off x="1868302" y="26988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69" name="Google Shape;269;p38"/>
          <p:cNvSpPr/>
          <p:nvPr/>
        </p:nvSpPr>
        <p:spPr>
          <a:xfrm>
            <a:off x="2287852" y="221251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70" name="Google Shape;270;p38"/>
          <p:cNvSpPr/>
          <p:nvPr/>
        </p:nvSpPr>
        <p:spPr>
          <a:xfrm>
            <a:off x="2649352" y="297696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p:nvPr/>
        </p:nvSpPr>
        <p:spPr>
          <a:xfrm>
            <a:off x="1225600" y="1947951"/>
            <a:ext cx="2460000" cy="1750500"/>
          </a:xfrm>
          <a:prstGeom prst="rect">
            <a:avLst/>
          </a:prstGeom>
          <a:solidFill>
            <a:srgbClr val="B6D7A8">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sp>
        <p:nvSpPr>
          <p:cNvPr id="276" name="Google Shape;27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How One Probe Determines Many Labels:</a:t>
            </a:r>
            <a:endParaRPr/>
          </a:p>
        </p:txBody>
      </p:sp>
      <p:sp>
        <p:nvSpPr>
          <p:cNvPr id="277" name="Google Shape;277;p39"/>
          <p:cNvSpPr/>
          <p:nvPr/>
        </p:nvSpPr>
        <p:spPr>
          <a:xfrm>
            <a:off x="315750" y="1153450"/>
            <a:ext cx="3999900" cy="5727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1: label(z) = +1</a:t>
            </a:r>
            <a:endParaRPr sz="2000">
              <a:solidFill>
                <a:schemeClr val="lt1"/>
              </a:solidFill>
            </a:endParaRPr>
          </a:p>
        </p:txBody>
      </p:sp>
      <p:cxnSp>
        <p:nvCxnSpPr>
          <p:cNvPr id="278" name="Google Shape;278;p39"/>
          <p:cNvCxnSpPr/>
          <p:nvPr/>
        </p:nvCxnSpPr>
        <p:spPr>
          <a:xfrm flipH="1">
            <a:off x="74459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279" name="Google Shape;279;p39"/>
          <p:cNvCxnSpPr/>
          <p:nvPr/>
        </p:nvCxnSpPr>
        <p:spPr>
          <a:xfrm flipH="1">
            <a:off x="734950" y="4024800"/>
            <a:ext cx="2950500" cy="900"/>
          </a:xfrm>
          <a:prstGeom prst="straightConnector1">
            <a:avLst/>
          </a:prstGeom>
          <a:noFill/>
          <a:ln cap="flat" cmpd="sng" w="23750">
            <a:solidFill>
              <a:schemeClr val="dk2"/>
            </a:solidFill>
            <a:prstDash val="solid"/>
            <a:round/>
            <a:headEnd len="med" w="med" type="none"/>
            <a:tailEnd len="med" w="med" type="none"/>
          </a:ln>
        </p:spPr>
      </p:cxnSp>
      <p:sp>
        <p:nvSpPr>
          <p:cNvPr id="280" name="Google Shape;280;p39"/>
          <p:cNvSpPr/>
          <p:nvPr/>
        </p:nvSpPr>
        <p:spPr>
          <a:xfrm>
            <a:off x="1111877" y="35897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81" name="Google Shape;281;p39"/>
          <p:cNvSpPr txBox="1"/>
          <p:nvPr>
            <p:ph idx="1" type="body"/>
          </p:nvPr>
        </p:nvSpPr>
        <p:spPr>
          <a:xfrm>
            <a:off x="1111877" y="325920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38761D"/>
                </a:solidFill>
              </a:rPr>
              <a:t>z</a:t>
            </a:r>
            <a:endParaRPr b="1" sz="1413">
              <a:solidFill>
                <a:srgbClr val="38761D"/>
              </a:solidFill>
            </a:endParaRPr>
          </a:p>
        </p:txBody>
      </p:sp>
      <p:sp>
        <p:nvSpPr>
          <p:cNvPr id="282" name="Google Shape;282;p39"/>
          <p:cNvSpPr txBox="1"/>
          <p:nvPr>
            <p:ph idx="4294967295" type="subTitle"/>
          </p:nvPr>
        </p:nvSpPr>
        <p:spPr>
          <a:xfrm>
            <a:off x="315750" y="4244250"/>
            <a:ext cx="399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Monotonicity: h(p) </a:t>
            </a:r>
            <a:r>
              <a:rPr lang="en" sz="1500">
                <a:solidFill>
                  <a:schemeClr val="dk1"/>
                </a:solidFill>
              </a:rPr>
              <a:t>≥</a:t>
            </a:r>
            <a:r>
              <a:rPr lang="en" sz="1500">
                <a:solidFill>
                  <a:schemeClr val="dk1"/>
                </a:solidFill>
              </a:rPr>
              <a:t> h(z) = 1</a:t>
            </a:r>
            <a:endParaRPr sz="1500">
              <a:solidFill>
                <a:schemeClr val="dk1"/>
              </a:solidFill>
            </a:endParaRPr>
          </a:p>
          <a:p>
            <a:pPr indent="0" lvl="0" marL="0" rtl="0" algn="l">
              <a:spcBef>
                <a:spcPts val="0"/>
              </a:spcBef>
              <a:spcAft>
                <a:spcPts val="0"/>
              </a:spcAft>
              <a:buNone/>
            </a:pPr>
            <a:r>
              <a:rPr lang="en" sz="1500">
                <a:solidFill>
                  <a:schemeClr val="dk1"/>
                </a:solidFill>
              </a:rPr>
              <a:t>∴ label all these p as +1, remove from P</a:t>
            </a:r>
            <a:endParaRPr sz="1500">
              <a:solidFill>
                <a:schemeClr val="dk1"/>
              </a:solidFill>
            </a:endParaRPr>
          </a:p>
        </p:txBody>
      </p:sp>
      <p:sp>
        <p:nvSpPr>
          <p:cNvPr id="283" name="Google Shape;283;p39"/>
          <p:cNvSpPr/>
          <p:nvPr/>
        </p:nvSpPr>
        <p:spPr>
          <a:xfrm>
            <a:off x="1868302" y="26988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84" name="Google Shape;284;p39"/>
          <p:cNvSpPr/>
          <p:nvPr/>
        </p:nvSpPr>
        <p:spPr>
          <a:xfrm>
            <a:off x="2287852" y="221251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85" name="Google Shape;285;p39"/>
          <p:cNvSpPr/>
          <p:nvPr/>
        </p:nvSpPr>
        <p:spPr>
          <a:xfrm>
            <a:off x="2649352" y="297696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86" name="Google Shape;286;p39"/>
          <p:cNvSpPr txBox="1"/>
          <p:nvPr>
            <p:ph idx="1" type="body"/>
          </p:nvPr>
        </p:nvSpPr>
        <p:spPr>
          <a:xfrm>
            <a:off x="2220775" y="2545250"/>
            <a:ext cx="580500" cy="330600"/>
          </a:xfrm>
          <a:prstGeom prst="rect">
            <a:avLst/>
          </a:prstGeom>
        </p:spPr>
        <p:txBody>
          <a:bodyPr anchorCtr="0" anchor="t" bIns="75975" lIns="75975" spcFirstLastPara="1" rIns="75975" wrap="square" tIns="75975">
            <a:noAutofit/>
          </a:bodyPr>
          <a:lstStyle/>
          <a:p>
            <a:pPr indent="0" lvl="0" marL="0" rtl="0" algn="l">
              <a:spcBef>
                <a:spcPts val="0"/>
              </a:spcBef>
              <a:spcAft>
                <a:spcPts val="0"/>
              </a:spcAft>
              <a:buClr>
                <a:schemeClr val="dk1"/>
              </a:buClr>
              <a:buSzPts val="1100"/>
              <a:buFont typeface="Arial"/>
              <a:buNone/>
            </a:pPr>
            <a:r>
              <a:rPr b="1" lang="en" sz="1413">
                <a:solidFill>
                  <a:srgbClr val="38761D"/>
                </a:solidFill>
              </a:rPr>
              <a:t>p ⪰ z</a:t>
            </a:r>
            <a:endParaRPr b="1" sz="1413">
              <a:solidFill>
                <a:srgbClr val="38761D"/>
              </a:solidFill>
            </a:endParaRPr>
          </a:p>
          <a:p>
            <a:pPr indent="0" lvl="0" marL="0" rtl="0" algn="l">
              <a:spcBef>
                <a:spcPts val="0"/>
              </a:spcBef>
              <a:spcAft>
                <a:spcPts val="997"/>
              </a:spcAft>
              <a:buNone/>
            </a:pPr>
            <a:r>
              <a:t/>
            </a:r>
            <a:endParaRPr b="1" sz="1413">
              <a:solidFill>
                <a:srgbClr val="38761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p:nvPr/>
        </p:nvSpPr>
        <p:spPr>
          <a:xfrm>
            <a:off x="1225600" y="1947951"/>
            <a:ext cx="2460000" cy="1750500"/>
          </a:xfrm>
          <a:prstGeom prst="rect">
            <a:avLst/>
          </a:prstGeom>
          <a:solidFill>
            <a:srgbClr val="B6D7A8">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sp>
        <p:nvSpPr>
          <p:cNvPr id="292" name="Google Shape;29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1111"/>
              <a:buFont typeface="Arial"/>
              <a:buNone/>
            </a:pPr>
            <a:r>
              <a:rPr lang="en"/>
              <a:t>How One Probe Determines Many Labels:</a:t>
            </a:r>
            <a:endParaRPr i="1" sz="1800">
              <a:solidFill>
                <a:schemeClr val="dk2"/>
              </a:solidFill>
            </a:endParaRPr>
          </a:p>
          <a:p>
            <a:pPr indent="0" lvl="0" marL="0" rtl="0" algn="l">
              <a:spcBef>
                <a:spcPts val="0"/>
              </a:spcBef>
              <a:spcAft>
                <a:spcPts val="0"/>
              </a:spcAft>
              <a:buNone/>
            </a:pPr>
            <a:r>
              <a:t/>
            </a:r>
            <a:endParaRPr/>
          </a:p>
        </p:txBody>
      </p:sp>
      <p:sp>
        <p:nvSpPr>
          <p:cNvPr id="293" name="Google Shape;293;p40"/>
          <p:cNvSpPr/>
          <p:nvPr/>
        </p:nvSpPr>
        <p:spPr>
          <a:xfrm>
            <a:off x="315750" y="1153450"/>
            <a:ext cx="3999900" cy="5727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1: label(z) = +1</a:t>
            </a:r>
            <a:endParaRPr sz="2000">
              <a:solidFill>
                <a:schemeClr val="lt1"/>
              </a:solidFill>
            </a:endParaRPr>
          </a:p>
        </p:txBody>
      </p:sp>
      <p:sp>
        <p:nvSpPr>
          <p:cNvPr id="294" name="Google Shape;294;p40"/>
          <p:cNvSpPr/>
          <p:nvPr/>
        </p:nvSpPr>
        <p:spPr>
          <a:xfrm>
            <a:off x="4832400" y="1153450"/>
            <a:ext cx="3999900" cy="572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2: label(z) = -1</a:t>
            </a:r>
            <a:endParaRPr sz="2000">
              <a:solidFill>
                <a:schemeClr val="lt1"/>
              </a:solidFill>
            </a:endParaRPr>
          </a:p>
        </p:txBody>
      </p:sp>
      <p:cxnSp>
        <p:nvCxnSpPr>
          <p:cNvPr id="295" name="Google Shape;295;p40"/>
          <p:cNvCxnSpPr/>
          <p:nvPr/>
        </p:nvCxnSpPr>
        <p:spPr>
          <a:xfrm flipH="1">
            <a:off x="74459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296" name="Google Shape;296;p40"/>
          <p:cNvCxnSpPr/>
          <p:nvPr/>
        </p:nvCxnSpPr>
        <p:spPr>
          <a:xfrm flipH="1">
            <a:off x="734950" y="4024800"/>
            <a:ext cx="2950500" cy="900"/>
          </a:xfrm>
          <a:prstGeom prst="straightConnector1">
            <a:avLst/>
          </a:prstGeom>
          <a:noFill/>
          <a:ln cap="flat" cmpd="sng" w="23750">
            <a:solidFill>
              <a:schemeClr val="dk2"/>
            </a:solidFill>
            <a:prstDash val="solid"/>
            <a:round/>
            <a:headEnd len="med" w="med" type="none"/>
            <a:tailEnd len="med" w="med" type="none"/>
          </a:ln>
        </p:spPr>
      </p:cxnSp>
      <p:sp>
        <p:nvSpPr>
          <p:cNvPr id="297" name="Google Shape;297;p40"/>
          <p:cNvSpPr/>
          <p:nvPr/>
        </p:nvSpPr>
        <p:spPr>
          <a:xfrm>
            <a:off x="1111877" y="35897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298" name="Google Shape;298;p40"/>
          <p:cNvSpPr txBox="1"/>
          <p:nvPr>
            <p:ph idx="1" type="body"/>
          </p:nvPr>
        </p:nvSpPr>
        <p:spPr>
          <a:xfrm>
            <a:off x="1111877" y="325920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38761D"/>
                </a:solidFill>
              </a:rPr>
              <a:t>z</a:t>
            </a:r>
            <a:endParaRPr b="1" sz="1413">
              <a:solidFill>
                <a:srgbClr val="38761D"/>
              </a:solidFill>
            </a:endParaRPr>
          </a:p>
        </p:txBody>
      </p:sp>
      <p:sp>
        <p:nvSpPr>
          <p:cNvPr id="299" name="Google Shape;299;p40"/>
          <p:cNvSpPr txBox="1"/>
          <p:nvPr>
            <p:ph idx="4294967295" type="subTitle"/>
          </p:nvPr>
        </p:nvSpPr>
        <p:spPr>
          <a:xfrm>
            <a:off x="315750" y="4244250"/>
            <a:ext cx="399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Monotonicity: h(p) ≥ h(z) = 1</a:t>
            </a:r>
            <a:endParaRPr sz="1500">
              <a:solidFill>
                <a:schemeClr val="dk1"/>
              </a:solidFill>
            </a:endParaRPr>
          </a:p>
          <a:p>
            <a:pPr indent="0" lvl="0" marL="0" rtl="0" algn="l">
              <a:spcBef>
                <a:spcPts val="0"/>
              </a:spcBef>
              <a:spcAft>
                <a:spcPts val="0"/>
              </a:spcAft>
              <a:buNone/>
            </a:pPr>
            <a:r>
              <a:rPr lang="en" sz="1500">
                <a:solidFill>
                  <a:schemeClr val="dk1"/>
                </a:solidFill>
              </a:rPr>
              <a:t>∴ label all these p as +1, remove from P</a:t>
            </a:r>
            <a:endParaRPr sz="1500">
              <a:solidFill>
                <a:schemeClr val="dk1"/>
              </a:solidFill>
            </a:endParaRPr>
          </a:p>
        </p:txBody>
      </p:sp>
      <p:sp>
        <p:nvSpPr>
          <p:cNvPr id="300" name="Google Shape;300;p40"/>
          <p:cNvSpPr/>
          <p:nvPr/>
        </p:nvSpPr>
        <p:spPr>
          <a:xfrm>
            <a:off x="1868302" y="26988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01" name="Google Shape;301;p40"/>
          <p:cNvSpPr/>
          <p:nvPr/>
        </p:nvSpPr>
        <p:spPr>
          <a:xfrm>
            <a:off x="2287852" y="221251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02" name="Google Shape;302;p40"/>
          <p:cNvSpPr/>
          <p:nvPr/>
        </p:nvSpPr>
        <p:spPr>
          <a:xfrm>
            <a:off x="2649352" y="297696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03" name="Google Shape;303;p40"/>
          <p:cNvSpPr txBox="1"/>
          <p:nvPr>
            <p:ph idx="1" type="body"/>
          </p:nvPr>
        </p:nvSpPr>
        <p:spPr>
          <a:xfrm>
            <a:off x="2220775" y="2545250"/>
            <a:ext cx="580500" cy="330600"/>
          </a:xfrm>
          <a:prstGeom prst="rect">
            <a:avLst/>
          </a:prstGeom>
        </p:spPr>
        <p:txBody>
          <a:bodyPr anchorCtr="0" anchor="t" bIns="75975" lIns="75975" spcFirstLastPara="1" rIns="75975" wrap="square" tIns="75975">
            <a:noAutofit/>
          </a:bodyPr>
          <a:lstStyle/>
          <a:p>
            <a:pPr indent="0" lvl="0" marL="0" rtl="0" algn="l">
              <a:spcBef>
                <a:spcPts val="0"/>
              </a:spcBef>
              <a:spcAft>
                <a:spcPts val="0"/>
              </a:spcAft>
              <a:buClr>
                <a:schemeClr val="dk1"/>
              </a:buClr>
              <a:buSzPts val="1100"/>
              <a:buFont typeface="Arial"/>
              <a:buNone/>
            </a:pPr>
            <a:r>
              <a:rPr b="1" lang="en" sz="1413">
                <a:solidFill>
                  <a:srgbClr val="38761D"/>
                </a:solidFill>
              </a:rPr>
              <a:t>p ⪰ z</a:t>
            </a:r>
            <a:endParaRPr b="1" sz="1413">
              <a:solidFill>
                <a:srgbClr val="38761D"/>
              </a:solidFill>
            </a:endParaRPr>
          </a:p>
          <a:p>
            <a:pPr indent="0" lvl="0" marL="0" rtl="0" algn="l">
              <a:spcBef>
                <a:spcPts val="0"/>
              </a:spcBef>
              <a:spcAft>
                <a:spcPts val="997"/>
              </a:spcAft>
              <a:buNone/>
            </a:pPr>
            <a:r>
              <a:t/>
            </a:r>
            <a:endParaRPr b="1" sz="1413">
              <a:solidFill>
                <a:srgbClr val="38761D"/>
              </a:solidFill>
            </a:endParaRPr>
          </a:p>
        </p:txBody>
      </p:sp>
      <p:cxnSp>
        <p:nvCxnSpPr>
          <p:cNvPr id="304" name="Google Shape;304;p40"/>
          <p:cNvCxnSpPr/>
          <p:nvPr/>
        </p:nvCxnSpPr>
        <p:spPr>
          <a:xfrm flipH="1">
            <a:off x="526124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305" name="Google Shape;305;p40"/>
          <p:cNvCxnSpPr/>
          <p:nvPr/>
        </p:nvCxnSpPr>
        <p:spPr>
          <a:xfrm flipH="1">
            <a:off x="5250225" y="4028975"/>
            <a:ext cx="2947500" cy="2700"/>
          </a:xfrm>
          <a:prstGeom prst="straightConnector1">
            <a:avLst/>
          </a:prstGeom>
          <a:noFill/>
          <a:ln cap="flat" cmpd="sng" w="23750">
            <a:solidFill>
              <a:schemeClr val="dk2"/>
            </a:solidFill>
            <a:prstDash val="solid"/>
            <a:round/>
            <a:headEnd len="med" w="med" type="none"/>
            <a:tailEnd len="med" w="med" type="none"/>
          </a:ln>
        </p:spPr>
      </p:cxnSp>
      <p:sp>
        <p:nvSpPr>
          <p:cNvPr id="306" name="Google Shape;306;p40"/>
          <p:cNvSpPr/>
          <p:nvPr/>
        </p:nvSpPr>
        <p:spPr>
          <a:xfrm>
            <a:off x="7240002" y="227854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07" name="Google Shape;307;p40"/>
          <p:cNvSpPr txBox="1"/>
          <p:nvPr>
            <p:ph idx="1" type="body"/>
          </p:nvPr>
        </p:nvSpPr>
        <p:spPr>
          <a:xfrm>
            <a:off x="7240002" y="194795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990000"/>
                </a:solidFill>
              </a:rPr>
              <a:t>z</a:t>
            </a:r>
            <a:endParaRPr b="1" sz="1413">
              <a:solidFill>
                <a:srgbClr val="990000"/>
              </a:solidFill>
            </a:endParaRPr>
          </a:p>
        </p:txBody>
      </p:sp>
      <p:sp>
        <p:nvSpPr>
          <p:cNvPr id="308" name="Google Shape;308;p40"/>
          <p:cNvSpPr/>
          <p:nvPr/>
        </p:nvSpPr>
        <p:spPr>
          <a:xfrm>
            <a:off x="5756352" y="26988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09" name="Google Shape;309;p40"/>
          <p:cNvSpPr/>
          <p:nvPr/>
        </p:nvSpPr>
        <p:spPr>
          <a:xfrm>
            <a:off x="6457827" y="33086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10" name="Google Shape;310;p40"/>
          <p:cNvSpPr/>
          <p:nvPr/>
        </p:nvSpPr>
        <p:spPr>
          <a:xfrm>
            <a:off x="5987952" y="30770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p:nvPr/>
        </p:nvSpPr>
        <p:spPr>
          <a:xfrm>
            <a:off x="1225600" y="1947951"/>
            <a:ext cx="2460000" cy="1750500"/>
          </a:xfrm>
          <a:prstGeom prst="rect">
            <a:avLst/>
          </a:prstGeom>
          <a:solidFill>
            <a:srgbClr val="B6D7A8">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sp>
        <p:nvSpPr>
          <p:cNvPr id="316" name="Google Shape;316;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61111"/>
              <a:buFont typeface="Arial"/>
              <a:buNone/>
            </a:pPr>
            <a:r>
              <a:rPr lang="en"/>
              <a:t>How One Probe Determines Many Labels:</a:t>
            </a:r>
            <a:endParaRPr i="1" sz="1800">
              <a:solidFill>
                <a:schemeClr val="dk2"/>
              </a:solidFill>
            </a:endParaRPr>
          </a:p>
          <a:p>
            <a:pPr indent="0" lvl="0" marL="0" rtl="0" algn="l">
              <a:spcBef>
                <a:spcPts val="0"/>
              </a:spcBef>
              <a:spcAft>
                <a:spcPts val="0"/>
              </a:spcAft>
              <a:buNone/>
            </a:pPr>
            <a:r>
              <a:t/>
            </a:r>
            <a:endParaRPr/>
          </a:p>
        </p:txBody>
      </p:sp>
      <p:sp>
        <p:nvSpPr>
          <p:cNvPr id="317" name="Google Shape;317;p41"/>
          <p:cNvSpPr/>
          <p:nvPr/>
        </p:nvSpPr>
        <p:spPr>
          <a:xfrm>
            <a:off x="315750" y="1153450"/>
            <a:ext cx="3999900" cy="5727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1: label(z) = +1</a:t>
            </a:r>
            <a:endParaRPr sz="2000">
              <a:solidFill>
                <a:schemeClr val="lt1"/>
              </a:solidFill>
            </a:endParaRPr>
          </a:p>
        </p:txBody>
      </p:sp>
      <p:sp>
        <p:nvSpPr>
          <p:cNvPr id="318" name="Google Shape;318;p41"/>
          <p:cNvSpPr/>
          <p:nvPr/>
        </p:nvSpPr>
        <p:spPr>
          <a:xfrm>
            <a:off x="4832400" y="1153450"/>
            <a:ext cx="3999900" cy="572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rPr>
              <a:t>Case 2: label(z) = -1</a:t>
            </a:r>
            <a:endParaRPr sz="2000">
              <a:solidFill>
                <a:schemeClr val="lt1"/>
              </a:solidFill>
            </a:endParaRPr>
          </a:p>
        </p:txBody>
      </p:sp>
      <p:cxnSp>
        <p:nvCxnSpPr>
          <p:cNvPr id="319" name="Google Shape;319;p41"/>
          <p:cNvCxnSpPr/>
          <p:nvPr/>
        </p:nvCxnSpPr>
        <p:spPr>
          <a:xfrm flipH="1">
            <a:off x="74459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320" name="Google Shape;320;p41"/>
          <p:cNvCxnSpPr/>
          <p:nvPr/>
        </p:nvCxnSpPr>
        <p:spPr>
          <a:xfrm flipH="1">
            <a:off x="734950" y="4024800"/>
            <a:ext cx="2950500" cy="900"/>
          </a:xfrm>
          <a:prstGeom prst="straightConnector1">
            <a:avLst/>
          </a:prstGeom>
          <a:noFill/>
          <a:ln cap="flat" cmpd="sng" w="23750">
            <a:solidFill>
              <a:schemeClr val="dk2"/>
            </a:solidFill>
            <a:prstDash val="solid"/>
            <a:round/>
            <a:headEnd len="med" w="med" type="none"/>
            <a:tailEnd len="med" w="med" type="none"/>
          </a:ln>
        </p:spPr>
      </p:cxnSp>
      <p:sp>
        <p:nvSpPr>
          <p:cNvPr id="321" name="Google Shape;321;p41"/>
          <p:cNvSpPr/>
          <p:nvPr/>
        </p:nvSpPr>
        <p:spPr>
          <a:xfrm>
            <a:off x="1111877" y="35897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22" name="Google Shape;322;p41"/>
          <p:cNvSpPr txBox="1"/>
          <p:nvPr>
            <p:ph idx="1" type="body"/>
          </p:nvPr>
        </p:nvSpPr>
        <p:spPr>
          <a:xfrm>
            <a:off x="1111877" y="325920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38761D"/>
                </a:solidFill>
              </a:rPr>
              <a:t>z</a:t>
            </a:r>
            <a:endParaRPr b="1" sz="1413">
              <a:solidFill>
                <a:srgbClr val="38761D"/>
              </a:solidFill>
            </a:endParaRPr>
          </a:p>
        </p:txBody>
      </p:sp>
      <p:sp>
        <p:nvSpPr>
          <p:cNvPr id="323" name="Google Shape;323;p41"/>
          <p:cNvSpPr txBox="1"/>
          <p:nvPr>
            <p:ph idx="4294967295" type="subTitle"/>
          </p:nvPr>
        </p:nvSpPr>
        <p:spPr>
          <a:xfrm>
            <a:off x="315750" y="4244250"/>
            <a:ext cx="399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Monotonicity: h(p) ≥ h(z) = 1</a:t>
            </a:r>
            <a:endParaRPr sz="1500">
              <a:solidFill>
                <a:schemeClr val="dk1"/>
              </a:solidFill>
            </a:endParaRPr>
          </a:p>
          <a:p>
            <a:pPr indent="0" lvl="0" marL="0" rtl="0" algn="l">
              <a:spcBef>
                <a:spcPts val="0"/>
              </a:spcBef>
              <a:spcAft>
                <a:spcPts val="0"/>
              </a:spcAft>
              <a:buNone/>
            </a:pPr>
            <a:r>
              <a:rPr lang="en" sz="1500">
                <a:solidFill>
                  <a:schemeClr val="dk1"/>
                </a:solidFill>
              </a:rPr>
              <a:t>∴ label all these p as +1, remove from P</a:t>
            </a:r>
            <a:endParaRPr sz="1500">
              <a:solidFill>
                <a:schemeClr val="dk1"/>
              </a:solidFill>
            </a:endParaRPr>
          </a:p>
        </p:txBody>
      </p:sp>
      <p:sp>
        <p:nvSpPr>
          <p:cNvPr id="324" name="Google Shape;324;p41"/>
          <p:cNvSpPr/>
          <p:nvPr/>
        </p:nvSpPr>
        <p:spPr>
          <a:xfrm>
            <a:off x="1868302" y="2698891"/>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25" name="Google Shape;325;p41"/>
          <p:cNvSpPr/>
          <p:nvPr/>
        </p:nvSpPr>
        <p:spPr>
          <a:xfrm>
            <a:off x="2287852" y="221251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26" name="Google Shape;326;p41"/>
          <p:cNvSpPr/>
          <p:nvPr/>
        </p:nvSpPr>
        <p:spPr>
          <a:xfrm>
            <a:off x="2649352" y="2976966"/>
            <a:ext cx="231600" cy="231600"/>
          </a:xfrm>
          <a:prstGeom prst="ellipse">
            <a:avLst/>
          </a:prstGeom>
          <a:solidFill>
            <a:srgbClr val="93C47D"/>
          </a:solidFill>
          <a:ln cap="flat" cmpd="sng" w="7925">
            <a:solidFill>
              <a:srgbClr val="6AA84F"/>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27" name="Google Shape;327;p41"/>
          <p:cNvSpPr txBox="1"/>
          <p:nvPr>
            <p:ph idx="1" type="body"/>
          </p:nvPr>
        </p:nvSpPr>
        <p:spPr>
          <a:xfrm>
            <a:off x="2220775" y="2545250"/>
            <a:ext cx="580500" cy="330600"/>
          </a:xfrm>
          <a:prstGeom prst="rect">
            <a:avLst/>
          </a:prstGeom>
        </p:spPr>
        <p:txBody>
          <a:bodyPr anchorCtr="0" anchor="t" bIns="75975" lIns="75975" spcFirstLastPara="1" rIns="75975" wrap="square" tIns="75975">
            <a:noAutofit/>
          </a:bodyPr>
          <a:lstStyle/>
          <a:p>
            <a:pPr indent="0" lvl="0" marL="0" rtl="0" algn="l">
              <a:spcBef>
                <a:spcPts val="0"/>
              </a:spcBef>
              <a:spcAft>
                <a:spcPts val="0"/>
              </a:spcAft>
              <a:buClr>
                <a:schemeClr val="dk1"/>
              </a:buClr>
              <a:buSzPts val="1100"/>
              <a:buFont typeface="Arial"/>
              <a:buNone/>
            </a:pPr>
            <a:r>
              <a:rPr b="1" lang="en" sz="1413">
                <a:solidFill>
                  <a:srgbClr val="38761D"/>
                </a:solidFill>
              </a:rPr>
              <a:t>p ⪰ z</a:t>
            </a:r>
            <a:endParaRPr b="1" sz="1413">
              <a:solidFill>
                <a:srgbClr val="38761D"/>
              </a:solidFill>
            </a:endParaRPr>
          </a:p>
          <a:p>
            <a:pPr indent="0" lvl="0" marL="0" rtl="0" algn="l">
              <a:spcBef>
                <a:spcPts val="0"/>
              </a:spcBef>
              <a:spcAft>
                <a:spcPts val="997"/>
              </a:spcAft>
              <a:buNone/>
            </a:pPr>
            <a:r>
              <a:t/>
            </a:r>
            <a:endParaRPr b="1" sz="1413">
              <a:solidFill>
                <a:srgbClr val="38761D"/>
              </a:solidFill>
            </a:endParaRPr>
          </a:p>
        </p:txBody>
      </p:sp>
      <p:sp>
        <p:nvSpPr>
          <p:cNvPr id="328" name="Google Shape;328;p41"/>
          <p:cNvSpPr/>
          <p:nvPr/>
        </p:nvSpPr>
        <p:spPr>
          <a:xfrm>
            <a:off x="5262450" y="2362525"/>
            <a:ext cx="2116200" cy="1659900"/>
          </a:xfrm>
          <a:prstGeom prst="rect">
            <a:avLst/>
          </a:prstGeom>
          <a:solidFill>
            <a:srgbClr val="F4CCCC">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cxnSp>
        <p:nvCxnSpPr>
          <p:cNvPr id="329" name="Google Shape;329;p41"/>
          <p:cNvCxnSpPr/>
          <p:nvPr/>
        </p:nvCxnSpPr>
        <p:spPr>
          <a:xfrm flipH="1">
            <a:off x="5261247" y="1947950"/>
            <a:ext cx="1200" cy="2074500"/>
          </a:xfrm>
          <a:prstGeom prst="straightConnector1">
            <a:avLst/>
          </a:prstGeom>
          <a:noFill/>
          <a:ln cap="flat" cmpd="sng" w="23750">
            <a:solidFill>
              <a:schemeClr val="dk2"/>
            </a:solidFill>
            <a:prstDash val="solid"/>
            <a:round/>
            <a:headEnd len="med" w="med" type="none"/>
            <a:tailEnd len="med" w="med" type="none"/>
          </a:ln>
        </p:spPr>
      </p:cxnSp>
      <p:cxnSp>
        <p:nvCxnSpPr>
          <p:cNvPr id="330" name="Google Shape;330;p41"/>
          <p:cNvCxnSpPr/>
          <p:nvPr/>
        </p:nvCxnSpPr>
        <p:spPr>
          <a:xfrm flipH="1">
            <a:off x="5250225" y="4028975"/>
            <a:ext cx="2947500" cy="2700"/>
          </a:xfrm>
          <a:prstGeom prst="straightConnector1">
            <a:avLst/>
          </a:prstGeom>
          <a:noFill/>
          <a:ln cap="flat" cmpd="sng" w="23750">
            <a:solidFill>
              <a:schemeClr val="dk2"/>
            </a:solidFill>
            <a:prstDash val="solid"/>
            <a:round/>
            <a:headEnd len="med" w="med" type="none"/>
            <a:tailEnd len="med" w="med" type="none"/>
          </a:ln>
        </p:spPr>
      </p:cxnSp>
      <p:sp>
        <p:nvSpPr>
          <p:cNvPr id="331" name="Google Shape;331;p41"/>
          <p:cNvSpPr/>
          <p:nvPr/>
        </p:nvSpPr>
        <p:spPr>
          <a:xfrm>
            <a:off x="7240002" y="227854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32" name="Google Shape;332;p41"/>
          <p:cNvSpPr txBox="1"/>
          <p:nvPr>
            <p:ph idx="1" type="body"/>
          </p:nvPr>
        </p:nvSpPr>
        <p:spPr>
          <a:xfrm>
            <a:off x="7240002" y="1947959"/>
            <a:ext cx="231600" cy="330600"/>
          </a:xfrm>
          <a:prstGeom prst="rect">
            <a:avLst/>
          </a:prstGeom>
        </p:spPr>
        <p:txBody>
          <a:bodyPr anchorCtr="0" anchor="t" bIns="75975" lIns="75975" spcFirstLastPara="1" rIns="75975" wrap="square" tIns="75975">
            <a:noAutofit/>
          </a:bodyPr>
          <a:lstStyle/>
          <a:p>
            <a:pPr indent="0" lvl="0" marL="0" rtl="0" algn="l">
              <a:spcBef>
                <a:spcPts val="0"/>
              </a:spcBef>
              <a:spcAft>
                <a:spcPts val="997"/>
              </a:spcAft>
              <a:buNone/>
            </a:pPr>
            <a:r>
              <a:rPr b="1" lang="en" sz="1413">
                <a:solidFill>
                  <a:srgbClr val="990000"/>
                </a:solidFill>
              </a:rPr>
              <a:t>z</a:t>
            </a:r>
            <a:endParaRPr b="1" sz="1413">
              <a:solidFill>
                <a:srgbClr val="990000"/>
              </a:solidFill>
            </a:endParaRPr>
          </a:p>
        </p:txBody>
      </p:sp>
      <p:sp>
        <p:nvSpPr>
          <p:cNvPr id="333" name="Google Shape;333;p41"/>
          <p:cNvSpPr txBox="1"/>
          <p:nvPr>
            <p:ph idx="4294967295" type="subTitle"/>
          </p:nvPr>
        </p:nvSpPr>
        <p:spPr>
          <a:xfrm>
            <a:off x="4832400" y="4244250"/>
            <a:ext cx="399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rPr>
              <a:t>Monotonicity: h(p) ≤ h(z) = −1</a:t>
            </a:r>
            <a:endParaRPr sz="1500">
              <a:solidFill>
                <a:schemeClr val="dk1"/>
              </a:solidFill>
            </a:endParaRPr>
          </a:p>
          <a:p>
            <a:pPr indent="0" lvl="0" marL="0" rtl="0" algn="l">
              <a:spcBef>
                <a:spcPts val="0"/>
              </a:spcBef>
              <a:spcAft>
                <a:spcPts val="0"/>
              </a:spcAft>
              <a:buNone/>
            </a:pPr>
            <a:r>
              <a:rPr lang="en" sz="1500">
                <a:solidFill>
                  <a:schemeClr val="dk1"/>
                </a:solidFill>
              </a:rPr>
              <a:t>∴ label all these p as −1, remove from P</a:t>
            </a:r>
            <a:endParaRPr sz="1500">
              <a:solidFill>
                <a:schemeClr val="dk1"/>
              </a:solidFill>
            </a:endParaRPr>
          </a:p>
        </p:txBody>
      </p:sp>
      <p:sp>
        <p:nvSpPr>
          <p:cNvPr id="334" name="Google Shape;334;p41"/>
          <p:cNvSpPr/>
          <p:nvPr/>
        </p:nvSpPr>
        <p:spPr>
          <a:xfrm>
            <a:off x="5756352" y="26988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35" name="Google Shape;335;p41"/>
          <p:cNvSpPr/>
          <p:nvPr/>
        </p:nvSpPr>
        <p:spPr>
          <a:xfrm>
            <a:off x="6457827" y="33086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36" name="Google Shape;336;p41"/>
          <p:cNvSpPr/>
          <p:nvPr/>
        </p:nvSpPr>
        <p:spPr>
          <a:xfrm>
            <a:off x="5987952" y="3077091"/>
            <a:ext cx="231600" cy="231600"/>
          </a:xfrm>
          <a:prstGeom prst="ellipse">
            <a:avLst/>
          </a:prstGeom>
          <a:solidFill>
            <a:srgbClr val="EA9999"/>
          </a:solidFill>
          <a:ln cap="flat" cmpd="sng" w="7925">
            <a:solidFill>
              <a:srgbClr val="CC0000"/>
            </a:solidFill>
            <a:prstDash val="solid"/>
            <a:round/>
            <a:headEnd len="sm" w="sm" type="none"/>
            <a:tailEnd len="sm" w="sm" type="none"/>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337" name="Google Shape;337;p41"/>
          <p:cNvSpPr txBox="1"/>
          <p:nvPr>
            <p:ph idx="1" type="body"/>
          </p:nvPr>
        </p:nvSpPr>
        <p:spPr>
          <a:xfrm>
            <a:off x="6283375" y="2712275"/>
            <a:ext cx="580500" cy="330600"/>
          </a:xfrm>
          <a:prstGeom prst="rect">
            <a:avLst/>
          </a:prstGeom>
        </p:spPr>
        <p:txBody>
          <a:bodyPr anchorCtr="0" anchor="t" bIns="75975" lIns="75975" spcFirstLastPara="1" rIns="75975" wrap="square" tIns="75975">
            <a:noAutofit/>
          </a:bodyPr>
          <a:lstStyle/>
          <a:p>
            <a:pPr indent="0" lvl="0" marL="0" rtl="0" algn="l">
              <a:spcBef>
                <a:spcPts val="0"/>
              </a:spcBef>
              <a:spcAft>
                <a:spcPts val="0"/>
              </a:spcAft>
              <a:buNone/>
            </a:pPr>
            <a:r>
              <a:rPr b="1" lang="en" sz="1413">
                <a:solidFill>
                  <a:srgbClr val="990000"/>
                </a:solidFill>
              </a:rPr>
              <a:t>p ⪯ z</a:t>
            </a:r>
            <a:endParaRPr b="1" sz="1413">
              <a:solidFill>
                <a:srgbClr val="99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does RPE work?</a:t>
            </a:r>
            <a:endParaRPr/>
          </a:p>
        </p:txBody>
      </p:sp>
      <p:sp>
        <p:nvSpPr>
          <p:cNvPr id="343" name="Google Shape;343;p42"/>
          <p:cNvSpPr txBox="1"/>
          <p:nvPr>
            <p:ph idx="1" type="body"/>
          </p:nvPr>
        </p:nvSpPr>
        <p:spPr>
          <a:xfrm>
            <a:off x="311700" y="1152475"/>
            <a:ext cx="5186400" cy="2063700"/>
          </a:xfrm>
          <a:prstGeom prst="rect">
            <a:avLst/>
          </a:prstGeom>
          <a:solidFill>
            <a:srgbClr val="CFE2F3"/>
          </a:solidFill>
          <a:ln cap="flat" cmpd="sng" w="9525">
            <a:solidFill>
              <a:srgbClr val="3D85C6"/>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700">
                <a:solidFill>
                  <a:schemeClr val="dk1"/>
                </a:solidFill>
              </a:rPr>
              <a:t>Each probe does “double duty”:</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 sz="1700">
                <a:solidFill>
                  <a:schemeClr val="dk1"/>
                </a:solidFill>
              </a:rPr>
              <a:t>Gives its own label</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 sz="1700">
                <a:solidFill>
                  <a:schemeClr val="dk1"/>
                </a:solidFill>
              </a:rPr>
              <a:t>Determines the labels of many points around it</a:t>
            </a:r>
            <a:endParaRPr sz="1700">
              <a:solidFill>
                <a:schemeClr val="dk1"/>
              </a:solidFill>
            </a:endParaRPr>
          </a:p>
          <a:p>
            <a:pPr indent="0" lvl="0" marL="0" rtl="0" algn="l">
              <a:lnSpc>
                <a:spcPct val="150000"/>
              </a:lnSpc>
              <a:spcBef>
                <a:spcPts val="0"/>
              </a:spcBef>
              <a:spcAft>
                <a:spcPts val="0"/>
              </a:spcAft>
              <a:buNone/>
            </a:pPr>
            <a:r>
              <a:rPr lang="en" sz="1700">
                <a:solidFill>
                  <a:schemeClr val="dk1"/>
                </a:solidFill>
              </a:rPr>
              <a:t>Only uncertain points remain</a:t>
            </a:r>
            <a:endParaRPr sz="1700">
              <a:solidFill>
                <a:schemeClr val="dk1"/>
              </a:solidFill>
            </a:endParaRPr>
          </a:p>
          <a:p>
            <a:pPr indent="0" lvl="0" marL="0" rtl="0" algn="l">
              <a:lnSpc>
                <a:spcPct val="150000"/>
              </a:lnSpc>
              <a:spcBef>
                <a:spcPts val="0"/>
              </a:spcBef>
              <a:spcAft>
                <a:spcPts val="0"/>
              </a:spcAft>
              <a:buNone/>
            </a:pPr>
            <a:r>
              <a:rPr lang="en" sz="1700">
                <a:solidFill>
                  <a:schemeClr val="dk1"/>
                </a:solidFill>
              </a:rPr>
              <a:t>These will be resolved in subsequent iterations</a:t>
            </a:r>
            <a:endParaRPr sz="1700">
              <a:solidFill>
                <a:schemeClr val="dk1"/>
              </a:solidFill>
            </a:endParaRPr>
          </a:p>
        </p:txBody>
      </p:sp>
      <p:grpSp>
        <p:nvGrpSpPr>
          <p:cNvPr id="344" name="Google Shape;344;p42"/>
          <p:cNvGrpSpPr/>
          <p:nvPr/>
        </p:nvGrpSpPr>
        <p:grpSpPr>
          <a:xfrm>
            <a:off x="5693724" y="1152555"/>
            <a:ext cx="3063096" cy="2063551"/>
            <a:chOff x="1718015" y="811764"/>
            <a:chExt cx="6072752" cy="4091100"/>
          </a:xfrm>
        </p:grpSpPr>
        <p:pic>
          <p:nvPicPr>
            <p:cNvPr id="345" name="Google Shape;345;p42"/>
            <p:cNvPicPr preferRelativeResize="0"/>
            <p:nvPr/>
          </p:nvPicPr>
          <p:blipFill rotWithShape="1">
            <a:blip r:embed="rId3">
              <a:alphaModFix/>
            </a:blip>
            <a:srcRect b="4677" l="12752" r="7997" t="15781"/>
            <a:stretch/>
          </p:blipFill>
          <p:spPr>
            <a:xfrm>
              <a:off x="1718015" y="811764"/>
              <a:ext cx="6072752" cy="4091100"/>
            </a:xfrm>
            <a:prstGeom prst="rect">
              <a:avLst/>
            </a:prstGeom>
            <a:noFill/>
            <a:ln>
              <a:noFill/>
            </a:ln>
          </p:spPr>
        </p:pic>
        <p:sp>
          <p:nvSpPr>
            <p:cNvPr id="346" name="Google Shape;346;p42"/>
            <p:cNvSpPr txBox="1"/>
            <p:nvPr/>
          </p:nvSpPr>
          <p:spPr>
            <a:xfrm>
              <a:off x="4409700" y="4328375"/>
              <a:ext cx="1073400" cy="461700"/>
            </a:xfrm>
            <a:prstGeom prst="rect">
              <a:avLst/>
            </a:prstGeom>
            <a:noFill/>
            <a:ln>
              <a:noFill/>
            </a:ln>
          </p:spPr>
          <p:txBody>
            <a:bodyPr anchorCtr="0" anchor="t" bIns="46125" lIns="46125" spcFirstLastPara="1" rIns="46125" wrap="square" tIns="46125">
              <a:spAutoFit/>
            </a:bodyPr>
            <a:lstStyle/>
            <a:p>
              <a:pPr indent="0" lvl="0" marL="0" rtl="0" algn="l">
                <a:lnSpc>
                  <a:spcPct val="115000"/>
                </a:lnSpc>
                <a:spcBef>
                  <a:spcPts val="0"/>
                </a:spcBef>
                <a:spcAft>
                  <a:spcPts val="0"/>
                </a:spcAft>
                <a:buNone/>
              </a:pPr>
              <a:r>
                <a:rPr b="1" lang="en" sz="908">
                  <a:solidFill>
                    <a:schemeClr val="lt1"/>
                  </a:solidFill>
                  <a:highlight>
                    <a:schemeClr val="dk1"/>
                  </a:highlight>
                </a:rPr>
                <a:t>1 Probe</a:t>
              </a:r>
              <a:endParaRPr b="1" sz="908">
                <a:solidFill>
                  <a:schemeClr val="lt1"/>
                </a:solidFill>
                <a:highlight>
                  <a:schemeClr val="dk1"/>
                </a:highlight>
              </a:endParaRPr>
            </a:p>
          </p:txBody>
        </p:sp>
        <p:sp>
          <p:nvSpPr>
            <p:cNvPr id="347" name="Google Shape;347;p42"/>
            <p:cNvSpPr txBox="1"/>
            <p:nvPr/>
          </p:nvSpPr>
          <p:spPr>
            <a:xfrm>
              <a:off x="2389850" y="960200"/>
              <a:ext cx="1398000" cy="1098900"/>
            </a:xfrm>
            <a:prstGeom prst="rect">
              <a:avLst/>
            </a:prstGeom>
            <a:noFill/>
            <a:ln>
              <a:noFill/>
            </a:ln>
          </p:spPr>
          <p:txBody>
            <a:bodyPr anchorCtr="0" anchor="t" bIns="46125" lIns="46125" spcFirstLastPara="1" rIns="46125" wrap="square" tIns="46125">
              <a:spAutoFit/>
            </a:bodyPr>
            <a:lstStyle/>
            <a:p>
              <a:pPr indent="0" lvl="0" marL="0" rtl="0" algn="l">
                <a:lnSpc>
                  <a:spcPct val="115000"/>
                </a:lnSpc>
                <a:spcBef>
                  <a:spcPts val="0"/>
                </a:spcBef>
                <a:spcAft>
                  <a:spcPts val="0"/>
                </a:spcAft>
                <a:buNone/>
              </a:pPr>
              <a:r>
                <a:rPr b="1" lang="en" sz="908">
                  <a:solidFill>
                    <a:schemeClr val="lt1"/>
                  </a:solidFill>
                  <a:highlight>
                    <a:schemeClr val="dk1"/>
                  </a:highlight>
                </a:rPr>
                <a:t>Many points are resolved</a:t>
              </a:r>
              <a:endParaRPr b="1" sz="908">
                <a:solidFill>
                  <a:schemeClr val="lt1"/>
                </a:solidFill>
                <a:highlight>
                  <a:schemeClr val="dk1"/>
                </a:highlight>
              </a:endParaRPr>
            </a:p>
          </p:txBody>
        </p:sp>
      </p:grpSp>
      <p:sp>
        <p:nvSpPr>
          <p:cNvPr id="348" name="Google Shape;348;p42"/>
          <p:cNvSpPr txBox="1"/>
          <p:nvPr>
            <p:ph idx="4294967295" type="body"/>
          </p:nvPr>
        </p:nvSpPr>
        <p:spPr>
          <a:xfrm>
            <a:off x="311700" y="3350925"/>
            <a:ext cx="8445000" cy="15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500">
                <a:solidFill>
                  <a:schemeClr val="dk1"/>
                </a:solidFill>
              </a:rPr>
              <a:t>If label(z) = +1: any point p ⪰ z is at least as similar as z on every feature. Monotonicity forces h(p) </a:t>
            </a:r>
            <a:r>
              <a:rPr lang="en" sz="1300">
                <a:solidFill>
                  <a:schemeClr val="dk1"/>
                </a:solidFill>
              </a:rPr>
              <a:t>≥</a:t>
            </a:r>
            <a:r>
              <a:rPr i="1" lang="en" sz="1500">
                <a:solidFill>
                  <a:schemeClr val="dk1"/>
                </a:solidFill>
              </a:rPr>
              <a:t> h(z) = +1, so all such p must be labelled +1 and can be removed from P.</a:t>
            </a:r>
            <a:endParaRPr i="1" sz="1500">
              <a:solidFill>
                <a:schemeClr val="dk1"/>
              </a:solidFill>
            </a:endParaRPr>
          </a:p>
          <a:p>
            <a:pPr indent="0" lvl="0" marL="0" rtl="0" algn="l">
              <a:spcBef>
                <a:spcPts val="0"/>
              </a:spcBef>
              <a:spcAft>
                <a:spcPts val="0"/>
              </a:spcAft>
              <a:buNone/>
            </a:pPr>
            <a:r>
              <a:t/>
            </a:r>
            <a:endParaRPr i="1" sz="1500">
              <a:solidFill>
                <a:schemeClr val="dk1"/>
              </a:solidFill>
            </a:endParaRPr>
          </a:p>
          <a:p>
            <a:pPr indent="0" lvl="0" marL="0" rtl="0" algn="l">
              <a:spcBef>
                <a:spcPts val="0"/>
              </a:spcBef>
              <a:spcAft>
                <a:spcPts val="0"/>
              </a:spcAft>
              <a:buNone/>
            </a:pPr>
            <a:r>
              <a:rPr i="1" lang="en" sz="1500">
                <a:solidFill>
                  <a:schemeClr val="dk1"/>
                </a:solidFill>
              </a:rPr>
              <a:t>If label(z) = -1: any point p ⪯  z is dominated by z, so monotonicity forces h(p) </a:t>
            </a:r>
            <a:r>
              <a:rPr lang="en" sz="1300">
                <a:solidFill>
                  <a:schemeClr val="dk1"/>
                </a:solidFill>
              </a:rPr>
              <a:t>≤</a:t>
            </a:r>
            <a:r>
              <a:rPr i="1" lang="en" sz="1500">
                <a:solidFill>
                  <a:schemeClr val="dk1"/>
                </a:solidFill>
              </a:rPr>
              <a:t> h(z) = -1. All such p must be labelled -1 and are removed.</a:t>
            </a:r>
            <a:endParaRPr i="1" sz="15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3"/>
          <p:cNvSpPr txBox="1"/>
          <p:nvPr>
            <p:ph type="title"/>
          </p:nvPr>
        </p:nvSpPr>
        <p:spPr>
          <a:xfrm>
            <a:off x="311700" y="445025"/>
            <a:ext cx="399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RPE Algorithm</a:t>
            </a:r>
            <a:endParaRPr i="1" sz="1800"/>
          </a:p>
        </p:txBody>
      </p:sp>
      <p:sp>
        <p:nvSpPr>
          <p:cNvPr id="354" name="Google Shape;354;p43"/>
          <p:cNvSpPr txBox="1"/>
          <p:nvPr>
            <p:ph idx="1" type="body"/>
          </p:nvPr>
        </p:nvSpPr>
        <p:spPr>
          <a:xfrm>
            <a:off x="311700" y="1152475"/>
            <a:ext cx="3999900" cy="3416400"/>
          </a:xfrm>
          <a:prstGeom prst="rect">
            <a:avLst/>
          </a:prstGeom>
          <a:solidFill>
            <a:srgbClr val="CFE2F3">
              <a:alpha val="40000"/>
            </a:srgbClr>
          </a:solidFill>
          <a:ln cap="flat" cmpd="sng" w="952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algorithm RPE(P):</a:t>
            </a:r>
            <a:endParaRPr sz="1800">
              <a:solidFill>
                <a:schemeClr val="dk1"/>
              </a:solidFill>
            </a:endParaRPr>
          </a:p>
          <a:p>
            <a:pPr indent="-342900" lvl="0" marL="457200" rtl="0" algn="l">
              <a:spcBef>
                <a:spcPts val="1200"/>
              </a:spcBef>
              <a:spcAft>
                <a:spcPts val="0"/>
              </a:spcAft>
              <a:buClr>
                <a:schemeClr val="dk1"/>
              </a:buClr>
              <a:buSzPts val="1800"/>
              <a:buAutoNum type="arabicPeriod"/>
            </a:pPr>
            <a:r>
              <a:rPr lang="en" sz="1800">
                <a:solidFill>
                  <a:schemeClr val="dk1"/>
                </a:solidFill>
              </a:rPr>
              <a:t>Z = ∅</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while P ≠ ∅ do</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p</a:t>
            </a:r>
            <a:r>
              <a:rPr lang="en" sz="1800">
                <a:solidFill>
                  <a:schemeClr val="dk1"/>
                </a:solidFill>
              </a:rPr>
              <a:t>robe an element z ∈ P chosen uniformly at random; add z to Z</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i</a:t>
            </a:r>
            <a:r>
              <a:rPr lang="en" sz="1800">
                <a:solidFill>
                  <a:schemeClr val="dk1"/>
                </a:solidFill>
              </a:rPr>
              <a:t>f label(z) = 1:</a:t>
            </a:r>
            <a:endParaRPr sz="1800">
              <a:solidFill>
                <a:schemeClr val="dk1"/>
              </a:solidFill>
            </a:endParaRPr>
          </a:p>
          <a:p>
            <a:pPr indent="0" lvl="0" marL="914400" rtl="0" algn="l">
              <a:spcBef>
                <a:spcPts val="0"/>
              </a:spcBef>
              <a:spcAft>
                <a:spcPts val="0"/>
              </a:spcAft>
              <a:buNone/>
            </a:pPr>
            <a:r>
              <a:rPr lang="en" sz="1800">
                <a:solidFill>
                  <a:schemeClr val="dk1"/>
                </a:solidFill>
              </a:rPr>
              <a:t>remove all p ∈ P with p ⪰ z </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else:</a:t>
            </a:r>
            <a:endParaRPr sz="1800">
              <a:solidFill>
                <a:schemeClr val="dk1"/>
              </a:solidFill>
            </a:endParaRPr>
          </a:p>
          <a:p>
            <a:pPr indent="0" lvl="0" marL="914400" rtl="0" algn="l">
              <a:spcBef>
                <a:spcPts val="0"/>
              </a:spcBef>
              <a:spcAft>
                <a:spcPts val="0"/>
              </a:spcAft>
              <a:buNone/>
            </a:pPr>
            <a:r>
              <a:rPr lang="en" sz="1800">
                <a:solidFill>
                  <a:schemeClr val="dk1"/>
                </a:solidFill>
              </a:rPr>
              <a:t>remove all p ∈ P with z ⪰ p</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return Z</a:t>
            </a:r>
            <a:endParaRPr sz="1800">
              <a:solidFill>
                <a:schemeClr val="dk1"/>
              </a:solidFill>
            </a:endParaRPr>
          </a:p>
        </p:txBody>
      </p:sp>
      <p:sp>
        <p:nvSpPr>
          <p:cNvPr id="355" name="Google Shape;355;p43"/>
          <p:cNvSpPr txBox="1"/>
          <p:nvPr>
            <p:ph type="title"/>
          </p:nvPr>
        </p:nvSpPr>
        <p:spPr>
          <a:xfrm>
            <a:off x="4832400" y="445025"/>
            <a:ext cx="399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Classifier Output</a:t>
            </a:r>
            <a:endParaRPr i="1" sz="1800"/>
          </a:p>
        </p:txBody>
      </p:sp>
      <p:cxnSp>
        <p:nvCxnSpPr>
          <p:cNvPr id="356" name="Google Shape;356;p43"/>
          <p:cNvCxnSpPr/>
          <p:nvPr/>
        </p:nvCxnSpPr>
        <p:spPr>
          <a:xfrm>
            <a:off x="4101450" y="731363"/>
            <a:ext cx="941100" cy="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4"/>
          <p:cNvSpPr txBox="1"/>
          <p:nvPr>
            <p:ph type="title"/>
          </p:nvPr>
        </p:nvSpPr>
        <p:spPr>
          <a:xfrm>
            <a:off x="311700" y="445025"/>
            <a:ext cx="399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RPE Algorithm</a:t>
            </a:r>
            <a:endParaRPr i="1" sz="1800"/>
          </a:p>
        </p:txBody>
      </p:sp>
      <p:sp>
        <p:nvSpPr>
          <p:cNvPr id="362" name="Google Shape;362;p44"/>
          <p:cNvSpPr txBox="1"/>
          <p:nvPr>
            <p:ph idx="1" type="body"/>
          </p:nvPr>
        </p:nvSpPr>
        <p:spPr>
          <a:xfrm>
            <a:off x="311700" y="1152475"/>
            <a:ext cx="3999900" cy="3416400"/>
          </a:xfrm>
          <a:prstGeom prst="rect">
            <a:avLst/>
          </a:prstGeom>
          <a:solidFill>
            <a:srgbClr val="CFE2F3">
              <a:alpha val="40000"/>
            </a:srgbClr>
          </a:solidFill>
          <a:ln cap="flat" cmpd="sng" w="952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algorithm RPE(P):</a:t>
            </a:r>
            <a:endParaRPr sz="1800">
              <a:solidFill>
                <a:schemeClr val="dk1"/>
              </a:solidFill>
            </a:endParaRPr>
          </a:p>
          <a:p>
            <a:pPr indent="-342900" lvl="0" marL="457200" rtl="0" algn="l">
              <a:spcBef>
                <a:spcPts val="1200"/>
              </a:spcBef>
              <a:spcAft>
                <a:spcPts val="0"/>
              </a:spcAft>
              <a:buClr>
                <a:schemeClr val="dk1"/>
              </a:buClr>
              <a:buSzPts val="1800"/>
              <a:buAutoNum type="arabicPeriod"/>
            </a:pPr>
            <a:r>
              <a:rPr lang="en" sz="1800">
                <a:solidFill>
                  <a:schemeClr val="dk1"/>
                </a:solidFill>
              </a:rPr>
              <a:t>Z = ∅</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while P ≠ ∅ do</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probe an element z ∈ P chosen uniformly at random; add z to Z</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if label(z) = 1:</a:t>
            </a:r>
            <a:endParaRPr sz="1800">
              <a:solidFill>
                <a:schemeClr val="dk1"/>
              </a:solidFill>
            </a:endParaRPr>
          </a:p>
          <a:p>
            <a:pPr indent="0" lvl="0" marL="914400" rtl="0" algn="l">
              <a:spcBef>
                <a:spcPts val="0"/>
              </a:spcBef>
              <a:spcAft>
                <a:spcPts val="0"/>
              </a:spcAft>
              <a:buNone/>
            </a:pPr>
            <a:r>
              <a:rPr lang="en" sz="1800">
                <a:solidFill>
                  <a:schemeClr val="dk1"/>
                </a:solidFill>
              </a:rPr>
              <a:t>remove all p ∈ P with p ⪰ z </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else:</a:t>
            </a:r>
            <a:endParaRPr sz="1800">
              <a:solidFill>
                <a:schemeClr val="dk1"/>
              </a:solidFill>
            </a:endParaRPr>
          </a:p>
          <a:p>
            <a:pPr indent="0" lvl="0" marL="914400" rtl="0" algn="l">
              <a:spcBef>
                <a:spcPts val="0"/>
              </a:spcBef>
              <a:spcAft>
                <a:spcPts val="0"/>
              </a:spcAft>
              <a:buNone/>
            </a:pPr>
            <a:r>
              <a:rPr lang="en" sz="1800">
                <a:solidFill>
                  <a:schemeClr val="dk1"/>
                </a:solidFill>
              </a:rPr>
              <a:t>remove all p ∈ P with z ⪰ p</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return Z</a:t>
            </a:r>
            <a:endParaRPr sz="1800">
              <a:solidFill>
                <a:schemeClr val="dk1"/>
              </a:solidFill>
            </a:endParaRPr>
          </a:p>
        </p:txBody>
      </p:sp>
      <p:sp>
        <p:nvSpPr>
          <p:cNvPr id="363" name="Google Shape;363;p44"/>
          <p:cNvSpPr txBox="1"/>
          <p:nvPr>
            <p:ph idx="2" type="body"/>
          </p:nvPr>
        </p:nvSpPr>
        <p:spPr>
          <a:xfrm>
            <a:off x="4832400" y="1152475"/>
            <a:ext cx="3999900" cy="1419300"/>
          </a:xfrm>
          <a:prstGeom prst="rect">
            <a:avLst/>
          </a:prstGeom>
          <a:solidFill>
            <a:srgbClr val="FFF2CC"/>
          </a:solidFill>
          <a:ln cap="flat" cmpd="sng" w="9525">
            <a:solidFill>
              <a:srgbClr val="F1C232"/>
            </a:solidFill>
            <a:prstDash val="solid"/>
            <a:round/>
            <a:headEnd len="sm" w="sm" type="none"/>
            <a:tailEnd len="sm" w="sm" type="none"/>
          </a:ln>
        </p:spPr>
        <p:txBody>
          <a:bodyPr anchorCtr="0" anchor="t" bIns="91425" lIns="91425" spcFirstLastPara="1" rIns="91425" wrap="square" tIns="91425">
            <a:normAutofit/>
          </a:bodyPr>
          <a:lstStyle/>
          <a:p>
            <a:pPr indent="457200" lvl="0" marL="914400" rtl="0" algn="l">
              <a:spcBef>
                <a:spcPts val="0"/>
              </a:spcBef>
              <a:spcAft>
                <a:spcPts val="0"/>
              </a:spcAft>
              <a:buNone/>
            </a:pPr>
            <a:r>
              <a:rPr lang="en" sz="1800">
                <a:solidFill>
                  <a:schemeClr val="dk1"/>
                </a:solidFill>
              </a:rPr>
              <a:t>+1 if ∃ z ∈ Z s.t. </a:t>
            </a:r>
            <a:endParaRPr sz="1800">
              <a:solidFill>
                <a:schemeClr val="dk1"/>
              </a:solidFill>
            </a:endParaRPr>
          </a:p>
          <a:p>
            <a:pPr indent="457200" lvl="0" marL="914400" rtl="0" algn="l">
              <a:spcBef>
                <a:spcPts val="1200"/>
              </a:spcBef>
              <a:spcAft>
                <a:spcPts val="0"/>
              </a:spcAft>
              <a:buClr>
                <a:schemeClr val="dk1"/>
              </a:buClr>
              <a:buSzPts val="1100"/>
              <a:buFont typeface="Arial"/>
              <a:buNone/>
            </a:pPr>
            <a:r>
              <a:rPr lang="en" sz="1800">
                <a:solidFill>
                  <a:schemeClr val="dk1"/>
                </a:solidFill>
              </a:rPr>
              <a:t> label(z)=1 and p ⪰ z;</a:t>
            </a:r>
            <a:endParaRPr sz="1800">
              <a:solidFill>
                <a:schemeClr val="dk1"/>
              </a:solidFill>
            </a:endParaRPr>
          </a:p>
          <a:p>
            <a:pPr indent="457200" lvl="0" marL="914400" rtl="0" algn="l">
              <a:spcBef>
                <a:spcPts val="1200"/>
              </a:spcBef>
              <a:spcAft>
                <a:spcPts val="1200"/>
              </a:spcAft>
              <a:buNone/>
            </a:pPr>
            <a:r>
              <a:rPr lang="en" sz="1800">
                <a:solidFill>
                  <a:schemeClr val="dk1"/>
                </a:solidFill>
              </a:rPr>
              <a:t>-1 otherwise. </a:t>
            </a:r>
            <a:endParaRPr sz="1500">
              <a:solidFill>
                <a:schemeClr val="dk1"/>
              </a:solidFill>
            </a:endParaRPr>
          </a:p>
        </p:txBody>
      </p:sp>
      <p:sp>
        <p:nvSpPr>
          <p:cNvPr id="364" name="Google Shape;364;p44"/>
          <p:cNvSpPr txBox="1"/>
          <p:nvPr>
            <p:ph type="title"/>
          </p:nvPr>
        </p:nvSpPr>
        <p:spPr>
          <a:xfrm>
            <a:off x="4832400" y="445025"/>
            <a:ext cx="399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Classifier Output</a:t>
            </a:r>
            <a:endParaRPr i="1" sz="1800"/>
          </a:p>
        </p:txBody>
      </p:sp>
      <p:cxnSp>
        <p:nvCxnSpPr>
          <p:cNvPr id="365" name="Google Shape;365;p44"/>
          <p:cNvCxnSpPr/>
          <p:nvPr/>
        </p:nvCxnSpPr>
        <p:spPr>
          <a:xfrm>
            <a:off x="4101450" y="731363"/>
            <a:ext cx="941100" cy="0"/>
          </a:xfrm>
          <a:prstGeom prst="straightConnector1">
            <a:avLst/>
          </a:prstGeom>
          <a:noFill/>
          <a:ln cap="flat" cmpd="sng" w="28575">
            <a:solidFill>
              <a:schemeClr val="dk1"/>
            </a:solidFill>
            <a:prstDash val="solid"/>
            <a:round/>
            <a:headEnd len="med" w="med" type="none"/>
            <a:tailEnd len="med" w="med" type="triangle"/>
          </a:ln>
        </p:spPr>
      </p:cxnSp>
      <p:sp>
        <p:nvSpPr>
          <p:cNvPr id="366" name="Google Shape;366;p44"/>
          <p:cNvSpPr txBox="1"/>
          <p:nvPr/>
        </p:nvSpPr>
        <p:spPr>
          <a:xfrm>
            <a:off x="4832400" y="1220525"/>
            <a:ext cx="1456800" cy="118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h</a:t>
            </a:r>
            <a:r>
              <a:rPr baseline="-25000" lang="en" sz="1800">
                <a:solidFill>
                  <a:schemeClr val="dk1"/>
                </a:solidFill>
              </a:rPr>
              <a:t>RPE</a:t>
            </a:r>
            <a:r>
              <a:rPr lang="en" sz="1800">
                <a:solidFill>
                  <a:schemeClr val="dk1"/>
                </a:solidFill>
              </a:rPr>
              <a:t>(p) = </a:t>
            </a:r>
            <a:r>
              <a:rPr lang="en" sz="6500">
                <a:solidFill>
                  <a:schemeClr val="dk1"/>
                </a:solidFill>
              </a:rPr>
              <a:t>{</a:t>
            </a:r>
            <a:r>
              <a:rPr lang="en" sz="1800">
                <a:solidFill>
                  <a:schemeClr val="dk1"/>
                </a:solidFill>
              </a:rPr>
              <a:t> </a:t>
            </a:r>
            <a:endParaRPr/>
          </a:p>
        </p:txBody>
      </p:sp>
      <p:sp>
        <p:nvSpPr>
          <p:cNvPr id="367" name="Google Shape;367;p44"/>
          <p:cNvSpPr txBox="1"/>
          <p:nvPr/>
        </p:nvSpPr>
        <p:spPr>
          <a:xfrm>
            <a:off x="4832400" y="2778575"/>
            <a:ext cx="3999900" cy="174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dk1"/>
                </a:solidFill>
              </a:rPr>
              <a:t>A point p is classified as positive if it lies above any known positive point; otherwise it is classified as negative.</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So, the algorithm only needs to remember: “Where are the confirmed positive points?”</a:t>
            </a:r>
            <a:endParaRPr sz="15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Classifier Always Monotone? Yes.</a:t>
            </a:r>
            <a:endParaRPr/>
          </a:p>
        </p:txBody>
      </p:sp>
      <p:sp>
        <p:nvSpPr>
          <p:cNvPr id="373" name="Google Shape;373;p45"/>
          <p:cNvSpPr txBox="1"/>
          <p:nvPr>
            <p:ph idx="1" type="body"/>
          </p:nvPr>
        </p:nvSpPr>
        <p:spPr>
          <a:xfrm>
            <a:off x="311700" y="1152475"/>
            <a:ext cx="8520600" cy="2130900"/>
          </a:xfrm>
          <a:prstGeom prst="rect">
            <a:avLst/>
          </a:prstGeom>
          <a:solidFill>
            <a:srgbClr val="FFF2CC"/>
          </a:solidFill>
          <a:ln cap="flat" cmpd="sng" w="9525">
            <a:solidFill>
              <a:srgbClr val="F1C232"/>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800">
                <a:solidFill>
                  <a:schemeClr val="dk1"/>
                </a:solidFill>
              </a:rPr>
              <a:t>Suppose there exist points p ⪰ q s</a:t>
            </a:r>
            <a:r>
              <a:rPr lang="en">
                <a:solidFill>
                  <a:schemeClr val="dk1"/>
                </a:solidFill>
              </a:rPr>
              <a:t>uch that </a:t>
            </a:r>
            <a:r>
              <a:rPr lang="en" sz="1800">
                <a:solidFill>
                  <a:schemeClr val="dk1"/>
                </a:solidFill>
              </a:rPr>
              <a:t>h</a:t>
            </a:r>
            <a:r>
              <a:rPr baseline="-25000" lang="en" sz="1800">
                <a:solidFill>
                  <a:schemeClr val="dk1"/>
                </a:solidFill>
              </a:rPr>
              <a:t>RPE</a:t>
            </a:r>
            <a:r>
              <a:rPr lang="en" sz="1800">
                <a:solidFill>
                  <a:schemeClr val="dk1"/>
                </a:solidFill>
              </a:rPr>
              <a:t>(p) = -1 and h</a:t>
            </a:r>
            <a:r>
              <a:rPr baseline="-25000" lang="en" sz="1800">
                <a:solidFill>
                  <a:schemeClr val="dk1"/>
                </a:solidFill>
              </a:rPr>
              <a:t>RPE</a:t>
            </a:r>
            <a:r>
              <a:rPr lang="en" sz="1800">
                <a:solidFill>
                  <a:schemeClr val="dk1"/>
                </a:solidFill>
              </a:rPr>
              <a:t>(q) = +1.</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Since h</a:t>
            </a:r>
            <a:r>
              <a:rPr baseline="-25000" lang="en" sz="1800">
                <a:solidFill>
                  <a:schemeClr val="dk1"/>
                </a:solidFill>
              </a:rPr>
              <a:t>RPE</a:t>
            </a:r>
            <a:r>
              <a:rPr lang="en" sz="1800">
                <a:solidFill>
                  <a:schemeClr val="dk1"/>
                </a:solidFill>
              </a:rPr>
              <a:t>(q) = +1, there exists some z ∈ Z with label(z) = +1 s</a:t>
            </a:r>
            <a:r>
              <a:rPr lang="en">
                <a:solidFill>
                  <a:schemeClr val="dk1"/>
                </a:solidFill>
              </a:rPr>
              <a:t>uch that</a:t>
            </a:r>
            <a:r>
              <a:rPr lang="en" sz="1800">
                <a:solidFill>
                  <a:schemeClr val="dk1"/>
                </a:solidFill>
              </a:rPr>
              <a:t> q ⪰ z.</a:t>
            </a:r>
            <a:endParaRPr sz="1800">
              <a:solidFill>
                <a:schemeClr val="dk1"/>
              </a:solidFill>
            </a:endParaRPr>
          </a:p>
          <a:p>
            <a:pPr indent="0" lvl="0" marL="0" rtl="0" algn="l">
              <a:lnSpc>
                <a:spcPct val="150000"/>
              </a:lnSpc>
              <a:spcBef>
                <a:spcPts val="0"/>
              </a:spcBef>
              <a:spcAft>
                <a:spcPts val="0"/>
              </a:spcAft>
              <a:buNone/>
            </a:pPr>
            <a:r>
              <a:rPr lang="en">
                <a:solidFill>
                  <a:schemeClr val="dk1"/>
                </a:solidFill>
              </a:rPr>
              <a:t>Thus</a:t>
            </a:r>
            <a:r>
              <a:rPr lang="en" sz="1800">
                <a:solidFill>
                  <a:schemeClr val="dk1"/>
                </a:solidFill>
              </a:rPr>
              <a:t>, p ⪰ q ⪰ z and by transitivity, p ⪰ z.</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If p ⪰ z and label(z) = + 1, h</a:t>
            </a:r>
            <a:r>
              <a:rPr baseline="-25000" lang="en" sz="1800">
                <a:solidFill>
                  <a:schemeClr val="dk1"/>
                </a:solidFill>
              </a:rPr>
              <a:t>RPE</a:t>
            </a:r>
            <a:r>
              <a:rPr lang="en" sz="1800">
                <a:solidFill>
                  <a:schemeClr val="dk1"/>
                </a:solidFill>
              </a:rPr>
              <a:t>(p) = </a:t>
            </a:r>
            <a:r>
              <a:rPr lang="en">
                <a:solidFill>
                  <a:schemeClr val="dk1"/>
                </a:solidFill>
              </a:rPr>
              <a:t>+</a:t>
            </a:r>
            <a:r>
              <a:rPr lang="en" sz="1800">
                <a:solidFill>
                  <a:schemeClr val="dk1"/>
                </a:solidFill>
              </a:rPr>
              <a:t>1.</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Contradiction!</a:t>
            </a:r>
            <a:endParaRPr sz="18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Classifier Always Monotone? Yes.</a:t>
            </a:r>
            <a:endParaRPr/>
          </a:p>
        </p:txBody>
      </p:sp>
      <p:sp>
        <p:nvSpPr>
          <p:cNvPr id="379" name="Google Shape;379;p46"/>
          <p:cNvSpPr txBox="1"/>
          <p:nvPr>
            <p:ph idx="1" type="body"/>
          </p:nvPr>
        </p:nvSpPr>
        <p:spPr>
          <a:xfrm>
            <a:off x="311700" y="1152475"/>
            <a:ext cx="8520600" cy="2130900"/>
          </a:xfrm>
          <a:prstGeom prst="rect">
            <a:avLst/>
          </a:prstGeom>
          <a:solidFill>
            <a:srgbClr val="FFF2CC"/>
          </a:solidFill>
          <a:ln cap="flat" cmpd="sng" w="9525">
            <a:solidFill>
              <a:srgbClr val="F1C232"/>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800">
                <a:solidFill>
                  <a:schemeClr val="dk1"/>
                </a:solidFill>
              </a:rPr>
              <a:t>Suppose there exist points p ⪰ q s</a:t>
            </a:r>
            <a:r>
              <a:rPr lang="en">
                <a:solidFill>
                  <a:schemeClr val="dk1"/>
                </a:solidFill>
              </a:rPr>
              <a:t>uch that </a:t>
            </a:r>
            <a:r>
              <a:rPr lang="en" sz="1800">
                <a:solidFill>
                  <a:schemeClr val="dk1"/>
                </a:solidFill>
              </a:rPr>
              <a:t>h</a:t>
            </a:r>
            <a:r>
              <a:rPr baseline="-25000" lang="en" sz="1800">
                <a:solidFill>
                  <a:schemeClr val="dk1"/>
                </a:solidFill>
              </a:rPr>
              <a:t>RPE</a:t>
            </a:r>
            <a:r>
              <a:rPr lang="en" sz="1800">
                <a:solidFill>
                  <a:schemeClr val="dk1"/>
                </a:solidFill>
              </a:rPr>
              <a:t>(p) = -1 and h</a:t>
            </a:r>
            <a:r>
              <a:rPr baseline="-25000" lang="en" sz="1800">
                <a:solidFill>
                  <a:schemeClr val="dk1"/>
                </a:solidFill>
              </a:rPr>
              <a:t>RPE</a:t>
            </a:r>
            <a:r>
              <a:rPr lang="en" sz="1800">
                <a:solidFill>
                  <a:schemeClr val="dk1"/>
                </a:solidFill>
              </a:rPr>
              <a:t>(q) = +1.</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Since h</a:t>
            </a:r>
            <a:r>
              <a:rPr baseline="-25000" lang="en" sz="1800">
                <a:solidFill>
                  <a:schemeClr val="dk1"/>
                </a:solidFill>
              </a:rPr>
              <a:t>RPE</a:t>
            </a:r>
            <a:r>
              <a:rPr lang="en" sz="1800">
                <a:solidFill>
                  <a:schemeClr val="dk1"/>
                </a:solidFill>
              </a:rPr>
              <a:t>(q) = +1, there exists some z ∈ Z with label(z) = +1 s</a:t>
            </a:r>
            <a:r>
              <a:rPr lang="en">
                <a:solidFill>
                  <a:schemeClr val="dk1"/>
                </a:solidFill>
              </a:rPr>
              <a:t>uch that</a:t>
            </a:r>
            <a:r>
              <a:rPr lang="en" sz="1800">
                <a:solidFill>
                  <a:schemeClr val="dk1"/>
                </a:solidFill>
              </a:rPr>
              <a:t> q ⪰ z.</a:t>
            </a:r>
            <a:endParaRPr sz="1800">
              <a:solidFill>
                <a:schemeClr val="dk1"/>
              </a:solidFill>
            </a:endParaRPr>
          </a:p>
          <a:p>
            <a:pPr indent="0" lvl="0" marL="0" rtl="0" algn="l">
              <a:lnSpc>
                <a:spcPct val="150000"/>
              </a:lnSpc>
              <a:spcBef>
                <a:spcPts val="0"/>
              </a:spcBef>
              <a:spcAft>
                <a:spcPts val="0"/>
              </a:spcAft>
              <a:buNone/>
            </a:pPr>
            <a:r>
              <a:rPr lang="en">
                <a:solidFill>
                  <a:schemeClr val="dk1"/>
                </a:solidFill>
              </a:rPr>
              <a:t>Thus</a:t>
            </a:r>
            <a:r>
              <a:rPr lang="en" sz="1800">
                <a:solidFill>
                  <a:schemeClr val="dk1"/>
                </a:solidFill>
              </a:rPr>
              <a:t>, p ⪰ q ⪰ z and by transitivity, p ⪰ z.</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If p ⪰ z and label(z) = + 1, h</a:t>
            </a:r>
            <a:r>
              <a:rPr baseline="-25000" lang="en" sz="1800">
                <a:solidFill>
                  <a:schemeClr val="dk1"/>
                </a:solidFill>
              </a:rPr>
              <a:t>RPE</a:t>
            </a:r>
            <a:r>
              <a:rPr lang="en" sz="1800">
                <a:solidFill>
                  <a:schemeClr val="dk1"/>
                </a:solidFill>
              </a:rPr>
              <a:t>(p) = </a:t>
            </a:r>
            <a:r>
              <a:rPr lang="en">
                <a:solidFill>
                  <a:schemeClr val="dk1"/>
                </a:solidFill>
              </a:rPr>
              <a:t>+</a:t>
            </a:r>
            <a:r>
              <a:rPr lang="en" sz="1800">
                <a:solidFill>
                  <a:schemeClr val="dk1"/>
                </a:solidFill>
              </a:rPr>
              <a:t>1.</a:t>
            </a:r>
            <a:endParaRPr sz="1800">
              <a:solidFill>
                <a:schemeClr val="dk1"/>
              </a:solidFill>
            </a:endParaRPr>
          </a:p>
          <a:p>
            <a:pPr indent="0" lvl="0" marL="0" rtl="0" algn="l">
              <a:lnSpc>
                <a:spcPct val="150000"/>
              </a:lnSpc>
              <a:spcBef>
                <a:spcPts val="0"/>
              </a:spcBef>
              <a:spcAft>
                <a:spcPts val="0"/>
              </a:spcAft>
              <a:buNone/>
            </a:pPr>
            <a:r>
              <a:rPr lang="en" sz="1800">
                <a:solidFill>
                  <a:schemeClr val="dk1"/>
                </a:solidFill>
              </a:rPr>
              <a:t>Contradiction!</a:t>
            </a:r>
            <a:endParaRPr sz="1800">
              <a:solidFill>
                <a:schemeClr val="dk1"/>
              </a:solidFill>
            </a:endParaRPr>
          </a:p>
        </p:txBody>
      </p:sp>
      <p:sp>
        <p:nvSpPr>
          <p:cNvPr id="380" name="Google Shape;380;p46"/>
          <p:cNvSpPr txBox="1"/>
          <p:nvPr>
            <p:ph idx="4294967295" type="body"/>
          </p:nvPr>
        </p:nvSpPr>
        <p:spPr>
          <a:xfrm>
            <a:off x="311700" y="3479475"/>
            <a:ext cx="6568800" cy="13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If a point q is labelled +1, it must be “supported” by some positive probe z. If another point p is even better than q, then p is also better than z. </a:t>
            </a:r>
            <a:endParaRPr sz="1500">
              <a:solidFill>
                <a:schemeClr val="dk1"/>
              </a:solidFill>
            </a:endParaRPr>
          </a:p>
          <a:p>
            <a:pPr indent="0" lvl="0" marL="0" rtl="0" algn="l">
              <a:spcBef>
                <a:spcPts val="1200"/>
              </a:spcBef>
              <a:spcAft>
                <a:spcPts val="1200"/>
              </a:spcAft>
              <a:buNone/>
            </a:pPr>
            <a:r>
              <a:rPr lang="en" sz="1500">
                <a:solidFill>
                  <a:schemeClr val="dk1"/>
                </a:solidFill>
              </a:rPr>
              <a:t>So, if q is good enough to be +1, then p must also be +1!</a:t>
            </a:r>
            <a:endParaRPr sz="1500">
              <a:solidFill>
                <a:schemeClr val="dk1"/>
              </a:solidFill>
            </a:endParaRPr>
          </a:p>
        </p:txBody>
      </p:sp>
      <p:pic>
        <p:nvPicPr>
          <p:cNvPr descr="a close up of a cat licking its paw against a white background . (Provided by Tenor)" id="381" name="Google Shape;381;p46"/>
          <p:cNvPicPr preferRelativeResize="0"/>
          <p:nvPr/>
        </p:nvPicPr>
        <p:blipFill rotWithShape="1">
          <a:blip r:embed="rId3">
            <a:alphaModFix/>
          </a:blip>
          <a:srcRect b="0" l="0" r="18274" t="0"/>
          <a:stretch/>
        </p:blipFill>
        <p:spPr>
          <a:xfrm flipH="1">
            <a:off x="6964450" y="3418125"/>
            <a:ext cx="1867850" cy="15180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cxnSp>
        <p:nvCxnSpPr>
          <p:cNvPr id="386" name="Google Shape;386;p47"/>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387" name="Google Shape;387;p47"/>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388" name="Google Shape;388;p47"/>
          <p:cNvSpPr/>
          <p:nvPr/>
        </p:nvSpPr>
        <p:spPr>
          <a:xfrm>
            <a:off x="710709" y="3803915"/>
            <a:ext cx="235800" cy="235800"/>
          </a:xfrm>
          <a:prstGeom prst="ellipse">
            <a:avLst/>
          </a:prstGeom>
          <a:no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89" name="Google Shape;389;p47"/>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390" name="Google Shape;390;p47"/>
          <p:cNvSpPr/>
          <p:nvPr/>
        </p:nvSpPr>
        <p:spPr>
          <a:xfrm>
            <a:off x="710709" y="3261079"/>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91" name="Google Shape;391;p47"/>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392" name="Google Shape;392;p47"/>
          <p:cNvSpPr/>
          <p:nvPr/>
        </p:nvSpPr>
        <p:spPr>
          <a:xfrm>
            <a:off x="1025097" y="23803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93" name="Google Shape;393;p47"/>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394" name="Google Shape;394;p47"/>
          <p:cNvSpPr/>
          <p:nvPr/>
        </p:nvSpPr>
        <p:spPr>
          <a:xfrm>
            <a:off x="1300269" y="1497192"/>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95" name="Google Shape;395;p47"/>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396" name="Google Shape;396;p47"/>
          <p:cNvSpPr/>
          <p:nvPr/>
        </p:nvSpPr>
        <p:spPr>
          <a:xfrm>
            <a:off x="2204111" y="1318595"/>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97" name="Google Shape;397;p47"/>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398" name="Google Shape;398;p47"/>
          <p:cNvSpPr/>
          <p:nvPr/>
        </p:nvSpPr>
        <p:spPr>
          <a:xfrm>
            <a:off x="2518559" y="168110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399" name="Google Shape;399;p47"/>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400" name="Google Shape;400;p47"/>
          <p:cNvSpPr/>
          <p:nvPr/>
        </p:nvSpPr>
        <p:spPr>
          <a:xfrm>
            <a:off x="3248274" y="24750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01" name="Google Shape;401;p47"/>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402" name="Google Shape;402;p47"/>
          <p:cNvSpPr/>
          <p:nvPr/>
        </p:nvSpPr>
        <p:spPr>
          <a:xfrm>
            <a:off x="2885217" y="2099018"/>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03" name="Google Shape;403;p47"/>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404" name="Google Shape;404;p47"/>
          <p:cNvSpPr/>
          <p:nvPr/>
        </p:nvSpPr>
        <p:spPr>
          <a:xfrm>
            <a:off x="3562696" y="2910247"/>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05" name="Google Shape;405;p47"/>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406" name="Google Shape;406;p47"/>
          <p:cNvSpPr/>
          <p:nvPr/>
        </p:nvSpPr>
        <p:spPr>
          <a:xfrm>
            <a:off x="1614655" y="349964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07" name="Google Shape;407;p47"/>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408" name="Google Shape;408;p47"/>
          <p:cNvSpPr/>
          <p:nvPr/>
        </p:nvSpPr>
        <p:spPr>
          <a:xfrm>
            <a:off x="2256401" y="3235440"/>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09" name="Google Shape;409;p47"/>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410" name="Google Shape;410;p47"/>
          <p:cNvSpPr/>
          <p:nvPr/>
        </p:nvSpPr>
        <p:spPr>
          <a:xfrm>
            <a:off x="4087871" y="3255442"/>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11" name="Google Shape;411;p47"/>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412" name="Google Shape;412;p47"/>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13" name="Google Shape;413;p47"/>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414" name="Google Shape;414;p47"/>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15" name="Google Shape;415;p47"/>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416" name="Google Shape;416;p47"/>
          <p:cNvSpPr/>
          <p:nvPr/>
        </p:nvSpPr>
        <p:spPr>
          <a:xfrm>
            <a:off x="2256505" y="41319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17" name="Google Shape;417;p47"/>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418" name="Google Shape;41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419" name="Google Shape;419;p47"/>
          <p:cNvSpPr/>
          <p:nvPr/>
        </p:nvSpPr>
        <p:spPr>
          <a:xfrm>
            <a:off x="4087946" y="1312967"/>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20" name="Google Shape;420;p47"/>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cxnSp>
        <p:nvCxnSpPr>
          <p:cNvPr id="425" name="Google Shape;425;p48"/>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426" name="Google Shape;426;p48"/>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427" name="Google Shape;427;p48"/>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28" name="Google Shape;428;p48"/>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429" name="Google Shape;429;p48"/>
          <p:cNvSpPr/>
          <p:nvPr/>
        </p:nvSpPr>
        <p:spPr>
          <a:xfrm>
            <a:off x="710709" y="3261079"/>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30" name="Google Shape;430;p48"/>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431" name="Google Shape;431;p48"/>
          <p:cNvSpPr/>
          <p:nvPr/>
        </p:nvSpPr>
        <p:spPr>
          <a:xfrm>
            <a:off x="1025097" y="23803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32" name="Google Shape;432;p48"/>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433" name="Google Shape;433;p48"/>
          <p:cNvSpPr/>
          <p:nvPr/>
        </p:nvSpPr>
        <p:spPr>
          <a:xfrm>
            <a:off x="1300269" y="1497192"/>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34" name="Google Shape;434;p48"/>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435" name="Google Shape;435;p48"/>
          <p:cNvSpPr/>
          <p:nvPr/>
        </p:nvSpPr>
        <p:spPr>
          <a:xfrm>
            <a:off x="2204111" y="1318595"/>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36" name="Google Shape;436;p48"/>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437" name="Google Shape;437;p48"/>
          <p:cNvSpPr/>
          <p:nvPr/>
        </p:nvSpPr>
        <p:spPr>
          <a:xfrm>
            <a:off x="2518559" y="168110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38" name="Google Shape;438;p48"/>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439" name="Google Shape;439;p48"/>
          <p:cNvSpPr/>
          <p:nvPr/>
        </p:nvSpPr>
        <p:spPr>
          <a:xfrm>
            <a:off x="3248274" y="24750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40" name="Google Shape;440;p48"/>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441" name="Google Shape;441;p48"/>
          <p:cNvSpPr/>
          <p:nvPr/>
        </p:nvSpPr>
        <p:spPr>
          <a:xfrm>
            <a:off x="2885217" y="2099018"/>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42" name="Google Shape;442;p48"/>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443" name="Google Shape;443;p48"/>
          <p:cNvSpPr/>
          <p:nvPr/>
        </p:nvSpPr>
        <p:spPr>
          <a:xfrm>
            <a:off x="3562696" y="2910247"/>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44" name="Google Shape;444;p48"/>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445" name="Google Shape;445;p48"/>
          <p:cNvSpPr/>
          <p:nvPr/>
        </p:nvSpPr>
        <p:spPr>
          <a:xfrm>
            <a:off x="1614655" y="349964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46" name="Google Shape;446;p48"/>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447" name="Google Shape;447;p48"/>
          <p:cNvSpPr/>
          <p:nvPr/>
        </p:nvSpPr>
        <p:spPr>
          <a:xfrm>
            <a:off x="2256401" y="3235440"/>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48" name="Google Shape;448;p48"/>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449" name="Google Shape;449;p48"/>
          <p:cNvSpPr/>
          <p:nvPr/>
        </p:nvSpPr>
        <p:spPr>
          <a:xfrm>
            <a:off x="4087871" y="3255442"/>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50" name="Google Shape;450;p48"/>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451" name="Google Shape;451;p48"/>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52" name="Google Shape;452;p48"/>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453" name="Google Shape;453;p48"/>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54" name="Google Shape;454;p48"/>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455" name="Google Shape;455;p48"/>
          <p:cNvSpPr/>
          <p:nvPr/>
        </p:nvSpPr>
        <p:spPr>
          <a:xfrm>
            <a:off x="2256505" y="41319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56" name="Google Shape;456;p48"/>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457" name="Google Shape;45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458" name="Google Shape;458;p48"/>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1: Probe p</a:t>
            </a:r>
            <a:r>
              <a:rPr baseline="-25000" lang="en" sz="1700">
                <a:solidFill>
                  <a:schemeClr val="lt1"/>
                </a:solidFill>
              </a:rPr>
              <a:t>1</a:t>
            </a:r>
            <a:endParaRPr baseline="-25000" sz="1700">
              <a:solidFill>
                <a:schemeClr val="lt1"/>
              </a:solidFill>
            </a:endParaRPr>
          </a:p>
        </p:txBody>
      </p:sp>
      <p:sp>
        <p:nvSpPr>
          <p:cNvPr id="459" name="Google Shape;459;p48"/>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1</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460" name="Google Shape;460;p48"/>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461" name="Google Shape;461;p48"/>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462" name="Google Shape;462;p48"/>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463" name="Google Shape;463;p48"/>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464" name="Google Shape;464;p48"/>
          <p:cNvSpPr/>
          <p:nvPr/>
        </p:nvSpPr>
        <p:spPr>
          <a:xfrm>
            <a:off x="4087946" y="1312967"/>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65" name="Google Shape;465;p48"/>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9"/>
          <p:cNvSpPr/>
          <p:nvPr/>
        </p:nvSpPr>
        <p:spPr>
          <a:xfrm>
            <a:off x="4087946" y="1312967"/>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71" name="Google Shape;471;p49"/>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cxnSp>
        <p:nvCxnSpPr>
          <p:cNvPr id="472" name="Google Shape;472;p49"/>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473" name="Google Shape;473;p49"/>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474" name="Google Shape;474;p49"/>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75" name="Google Shape;475;p49"/>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476" name="Google Shape;476;p49"/>
          <p:cNvSpPr/>
          <p:nvPr/>
        </p:nvSpPr>
        <p:spPr>
          <a:xfrm>
            <a:off x="710709" y="3261079"/>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77" name="Google Shape;477;p49"/>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478" name="Google Shape;478;p49"/>
          <p:cNvSpPr/>
          <p:nvPr/>
        </p:nvSpPr>
        <p:spPr>
          <a:xfrm>
            <a:off x="1025097" y="23803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79" name="Google Shape;479;p49"/>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480" name="Google Shape;480;p49"/>
          <p:cNvSpPr/>
          <p:nvPr/>
        </p:nvSpPr>
        <p:spPr>
          <a:xfrm>
            <a:off x="1300269" y="1497192"/>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81" name="Google Shape;481;p49"/>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482" name="Google Shape;482;p49"/>
          <p:cNvSpPr/>
          <p:nvPr/>
        </p:nvSpPr>
        <p:spPr>
          <a:xfrm>
            <a:off x="2204111" y="1318595"/>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83" name="Google Shape;483;p49"/>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484" name="Google Shape;484;p49"/>
          <p:cNvSpPr/>
          <p:nvPr/>
        </p:nvSpPr>
        <p:spPr>
          <a:xfrm>
            <a:off x="2518559" y="168110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85" name="Google Shape;485;p49"/>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486" name="Google Shape;486;p49"/>
          <p:cNvSpPr/>
          <p:nvPr/>
        </p:nvSpPr>
        <p:spPr>
          <a:xfrm>
            <a:off x="3248274" y="2475056"/>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87" name="Google Shape;487;p49"/>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488" name="Google Shape;488;p49"/>
          <p:cNvSpPr/>
          <p:nvPr/>
        </p:nvSpPr>
        <p:spPr>
          <a:xfrm>
            <a:off x="2885217" y="2099018"/>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89" name="Google Shape;489;p49"/>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490" name="Google Shape;490;p49"/>
          <p:cNvSpPr/>
          <p:nvPr/>
        </p:nvSpPr>
        <p:spPr>
          <a:xfrm>
            <a:off x="3562696" y="2910247"/>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91" name="Google Shape;491;p49"/>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492" name="Google Shape;492;p49"/>
          <p:cNvSpPr/>
          <p:nvPr/>
        </p:nvSpPr>
        <p:spPr>
          <a:xfrm>
            <a:off x="1614655" y="349964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93" name="Google Shape;493;p49"/>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494" name="Google Shape;494;p49"/>
          <p:cNvSpPr/>
          <p:nvPr/>
        </p:nvSpPr>
        <p:spPr>
          <a:xfrm>
            <a:off x="2256401" y="3235440"/>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95" name="Google Shape;495;p49"/>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496" name="Google Shape;496;p49"/>
          <p:cNvSpPr/>
          <p:nvPr/>
        </p:nvSpPr>
        <p:spPr>
          <a:xfrm>
            <a:off x="4087871" y="3255442"/>
            <a:ext cx="235800" cy="2313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97" name="Google Shape;497;p49"/>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498" name="Google Shape;498;p49"/>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499" name="Google Shape;499;p49"/>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500" name="Google Shape;500;p49"/>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01" name="Google Shape;501;p49"/>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502" name="Google Shape;502;p49"/>
          <p:cNvSpPr/>
          <p:nvPr/>
        </p:nvSpPr>
        <p:spPr>
          <a:xfrm>
            <a:off x="2256505" y="41319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03" name="Google Shape;503;p49"/>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504" name="Google Shape;50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505" name="Google Shape;505;p49"/>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1: Probe p</a:t>
            </a:r>
            <a:r>
              <a:rPr baseline="-25000" lang="en" sz="1700">
                <a:solidFill>
                  <a:schemeClr val="lt1"/>
                </a:solidFill>
              </a:rPr>
              <a:t>1</a:t>
            </a:r>
            <a:endParaRPr baseline="-25000" sz="1700">
              <a:solidFill>
                <a:schemeClr val="lt1"/>
              </a:solidFill>
            </a:endParaRPr>
          </a:p>
        </p:txBody>
      </p:sp>
      <p:sp>
        <p:nvSpPr>
          <p:cNvPr id="506" name="Google Shape;506;p49"/>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1</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RPE removes every p ⪰ p</a:t>
            </a:r>
            <a:r>
              <a:rPr baseline="-25000" lang="en" sz="1500">
                <a:solidFill>
                  <a:schemeClr val="dk1"/>
                </a:solidFill>
              </a:rPr>
              <a:t>1</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507" name="Google Shape;507;p49"/>
          <p:cNvSpPr/>
          <p:nvPr/>
        </p:nvSpPr>
        <p:spPr>
          <a:xfrm>
            <a:off x="787700" y="1079600"/>
            <a:ext cx="3575100" cy="2853600"/>
          </a:xfrm>
          <a:prstGeom prst="rect">
            <a:avLst/>
          </a:prstGeom>
          <a:solidFill>
            <a:srgbClr val="B6D7A8">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sp>
        <p:nvSpPr>
          <p:cNvPr id="508" name="Google Shape;508;p49"/>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509" name="Google Shape;509;p49"/>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510" name="Google Shape;510;p49"/>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511" name="Google Shape;511;p49"/>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cxnSp>
        <p:nvCxnSpPr>
          <p:cNvPr id="516" name="Google Shape;516;p50"/>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517" name="Google Shape;517;p50"/>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518" name="Google Shape;518;p50"/>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19" name="Google Shape;519;p50"/>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520" name="Google Shape;520;p50"/>
          <p:cNvSpPr/>
          <p:nvPr/>
        </p:nvSpPr>
        <p:spPr>
          <a:xfrm>
            <a:off x="710709" y="3261079"/>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21" name="Google Shape;521;p50"/>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522" name="Google Shape;522;p50"/>
          <p:cNvSpPr/>
          <p:nvPr/>
        </p:nvSpPr>
        <p:spPr>
          <a:xfrm>
            <a:off x="1025097" y="23803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23" name="Google Shape;523;p50"/>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524" name="Google Shape;524;p50"/>
          <p:cNvSpPr/>
          <p:nvPr/>
        </p:nvSpPr>
        <p:spPr>
          <a:xfrm>
            <a:off x="1300269" y="1497192"/>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25" name="Google Shape;525;p50"/>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526" name="Google Shape;526;p50"/>
          <p:cNvSpPr/>
          <p:nvPr/>
        </p:nvSpPr>
        <p:spPr>
          <a:xfrm>
            <a:off x="2204111" y="131859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27" name="Google Shape;527;p50"/>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528" name="Google Shape;528;p50"/>
          <p:cNvSpPr/>
          <p:nvPr/>
        </p:nvSpPr>
        <p:spPr>
          <a:xfrm>
            <a:off x="2518559" y="168110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29" name="Google Shape;529;p50"/>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530" name="Google Shape;530;p50"/>
          <p:cNvSpPr/>
          <p:nvPr/>
        </p:nvSpPr>
        <p:spPr>
          <a:xfrm>
            <a:off x="3248274" y="24750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31" name="Google Shape;531;p50"/>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532" name="Google Shape;532;p50"/>
          <p:cNvSpPr/>
          <p:nvPr/>
        </p:nvSpPr>
        <p:spPr>
          <a:xfrm>
            <a:off x="2885217" y="2099018"/>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33" name="Google Shape;533;p50"/>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534" name="Google Shape;534;p50"/>
          <p:cNvSpPr/>
          <p:nvPr/>
        </p:nvSpPr>
        <p:spPr>
          <a:xfrm>
            <a:off x="3562696" y="2910247"/>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35" name="Google Shape;535;p50"/>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536" name="Google Shape;536;p50"/>
          <p:cNvSpPr/>
          <p:nvPr/>
        </p:nvSpPr>
        <p:spPr>
          <a:xfrm>
            <a:off x="1614655" y="349964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37" name="Google Shape;537;p50"/>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538" name="Google Shape;538;p50"/>
          <p:cNvSpPr/>
          <p:nvPr/>
        </p:nvSpPr>
        <p:spPr>
          <a:xfrm>
            <a:off x="2256401" y="3235440"/>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39" name="Google Shape;539;p50"/>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540" name="Google Shape;540;p50"/>
          <p:cNvSpPr/>
          <p:nvPr/>
        </p:nvSpPr>
        <p:spPr>
          <a:xfrm>
            <a:off x="4087871" y="3255442"/>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41" name="Google Shape;541;p50"/>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542" name="Google Shape;542;p50"/>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43" name="Google Shape;543;p50"/>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544" name="Google Shape;544;p50"/>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45" name="Google Shape;545;p50"/>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546" name="Google Shape;546;p50"/>
          <p:cNvSpPr/>
          <p:nvPr/>
        </p:nvSpPr>
        <p:spPr>
          <a:xfrm>
            <a:off x="2256505" y="41319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47" name="Google Shape;547;p50"/>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548" name="Google Shape;548;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549" name="Google Shape;549;p50"/>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1: Probe p</a:t>
            </a:r>
            <a:r>
              <a:rPr baseline="-25000" lang="en" sz="1700">
                <a:solidFill>
                  <a:schemeClr val="lt1"/>
                </a:solidFill>
              </a:rPr>
              <a:t>1</a:t>
            </a:r>
            <a:endParaRPr baseline="-25000" sz="1700">
              <a:solidFill>
                <a:schemeClr val="lt1"/>
              </a:solidFill>
            </a:endParaRPr>
          </a:p>
        </p:txBody>
      </p:sp>
      <p:sp>
        <p:nvSpPr>
          <p:cNvPr id="550" name="Google Shape;550;p50"/>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1</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RPE removes every p ⪰ p</a:t>
            </a:r>
            <a:r>
              <a:rPr baseline="-25000" lang="en" sz="1500">
                <a:solidFill>
                  <a:schemeClr val="dk1"/>
                </a:solidFill>
              </a:rPr>
              <a:t>1</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551" name="Google Shape;551;p50"/>
          <p:cNvSpPr/>
          <p:nvPr/>
        </p:nvSpPr>
        <p:spPr>
          <a:xfrm>
            <a:off x="5646000" y="2530425"/>
            <a:ext cx="3186300" cy="5727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13 points are eliminated</a:t>
            </a:r>
            <a:endParaRPr baseline="-25000" sz="1500">
              <a:solidFill>
                <a:schemeClr val="dk1"/>
              </a:solidFill>
            </a:endParaRPr>
          </a:p>
        </p:txBody>
      </p:sp>
      <p:sp>
        <p:nvSpPr>
          <p:cNvPr id="552" name="Google Shape;552;p50"/>
          <p:cNvSpPr/>
          <p:nvPr/>
        </p:nvSpPr>
        <p:spPr>
          <a:xfrm>
            <a:off x="5646000" y="3231825"/>
            <a:ext cx="31863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3 points remain: p</a:t>
            </a:r>
            <a:r>
              <a:rPr baseline="-25000" lang="en" sz="1500">
                <a:solidFill>
                  <a:schemeClr val="dk1"/>
                </a:solidFill>
              </a:rPr>
              <a:t>6</a:t>
            </a:r>
            <a:r>
              <a:rPr lang="en" sz="1500">
                <a:solidFill>
                  <a:schemeClr val="dk1"/>
                </a:solidFill>
              </a:rPr>
              <a:t>, p</a:t>
            </a:r>
            <a:r>
              <a:rPr baseline="-25000" lang="en" sz="1500">
                <a:solidFill>
                  <a:schemeClr val="dk1"/>
                </a:solidFill>
              </a:rPr>
              <a:t>7</a:t>
            </a:r>
            <a:r>
              <a:rPr lang="en" sz="1500">
                <a:solidFill>
                  <a:schemeClr val="dk1"/>
                </a:solidFill>
              </a:rPr>
              <a:t>, p</a:t>
            </a:r>
            <a:r>
              <a:rPr baseline="-25000" lang="en" sz="1500">
                <a:solidFill>
                  <a:schemeClr val="dk1"/>
                </a:solidFill>
              </a:rPr>
              <a:t>8</a:t>
            </a:r>
            <a:r>
              <a:rPr lang="en" sz="1500">
                <a:solidFill>
                  <a:schemeClr val="dk1"/>
                </a:solidFill>
              </a:rPr>
              <a:t> </a:t>
            </a:r>
            <a:endParaRPr baseline="-25000" sz="1500">
              <a:solidFill>
                <a:schemeClr val="dk1"/>
              </a:solidFill>
            </a:endParaRPr>
          </a:p>
        </p:txBody>
      </p:sp>
      <p:sp>
        <p:nvSpPr>
          <p:cNvPr id="553" name="Google Shape;553;p50"/>
          <p:cNvSpPr/>
          <p:nvPr/>
        </p:nvSpPr>
        <p:spPr>
          <a:xfrm>
            <a:off x="5646000" y="3933225"/>
            <a:ext cx="3186300" cy="10314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 sz="1500">
                <a:solidFill>
                  <a:schemeClr val="dk1"/>
                </a:solidFill>
              </a:rPr>
              <a:t>Cost = 1 probe	</a:t>
            </a:r>
            <a:endParaRPr sz="1500">
              <a:solidFill>
                <a:schemeClr val="dk1"/>
              </a:solidFill>
            </a:endParaRPr>
          </a:p>
          <a:p>
            <a:pPr indent="0" lvl="0" marL="0" rtl="0" algn="ctr">
              <a:lnSpc>
                <a:spcPct val="150000"/>
              </a:lnSpc>
              <a:spcBef>
                <a:spcPts val="0"/>
              </a:spcBef>
              <a:spcAft>
                <a:spcPts val="0"/>
              </a:spcAft>
              <a:buNone/>
            </a:pPr>
            <a:r>
              <a:rPr lang="en" sz="1500">
                <a:solidFill>
                  <a:schemeClr val="dk1"/>
                </a:solidFill>
              </a:rPr>
              <a:t>Points determined = 13/16</a:t>
            </a:r>
            <a:endParaRPr baseline="-25000" sz="1500">
              <a:solidFill>
                <a:schemeClr val="dk1"/>
              </a:solidFill>
            </a:endParaRPr>
          </a:p>
        </p:txBody>
      </p:sp>
      <p:sp>
        <p:nvSpPr>
          <p:cNvPr id="554" name="Google Shape;554;p50"/>
          <p:cNvSpPr/>
          <p:nvPr/>
        </p:nvSpPr>
        <p:spPr>
          <a:xfrm>
            <a:off x="4087946" y="1312967"/>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55" name="Google Shape;555;p50"/>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
        <p:nvSpPr>
          <p:cNvPr id="556" name="Google Shape;556;p50"/>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557" name="Google Shape;557;p50"/>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558" name="Google Shape;558;p50"/>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559" name="Google Shape;559;p50"/>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cxnSp>
        <p:nvCxnSpPr>
          <p:cNvPr id="564" name="Google Shape;564;p51"/>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565" name="Google Shape;565;p51"/>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566" name="Google Shape;566;p51"/>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67" name="Google Shape;567;p51"/>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568" name="Google Shape;568;p51"/>
          <p:cNvSpPr/>
          <p:nvPr/>
        </p:nvSpPr>
        <p:spPr>
          <a:xfrm>
            <a:off x="710709" y="3261079"/>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69" name="Google Shape;569;p51"/>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570" name="Google Shape;570;p51"/>
          <p:cNvSpPr/>
          <p:nvPr/>
        </p:nvSpPr>
        <p:spPr>
          <a:xfrm>
            <a:off x="1025097" y="23803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71" name="Google Shape;571;p51"/>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572" name="Google Shape;572;p51"/>
          <p:cNvSpPr/>
          <p:nvPr/>
        </p:nvSpPr>
        <p:spPr>
          <a:xfrm>
            <a:off x="1300269" y="1497192"/>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73" name="Google Shape;573;p51"/>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574" name="Google Shape;574;p51"/>
          <p:cNvSpPr/>
          <p:nvPr/>
        </p:nvSpPr>
        <p:spPr>
          <a:xfrm>
            <a:off x="2204111" y="131859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75" name="Google Shape;575;p51"/>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576" name="Google Shape;576;p51"/>
          <p:cNvSpPr/>
          <p:nvPr/>
        </p:nvSpPr>
        <p:spPr>
          <a:xfrm>
            <a:off x="2518559" y="168110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77" name="Google Shape;577;p51"/>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578" name="Google Shape;578;p51"/>
          <p:cNvSpPr/>
          <p:nvPr/>
        </p:nvSpPr>
        <p:spPr>
          <a:xfrm>
            <a:off x="3248274" y="24750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79" name="Google Shape;579;p51"/>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580" name="Google Shape;580;p51"/>
          <p:cNvSpPr/>
          <p:nvPr/>
        </p:nvSpPr>
        <p:spPr>
          <a:xfrm>
            <a:off x="2885217" y="2099018"/>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81" name="Google Shape;581;p51"/>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582" name="Google Shape;582;p51"/>
          <p:cNvSpPr/>
          <p:nvPr/>
        </p:nvSpPr>
        <p:spPr>
          <a:xfrm>
            <a:off x="3562696" y="2910247"/>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83" name="Google Shape;583;p51"/>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584" name="Google Shape;584;p51"/>
          <p:cNvSpPr/>
          <p:nvPr/>
        </p:nvSpPr>
        <p:spPr>
          <a:xfrm>
            <a:off x="1614655" y="349964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85" name="Google Shape;585;p51"/>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586" name="Google Shape;586;p51"/>
          <p:cNvSpPr/>
          <p:nvPr/>
        </p:nvSpPr>
        <p:spPr>
          <a:xfrm>
            <a:off x="2256401" y="3235440"/>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87" name="Google Shape;587;p51"/>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588" name="Google Shape;588;p51"/>
          <p:cNvSpPr/>
          <p:nvPr/>
        </p:nvSpPr>
        <p:spPr>
          <a:xfrm>
            <a:off x="4087871" y="3255442"/>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89" name="Google Shape;589;p51"/>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590" name="Google Shape;590;p51"/>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91" name="Google Shape;591;p51"/>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592" name="Google Shape;592;p51"/>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93" name="Google Shape;593;p51"/>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594" name="Google Shape;594;p51"/>
          <p:cNvSpPr/>
          <p:nvPr/>
        </p:nvSpPr>
        <p:spPr>
          <a:xfrm>
            <a:off x="2256505" y="4131991"/>
            <a:ext cx="235800" cy="235800"/>
          </a:xfrm>
          <a:prstGeom prst="ellipse">
            <a:avLst/>
          </a:prstGeom>
          <a:solidFill>
            <a:srgbClr val="EA9999"/>
          </a:solidFill>
          <a:ln cap="flat" cmpd="sng" w="15425">
            <a:solidFill>
              <a:srgbClr val="CC0000"/>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595" name="Google Shape;595;p51"/>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596" name="Google Shape;59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597" name="Google Shape;597;p51"/>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2: Probe p</a:t>
            </a:r>
            <a:r>
              <a:rPr baseline="-25000" lang="en" sz="1700">
                <a:solidFill>
                  <a:schemeClr val="lt1"/>
                </a:solidFill>
              </a:rPr>
              <a:t>8</a:t>
            </a:r>
            <a:endParaRPr baseline="-25000" sz="1700">
              <a:solidFill>
                <a:schemeClr val="lt1"/>
              </a:solidFill>
            </a:endParaRPr>
          </a:p>
        </p:txBody>
      </p:sp>
      <p:sp>
        <p:nvSpPr>
          <p:cNvPr id="598" name="Google Shape;598;p51"/>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8</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599" name="Google Shape;599;p51"/>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00" name="Google Shape;600;p51"/>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601" name="Google Shape;601;p51"/>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02" name="Google Shape;602;p51"/>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603" name="Google Shape;603;p51"/>
          <p:cNvSpPr/>
          <p:nvPr/>
        </p:nvSpPr>
        <p:spPr>
          <a:xfrm>
            <a:off x="4087946" y="1312967"/>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04" name="Google Shape;604;p51"/>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cxnSp>
        <p:nvCxnSpPr>
          <p:cNvPr id="609" name="Google Shape;609;p52"/>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610" name="Google Shape;610;p52"/>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611" name="Google Shape;611;p52"/>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12" name="Google Shape;612;p52"/>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613" name="Google Shape;613;p52"/>
          <p:cNvSpPr/>
          <p:nvPr/>
        </p:nvSpPr>
        <p:spPr>
          <a:xfrm>
            <a:off x="710709" y="3261079"/>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14" name="Google Shape;614;p52"/>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615" name="Google Shape;615;p52"/>
          <p:cNvSpPr/>
          <p:nvPr/>
        </p:nvSpPr>
        <p:spPr>
          <a:xfrm>
            <a:off x="1025097" y="23803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16" name="Google Shape;616;p52"/>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617" name="Google Shape;617;p52"/>
          <p:cNvSpPr/>
          <p:nvPr/>
        </p:nvSpPr>
        <p:spPr>
          <a:xfrm>
            <a:off x="1300269" y="1497192"/>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18" name="Google Shape;618;p52"/>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619" name="Google Shape;619;p52"/>
          <p:cNvSpPr/>
          <p:nvPr/>
        </p:nvSpPr>
        <p:spPr>
          <a:xfrm>
            <a:off x="2204111" y="131859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20" name="Google Shape;620;p52"/>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621" name="Google Shape;621;p52"/>
          <p:cNvSpPr/>
          <p:nvPr/>
        </p:nvSpPr>
        <p:spPr>
          <a:xfrm>
            <a:off x="2518559" y="168110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22" name="Google Shape;622;p52"/>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623" name="Google Shape;623;p52"/>
          <p:cNvSpPr/>
          <p:nvPr/>
        </p:nvSpPr>
        <p:spPr>
          <a:xfrm>
            <a:off x="3248274" y="24750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24" name="Google Shape;624;p52"/>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625" name="Google Shape;625;p52"/>
          <p:cNvSpPr/>
          <p:nvPr/>
        </p:nvSpPr>
        <p:spPr>
          <a:xfrm>
            <a:off x="2885217" y="2099018"/>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26" name="Google Shape;626;p52"/>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627" name="Google Shape;627;p52"/>
          <p:cNvSpPr/>
          <p:nvPr/>
        </p:nvSpPr>
        <p:spPr>
          <a:xfrm>
            <a:off x="3562696" y="2910247"/>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28" name="Google Shape;628;p52"/>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629" name="Google Shape;629;p52"/>
          <p:cNvSpPr/>
          <p:nvPr/>
        </p:nvSpPr>
        <p:spPr>
          <a:xfrm>
            <a:off x="1614655" y="349964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30" name="Google Shape;630;p52"/>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631" name="Google Shape;631;p52"/>
          <p:cNvSpPr/>
          <p:nvPr/>
        </p:nvSpPr>
        <p:spPr>
          <a:xfrm>
            <a:off x="2256401" y="3235440"/>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32" name="Google Shape;632;p52"/>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633" name="Google Shape;633;p52"/>
          <p:cNvSpPr/>
          <p:nvPr/>
        </p:nvSpPr>
        <p:spPr>
          <a:xfrm>
            <a:off x="4087871" y="3255442"/>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34" name="Google Shape;634;p52"/>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635" name="Google Shape;635;p52"/>
          <p:cNvSpPr/>
          <p:nvPr/>
        </p:nvSpPr>
        <p:spPr>
          <a:xfrm>
            <a:off x="188970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36" name="Google Shape;636;p52"/>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637" name="Google Shape;637;p52"/>
          <p:cNvSpPr/>
          <p:nvPr/>
        </p:nvSpPr>
        <p:spPr>
          <a:xfrm>
            <a:off x="2256455" y="4611191"/>
            <a:ext cx="235800" cy="235800"/>
          </a:xfrm>
          <a:prstGeom prst="ellipse">
            <a:avLst/>
          </a:prstGeom>
          <a:solidFill>
            <a:schemeClr val="lt1"/>
          </a:solidFill>
          <a:ln cap="flat" cmpd="sng" w="15425">
            <a:solidFill>
              <a:schemeClr val="dk1"/>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38" name="Google Shape;638;p52"/>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639" name="Google Shape;639;p52"/>
          <p:cNvSpPr/>
          <p:nvPr/>
        </p:nvSpPr>
        <p:spPr>
          <a:xfrm>
            <a:off x="2256505" y="4131991"/>
            <a:ext cx="235800" cy="235800"/>
          </a:xfrm>
          <a:prstGeom prst="ellipse">
            <a:avLst/>
          </a:prstGeom>
          <a:solidFill>
            <a:srgbClr val="EA9999"/>
          </a:solidFill>
          <a:ln cap="flat" cmpd="sng" w="15425">
            <a:solidFill>
              <a:srgbClr val="CC0000"/>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40" name="Google Shape;640;p52"/>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641" name="Google Shape;64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642" name="Google Shape;642;p52"/>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2: Probe p</a:t>
            </a:r>
            <a:r>
              <a:rPr baseline="-25000" lang="en" sz="1700">
                <a:solidFill>
                  <a:schemeClr val="lt1"/>
                </a:solidFill>
              </a:rPr>
              <a:t>8</a:t>
            </a:r>
            <a:endParaRPr baseline="-25000" sz="1700">
              <a:solidFill>
                <a:schemeClr val="lt1"/>
              </a:solidFill>
            </a:endParaRPr>
          </a:p>
        </p:txBody>
      </p:sp>
      <p:sp>
        <p:nvSpPr>
          <p:cNvPr id="643" name="Google Shape;643;p52"/>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8</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RPE removes every p ⪯ p</a:t>
            </a:r>
            <a:r>
              <a:rPr baseline="-25000" lang="en" sz="1500">
                <a:solidFill>
                  <a:schemeClr val="dk1"/>
                </a:solidFill>
              </a:rPr>
              <a:t>8</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644" name="Google Shape;644;p52"/>
          <p:cNvSpPr/>
          <p:nvPr/>
        </p:nvSpPr>
        <p:spPr>
          <a:xfrm>
            <a:off x="5646000" y="2530425"/>
            <a:ext cx="3186300" cy="5727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p</a:t>
            </a:r>
            <a:r>
              <a:rPr baseline="-25000" lang="en" sz="1500">
                <a:solidFill>
                  <a:schemeClr val="dk1"/>
                </a:solidFill>
              </a:rPr>
              <a:t>6</a:t>
            </a:r>
            <a:r>
              <a:rPr lang="en" sz="1500">
                <a:solidFill>
                  <a:schemeClr val="dk1"/>
                </a:solidFill>
              </a:rPr>
              <a:t>, p</a:t>
            </a:r>
            <a:r>
              <a:rPr baseline="-25000" lang="en" sz="1500">
                <a:solidFill>
                  <a:schemeClr val="dk1"/>
                </a:solidFill>
              </a:rPr>
              <a:t>7</a:t>
            </a:r>
            <a:r>
              <a:rPr lang="en" sz="1500">
                <a:solidFill>
                  <a:schemeClr val="dk1"/>
                </a:solidFill>
              </a:rPr>
              <a:t>, p</a:t>
            </a:r>
            <a:r>
              <a:rPr baseline="-25000" lang="en" sz="1500">
                <a:solidFill>
                  <a:schemeClr val="dk1"/>
                </a:solidFill>
              </a:rPr>
              <a:t>8</a:t>
            </a:r>
            <a:r>
              <a:rPr lang="en" sz="1500">
                <a:solidFill>
                  <a:schemeClr val="dk1"/>
                </a:solidFill>
              </a:rPr>
              <a:t> are eliminated</a:t>
            </a:r>
            <a:endParaRPr baseline="-25000" sz="1500">
              <a:solidFill>
                <a:schemeClr val="dk1"/>
              </a:solidFill>
            </a:endParaRPr>
          </a:p>
        </p:txBody>
      </p:sp>
      <p:sp>
        <p:nvSpPr>
          <p:cNvPr id="645" name="Google Shape;645;p52"/>
          <p:cNvSpPr/>
          <p:nvPr/>
        </p:nvSpPr>
        <p:spPr>
          <a:xfrm>
            <a:off x="472725" y="4239725"/>
            <a:ext cx="1967100" cy="707700"/>
          </a:xfrm>
          <a:prstGeom prst="rect">
            <a:avLst/>
          </a:prstGeom>
          <a:solidFill>
            <a:srgbClr val="F4CCCC">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lt1"/>
              </a:solidFill>
            </a:endParaRPr>
          </a:p>
        </p:txBody>
      </p:sp>
      <p:sp>
        <p:nvSpPr>
          <p:cNvPr id="646" name="Google Shape;646;p52"/>
          <p:cNvSpPr/>
          <p:nvPr/>
        </p:nvSpPr>
        <p:spPr>
          <a:xfrm>
            <a:off x="4087946" y="1312967"/>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47" name="Google Shape;647;p52"/>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
        <p:nvSpPr>
          <p:cNvPr id="648" name="Google Shape;648;p52"/>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49" name="Google Shape;649;p52"/>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650" name="Google Shape;650;p52"/>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51" name="Google Shape;651;p52"/>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cxnSp>
        <p:nvCxnSpPr>
          <p:cNvPr id="656" name="Google Shape;656;p53"/>
          <p:cNvCxnSpPr/>
          <p:nvPr/>
        </p:nvCxnSpPr>
        <p:spPr>
          <a:xfrm>
            <a:off x="466725" y="1123950"/>
            <a:ext cx="6000" cy="3823500"/>
          </a:xfrm>
          <a:prstGeom prst="straightConnector1">
            <a:avLst/>
          </a:prstGeom>
          <a:noFill/>
          <a:ln cap="flat" cmpd="sng" w="29175">
            <a:solidFill>
              <a:schemeClr val="dk2"/>
            </a:solidFill>
            <a:prstDash val="solid"/>
            <a:round/>
            <a:headEnd len="med" w="med" type="none"/>
            <a:tailEnd len="med" w="med" type="none"/>
          </a:ln>
        </p:spPr>
      </p:cxnSp>
      <p:cxnSp>
        <p:nvCxnSpPr>
          <p:cNvPr id="657" name="Google Shape;657;p53"/>
          <p:cNvCxnSpPr/>
          <p:nvPr/>
        </p:nvCxnSpPr>
        <p:spPr>
          <a:xfrm flipH="1">
            <a:off x="454600" y="4961646"/>
            <a:ext cx="4905600" cy="3000"/>
          </a:xfrm>
          <a:prstGeom prst="straightConnector1">
            <a:avLst/>
          </a:prstGeom>
          <a:noFill/>
          <a:ln cap="flat" cmpd="sng" w="29175">
            <a:solidFill>
              <a:schemeClr val="dk2"/>
            </a:solidFill>
            <a:prstDash val="solid"/>
            <a:round/>
            <a:headEnd len="med" w="med" type="none"/>
            <a:tailEnd len="med" w="med" type="none"/>
          </a:ln>
        </p:spPr>
      </p:cxnSp>
      <p:sp>
        <p:nvSpPr>
          <p:cNvPr id="658" name="Google Shape;658;p53"/>
          <p:cNvSpPr/>
          <p:nvPr/>
        </p:nvSpPr>
        <p:spPr>
          <a:xfrm>
            <a:off x="710709" y="380391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59" name="Google Shape;659;p53"/>
          <p:cNvSpPr txBox="1"/>
          <p:nvPr>
            <p:ph idx="1" type="body"/>
          </p:nvPr>
        </p:nvSpPr>
        <p:spPr>
          <a:xfrm>
            <a:off x="671349" y="3503044"/>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a:t>
            </a:r>
            <a:endParaRPr b="1" sz="1134">
              <a:solidFill>
                <a:schemeClr val="dk1"/>
              </a:solidFill>
            </a:endParaRPr>
          </a:p>
        </p:txBody>
      </p:sp>
      <p:sp>
        <p:nvSpPr>
          <p:cNvPr id="660" name="Google Shape;660;p53"/>
          <p:cNvSpPr/>
          <p:nvPr/>
        </p:nvSpPr>
        <p:spPr>
          <a:xfrm>
            <a:off x="710709" y="3261079"/>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61" name="Google Shape;661;p53"/>
          <p:cNvSpPr txBox="1"/>
          <p:nvPr>
            <p:ph idx="1" type="body"/>
          </p:nvPr>
        </p:nvSpPr>
        <p:spPr>
          <a:xfrm>
            <a:off x="671349" y="2960209"/>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2</a:t>
            </a:r>
            <a:endParaRPr b="1" sz="1134">
              <a:solidFill>
                <a:schemeClr val="dk1"/>
              </a:solidFill>
            </a:endParaRPr>
          </a:p>
        </p:txBody>
      </p:sp>
      <p:sp>
        <p:nvSpPr>
          <p:cNvPr id="662" name="Google Shape;662;p53"/>
          <p:cNvSpPr/>
          <p:nvPr/>
        </p:nvSpPr>
        <p:spPr>
          <a:xfrm>
            <a:off x="1025097" y="23803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63" name="Google Shape;663;p53"/>
          <p:cNvSpPr txBox="1"/>
          <p:nvPr>
            <p:ph idx="1" type="body"/>
          </p:nvPr>
        </p:nvSpPr>
        <p:spPr>
          <a:xfrm>
            <a:off x="985738" y="20794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3</a:t>
            </a:r>
            <a:endParaRPr b="1" sz="1134">
              <a:solidFill>
                <a:schemeClr val="dk1"/>
              </a:solidFill>
            </a:endParaRPr>
          </a:p>
        </p:txBody>
      </p:sp>
      <p:sp>
        <p:nvSpPr>
          <p:cNvPr id="664" name="Google Shape;664;p53"/>
          <p:cNvSpPr/>
          <p:nvPr/>
        </p:nvSpPr>
        <p:spPr>
          <a:xfrm>
            <a:off x="1300269" y="1497192"/>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65" name="Google Shape;665;p53"/>
          <p:cNvSpPr txBox="1"/>
          <p:nvPr>
            <p:ph idx="1" type="body"/>
          </p:nvPr>
        </p:nvSpPr>
        <p:spPr>
          <a:xfrm>
            <a:off x="1260909" y="1196322"/>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4</a:t>
            </a:r>
            <a:endParaRPr b="1" sz="1134">
              <a:solidFill>
                <a:schemeClr val="dk1"/>
              </a:solidFill>
            </a:endParaRPr>
          </a:p>
        </p:txBody>
      </p:sp>
      <p:sp>
        <p:nvSpPr>
          <p:cNvPr id="666" name="Google Shape;666;p53"/>
          <p:cNvSpPr/>
          <p:nvPr/>
        </p:nvSpPr>
        <p:spPr>
          <a:xfrm>
            <a:off x="2204111" y="1318595"/>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67" name="Google Shape;667;p53"/>
          <p:cNvSpPr txBox="1"/>
          <p:nvPr>
            <p:ph idx="1" type="body"/>
          </p:nvPr>
        </p:nvSpPr>
        <p:spPr>
          <a:xfrm>
            <a:off x="2164752" y="101772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10</a:t>
            </a:r>
            <a:endParaRPr b="1" sz="1134">
              <a:solidFill>
                <a:schemeClr val="dk1"/>
              </a:solidFill>
            </a:endParaRPr>
          </a:p>
        </p:txBody>
      </p:sp>
      <p:sp>
        <p:nvSpPr>
          <p:cNvPr id="668" name="Google Shape;668;p53"/>
          <p:cNvSpPr/>
          <p:nvPr/>
        </p:nvSpPr>
        <p:spPr>
          <a:xfrm>
            <a:off x="2518559" y="168110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69" name="Google Shape;669;p53"/>
          <p:cNvSpPr txBox="1"/>
          <p:nvPr>
            <p:ph idx="1" type="body"/>
          </p:nvPr>
        </p:nvSpPr>
        <p:spPr>
          <a:xfrm>
            <a:off x="2479200" y="138023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11</a:t>
            </a:r>
            <a:endParaRPr b="1" sz="1134">
              <a:solidFill>
                <a:schemeClr val="dk1"/>
              </a:solidFill>
            </a:endParaRPr>
          </a:p>
        </p:txBody>
      </p:sp>
      <p:sp>
        <p:nvSpPr>
          <p:cNvPr id="670" name="Google Shape;670;p53"/>
          <p:cNvSpPr/>
          <p:nvPr/>
        </p:nvSpPr>
        <p:spPr>
          <a:xfrm>
            <a:off x="3248274" y="2475056"/>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71" name="Google Shape;671;p53"/>
          <p:cNvSpPr txBox="1"/>
          <p:nvPr>
            <p:ph idx="1" type="body"/>
          </p:nvPr>
        </p:nvSpPr>
        <p:spPr>
          <a:xfrm>
            <a:off x="3208914" y="2174185"/>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13</a:t>
            </a:r>
            <a:endParaRPr b="1" sz="1134">
              <a:solidFill>
                <a:schemeClr val="dk1"/>
              </a:solidFill>
            </a:endParaRPr>
          </a:p>
        </p:txBody>
      </p:sp>
      <p:sp>
        <p:nvSpPr>
          <p:cNvPr id="672" name="Google Shape;672;p53"/>
          <p:cNvSpPr/>
          <p:nvPr/>
        </p:nvSpPr>
        <p:spPr>
          <a:xfrm>
            <a:off x="2885217" y="2099018"/>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73" name="Google Shape;673;p53"/>
          <p:cNvSpPr txBox="1"/>
          <p:nvPr>
            <p:ph idx="1" type="body"/>
          </p:nvPr>
        </p:nvSpPr>
        <p:spPr>
          <a:xfrm>
            <a:off x="2845857" y="1798148"/>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12</a:t>
            </a:r>
            <a:endParaRPr b="1" sz="1134">
              <a:solidFill>
                <a:schemeClr val="dk1"/>
              </a:solidFill>
            </a:endParaRPr>
          </a:p>
        </p:txBody>
      </p:sp>
      <p:sp>
        <p:nvSpPr>
          <p:cNvPr id="674" name="Google Shape;674;p53"/>
          <p:cNvSpPr/>
          <p:nvPr/>
        </p:nvSpPr>
        <p:spPr>
          <a:xfrm>
            <a:off x="3562696" y="2910247"/>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75" name="Google Shape;675;p53"/>
          <p:cNvSpPr txBox="1"/>
          <p:nvPr>
            <p:ph idx="1" type="body"/>
          </p:nvPr>
        </p:nvSpPr>
        <p:spPr>
          <a:xfrm>
            <a:off x="3523337" y="2609377"/>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14</a:t>
            </a:r>
            <a:endParaRPr b="1" sz="1134">
              <a:solidFill>
                <a:schemeClr val="dk1"/>
              </a:solidFill>
            </a:endParaRPr>
          </a:p>
        </p:txBody>
      </p:sp>
      <p:sp>
        <p:nvSpPr>
          <p:cNvPr id="676" name="Google Shape;676;p53"/>
          <p:cNvSpPr/>
          <p:nvPr/>
        </p:nvSpPr>
        <p:spPr>
          <a:xfrm>
            <a:off x="1614655" y="3499641"/>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77" name="Google Shape;677;p53"/>
          <p:cNvSpPr txBox="1"/>
          <p:nvPr>
            <p:ph idx="1" type="body"/>
          </p:nvPr>
        </p:nvSpPr>
        <p:spPr>
          <a:xfrm>
            <a:off x="1575295" y="319877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5</a:t>
            </a:r>
            <a:endParaRPr b="1" sz="1134">
              <a:solidFill>
                <a:schemeClr val="dk1"/>
              </a:solidFill>
            </a:endParaRPr>
          </a:p>
        </p:txBody>
      </p:sp>
      <p:sp>
        <p:nvSpPr>
          <p:cNvPr id="678" name="Google Shape;678;p53"/>
          <p:cNvSpPr/>
          <p:nvPr/>
        </p:nvSpPr>
        <p:spPr>
          <a:xfrm>
            <a:off x="2256401" y="3235440"/>
            <a:ext cx="235800" cy="2358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79" name="Google Shape;679;p53"/>
          <p:cNvSpPr txBox="1"/>
          <p:nvPr>
            <p:ph idx="1" type="body"/>
          </p:nvPr>
        </p:nvSpPr>
        <p:spPr>
          <a:xfrm>
            <a:off x="2217041" y="2934570"/>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9</a:t>
            </a:r>
            <a:endParaRPr b="1" sz="1134">
              <a:solidFill>
                <a:schemeClr val="dk1"/>
              </a:solidFill>
            </a:endParaRPr>
          </a:p>
        </p:txBody>
      </p:sp>
      <p:sp>
        <p:nvSpPr>
          <p:cNvPr id="680" name="Google Shape;680;p53"/>
          <p:cNvSpPr/>
          <p:nvPr/>
        </p:nvSpPr>
        <p:spPr>
          <a:xfrm>
            <a:off x="4087871" y="3255442"/>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81" name="Google Shape;681;p53"/>
          <p:cNvSpPr txBox="1"/>
          <p:nvPr>
            <p:ph idx="1" type="body"/>
          </p:nvPr>
        </p:nvSpPr>
        <p:spPr>
          <a:xfrm>
            <a:off x="4048511" y="2960200"/>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16</a:t>
            </a:r>
            <a:endParaRPr b="1" sz="1134">
              <a:solidFill>
                <a:schemeClr val="dk1"/>
              </a:solidFill>
            </a:endParaRPr>
          </a:p>
        </p:txBody>
      </p:sp>
      <p:sp>
        <p:nvSpPr>
          <p:cNvPr id="682" name="Google Shape;682;p53"/>
          <p:cNvSpPr/>
          <p:nvPr/>
        </p:nvSpPr>
        <p:spPr>
          <a:xfrm>
            <a:off x="1889705" y="4611191"/>
            <a:ext cx="235800" cy="235800"/>
          </a:xfrm>
          <a:prstGeom prst="ellipse">
            <a:avLst/>
          </a:prstGeom>
          <a:solidFill>
            <a:srgbClr val="EA9999"/>
          </a:solidFill>
          <a:ln cap="flat" cmpd="sng" w="15425">
            <a:solidFill>
              <a:srgbClr val="CC0000"/>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83" name="Google Shape;683;p53"/>
          <p:cNvSpPr txBox="1"/>
          <p:nvPr>
            <p:ph idx="1" type="body"/>
          </p:nvPr>
        </p:nvSpPr>
        <p:spPr>
          <a:xfrm>
            <a:off x="185034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6</a:t>
            </a:r>
            <a:endParaRPr b="1" sz="1134">
              <a:solidFill>
                <a:schemeClr val="dk1"/>
              </a:solidFill>
            </a:endParaRPr>
          </a:p>
        </p:txBody>
      </p:sp>
      <p:sp>
        <p:nvSpPr>
          <p:cNvPr id="684" name="Google Shape;684;p53"/>
          <p:cNvSpPr/>
          <p:nvPr/>
        </p:nvSpPr>
        <p:spPr>
          <a:xfrm>
            <a:off x="2256455" y="4611191"/>
            <a:ext cx="235800" cy="235800"/>
          </a:xfrm>
          <a:prstGeom prst="ellipse">
            <a:avLst/>
          </a:prstGeom>
          <a:solidFill>
            <a:srgbClr val="EA9999"/>
          </a:solidFill>
          <a:ln cap="flat" cmpd="sng" w="15425">
            <a:solidFill>
              <a:srgbClr val="CC0000"/>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85" name="Google Shape;685;p53"/>
          <p:cNvSpPr txBox="1"/>
          <p:nvPr>
            <p:ph idx="1" type="body"/>
          </p:nvPr>
        </p:nvSpPr>
        <p:spPr>
          <a:xfrm>
            <a:off x="2217095" y="43103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7</a:t>
            </a:r>
            <a:endParaRPr b="1" sz="1134">
              <a:solidFill>
                <a:schemeClr val="dk1"/>
              </a:solidFill>
            </a:endParaRPr>
          </a:p>
        </p:txBody>
      </p:sp>
      <p:sp>
        <p:nvSpPr>
          <p:cNvPr id="686" name="Google Shape;686;p53"/>
          <p:cNvSpPr/>
          <p:nvPr/>
        </p:nvSpPr>
        <p:spPr>
          <a:xfrm>
            <a:off x="2256505" y="4131991"/>
            <a:ext cx="235800" cy="235800"/>
          </a:xfrm>
          <a:prstGeom prst="ellipse">
            <a:avLst/>
          </a:prstGeom>
          <a:solidFill>
            <a:srgbClr val="EA9999"/>
          </a:solidFill>
          <a:ln cap="flat" cmpd="sng" w="15425">
            <a:solidFill>
              <a:srgbClr val="CC0000"/>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87" name="Google Shape;687;p53"/>
          <p:cNvSpPr txBox="1"/>
          <p:nvPr>
            <p:ph idx="1" type="body"/>
          </p:nvPr>
        </p:nvSpPr>
        <p:spPr>
          <a:xfrm>
            <a:off x="2217145" y="3831121"/>
            <a:ext cx="314400" cy="3027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8</a:t>
            </a:r>
            <a:endParaRPr b="1" sz="1134">
              <a:solidFill>
                <a:schemeClr val="dk1"/>
              </a:solidFill>
            </a:endParaRPr>
          </a:p>
        </p:txBody>
      </p:sp>
      <p:sp>
        <p:nvSpPr>
          <p:cNvPr id="688" name="Google Shape;68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Running Example</a:t>
            </a:r>
            <a:endParaRPr baseline="-25000"/>
          </a:p>
        </p:txBody>
      </p:sp>
      <p:sp>
        <p:nvSpPr>
          <p:cNvPr id="689" name="Google Shape;689;p53"/>
          <p:cNvSpPr/>
          <p:nvPr/>
        </p:nvSpPr>
        <p:spPr>
          <a:xfrm>
            <a:off x="5646000" y="1017725"/>
            <a:ext cx="3186300" cy="572700"/>
          </a:xfrm>
          <a:prstGeom prst="rect">
            <a:avLst/>
          </a:prstGeom>
          <a:solidFill>
            <a:srgbClr val="3D85C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lt1"/>
                </a:solidFill>
              </a:rPr>
              <a:t>Step 2: Probe p</a:t>
            </a:r>
            <a:r>
              <a:rPr baseline="-25000" lang="en" sz="1700">
                <a:solidFill>
                  <a:schemeClr val="lt1"/>
                </a:solidFill>
              </a:rPr>
              <a:t>8</a:t>
            </a:r>
            <a:endParaRPr baseline="-25000" sz="1700">
              <a:solidFill>
                <a:schemeClr val="lt1"/>
              </a:solidFill>
            </a:endParaRPr>
          </a:p>
        </p:txBody>
      </p:sp>
      <p:sp>
        <p:nvSpPr>
          <p:cNvPr id="690" name="Google Shape;690;p53"/>
          <p:cNvSpPr txBox="1"/>
          <p:nvPr>
            <p:ph idx="4294967295" type="subTitle"/>
          </p:nvPr>
        </p:nvSpPr>
        <p:spPr>
          <a:xfrm>
            <a:off x="5646000" y="1644625"/>
            <a:ext cx="3186300" cy="960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solidFill>
                  <a:schemeClr val="dk1"/>
                </a:solidFill>
              </a:rPr>
              <a:t>Oracle reveals label(p</a:t>
            </a:r>
            <a:r>
              <a:rPr baseline="-25000" lang="en" sz="1500">
                <a:solidFill>
                  <a:schemeClr val="dk1"/>
                </a:solidFill>
              </a:rPr>
              <a:t>8</a:t>
            </a:r>
            <a:r>
              <a:rPr lang="en" sz="1500">
                <a:solidFill>
                  <a:schemeClr val="dk1"/>
                </a:solidFill>
              </a:rPr>
              <a:t>) = -1</a:t>
            </a:r>
            <a:endParaRPr sz="1500">
              <a:solidFill>
                <a:schemeClr val="dk1"/>
              </a:solidFill>
            </a:endParaRPr>
          </a:p>
          <a:p>
            <a:pPr indent="0" lvl="0" marL="0" rtl="0" algn="l">
              <a:lnSpc>
                <a:spcPct val="150000"/>
              </a:lnSpc>
              <a:spcBef>
                <a:spcPts val="0"/>
              </a:spcBef>
              <a:spcAft>
                <a:spcPts val="0"/>
              </a:spcAft>
              <a:buNone/>
            </a:pPr>
            <a:r>
              <a:rPr lang="en" sz="1500">
                <a:solidFill>
                  <a:schemeClr val="dk1"/>
                </a:solidFill>
              </a:rPr>
              <a:t>RPE removes every p ⪯ p</a:t>
            </a:r>
            <a:r>
              <a:rPr baseline="-25000" lang="en" sz="1500">
                <a:solidFill>
                  <a:schemeClr val="dk1"/>
                </a:solidFill>
              </a:rPr>
              <a:t>8</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a:p>
            <a:pPr indent="0" lvl="0" marL="0" rtl="0" algn="l">
              <a:lnSpc>
                <a:spcPct val="150000"/>
              </a:lnSpc>
              <a:spcBef>
                <a:spcPts val="0"/>
              </a:spcBef>
              <a:spcAft>
                <a:spcPts val="0"/>
              </a:spcAft>
              <a:buNone/>
            </a:pPr>
            <a:r>
              <a:t/>
            </a:r>
            <a:endParaRPr sz="1500">
              <a:solidFill>
                <a:schemeClr val="dk1"/>
              </a:solidFill>
            </a:endParaRPr>
          </a:p>
        </p:txBody>
      </p:sp>
      <p:sp>
        <p:nvSpPr>
          <p:cNvPr id="691" name="Google Shape;691;p53"/>
          <p:cNvSpPr/>
          <p:nvPr/>
        </p:nvSpPr>
        <p:spPr>
          <a:xfrm>
            <a:off x="5646000" y="2530425"/>
            <a:ext cx="3186300" cy="5727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p</a:t>
            </a:r>
            <a:r>
              <a:rPr baseline="-25000" lang="en" sz="1500">
                <a:solidFill>
                  <a:schemeClr val="dk1"/>
                </a:solidFill>
              </a:rPr>
              <a:t>6</a:t>
            </a:r>
            <a:r>
              <a:rPr lang="en" sz="1500">
                <a:solidFill>
                  <a:schemeClr val="dk1"/>
                </a:solidFill>
              </a:rPr>
              <a:t>, p</a:t>
            </a:r>
            <a:r>
              <a:rPr baseline="-25000" lang="en" sz="1500">
                <a:solidFill>
                  <a:schemeClr val="dk1"/>
                </a:solidFill>
              </a:rPr>
              <a:t>7</a:t>
            </a:r>
            <a:r>
              <a:rPr lang="en" sz="1500">
                <a:solidFill>
                  <a:schemeClr val="dk1"/>
                </a:solidFill>
              </a:rPr>
              <a:t>, p</a:t>
            </a:r>
            <a:r>
              <a:rPr baseline="-25000" lang="en" sz="1500">
                <a:solidFill>
                  <a:schemeClr val="dk1"/>
                </a:solidFill>
              </a:rPr>
              <a:t>8</a:t>
            </a:r>
            <a:r>
              <a:rPr lang="en" sz="1500">
                <a:solidFill>
                  <a:schemeClr val="dk1"/>
                </a:solidFill>
              </a:rPr>
              <a:t> are eliminated</a:t>
            </a:r>
            <a:endParaRPr baseline="-25000" sz="1500">
              <a:solidFill>
                <a:schemeClr val="dk1"/>
              </a:solidFill>
            </a:endParaRPr>
          </a:p>
        </p:txBody>
      </p:sp>
      <p:sp>
        <p:nvSpPr>
          <p:cNvPr id="692" name="Google Shape;692;p53"/>
          <p:cNvSpPr/>
          <p:nvPr/>
        </p:nvSpPr>
        <p:spPr>
          <a:xfrm>
            <a:off x="5646000" y="3231825"/>
            <a:ext cx="31863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1"/>
                </a:solidFill>
              </a:rPr>
              <a:t>RPE terminates with Z = { p</a:t>
            </a:r>
            <a:r>
              <a:rPr baseline="-25000" lang="en" sz="1500">
                <a:solidFill>
                  <a:schemeClr val="dk1"/>
                </a:solidFill>
              </a:rPr>
              <a:t>1 </a:t>
            </a:r>
            <a:r>
              <a:rPr lang="en" sz="1500">
                <a:solidFill>
                  <a:schemeClr val="dk1"/>
                </a:solidFill>
              </a:rPr>
              <a:t>, p</a:t>
            </a:r>
            <a:r>
              <a:rPr baseline="-25000" lang="en" sz="1500">
                <a:solidFill>
                  <a:schemeClr val="dk1"/>
                </a:solidFill>
              </a:rPr>
              <a:t>8</a:t>
            </a:r>
            <a:r>
              <a:rPr lang="en" sz="1500">
                <a:solidFill>
                  <a:schemeClr val="dk1"/>
                </a:solidFill>
              </a:rPr>
              <a:t> }</a:t>
            </a:r>
            <a:endParaRPr baseline="-25000" sz="1500">
              <a:solidFill>
                <a:schemeClr val="dk1"/>
              </a:solidFill>
            </a:endParaRPr>
          </a:p>
        </p:txBody>
      </p:sp>
      <p:sp>
        <p:nvSpPr>
          <p:cNvPr id="693" name="Google Shape;693;p53"/>
          <p:cNvSpPr/>
          <p:nvPr/>
        </p:nvSpPr>
        <p:spPr>
          <a:xfrm>
            <a:off x="5646000" y="3933225"/>
            <a:ext cx="3186300" cy="1031400"/>
          </a:xfrm>
          <a:prstGeom prst="rect">
            <a:avLst/>
          </a:prstGeom>
          <a:solidFill>
            <a:srgbClr val="CFE2F3"/>
          </a:solidFill>
          <a:ln>
            <a:noFill/>
          </a:ln>
        </p:spPr>
        <p:txBody>
          <a:bodyPr anchorCtr="0" anchor="ctr" bIns="91425" lIns="91425" spcFirstLastPara="1" rIns="91425" wrap="square" tIns="91425">
            <a:noAutofit/>
          </a:bodyPr>
          <a:lstStyle/>
          <a:p>
            <a:pPr indent="457200" lvl="0" marL="457200" rtl="0" algn="l">
              <a:spcBef>
                <a:spcPts val="0"/>
              </a:spcBef>
              <a:spcAft>
                <a:spcPts val="0"/>
              </a:spcAft>
              <a:buNone/>
            </a:pPr>
            <a:r>
              <a:rPr lang="en" sz="1500">
                <a:solidFill>
                  <a:schemeClr val="dk1"/>
                </a:solidFill>
              </a:rPr>
              <a:t>Classifier output:</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+1  for all p ⪰ p₁</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−1  for all other points</a:t>
            </a:r>
            <a:endParaRPr sz="1500">
              <a:solidFill>
                <a:schemeClr val="dk1"/>
              </a:solidFill>
            </a:endParaRPr>
          </a:p>
        </p:txBody>
      </p:sp>
      <p:sp>
        <p:nvSpPr>
          <p:cNvPr id="694" name="Google Shape;694;p53"/>
          <p:cNvSpPr/>
          <p:nvPr/>
        </p:nvSpPr>
        <p:spPr>
          <a:xfrm>
            <a:off x="4625949" y="1074493"/>
            <a:ext cx="181500" cy="181500"/>
          </a:xfrm>
          <a:prstGeom prst="ellipse">
            <a:avLst/>
          </a:prstGeom>
          <a:solidFill>
            <a:srgbClr val="B6D7A8"/>
          </a:solidFill>
          <a:ln cap="flat" cmpd="sng" w="11875">
            <a:solidFill>
              <a:srgbClr val="6AA84F"/>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95" name="Google Shape;695;p53"/>
          <p:cNvSpPr txBox="1"/>
          <p:nvPr>
            <p:ph idx="4294967295" type="subTitle"/>
          </p:nvPr>
        </p:nvSpPr>
        <p:spPr>
          <a:xfrm>
            <a:off x="4796679" y="1017800"/>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696" name="Google Shape;696;p53"/>
          <p:cNvSpPr/>
          <p:nvPr/>
        </p:nvSpPr>
        <p:spPr>
          <a:xfrm>
            <a:off x="4625949" y="1352148"/>
            <a:ext cx="181500" cy="181500"/>
          </a:xfrm>
          <a:prstGeom prst="ellipse">
            <a:avLst/>
          </a:prstGeom>
          <a:solidFill>
            <a:srgbClr val="EA9999"/>
          </a:solidFill>
          <a:ln cap="flat" cmpd="sng" w="11875">
            <a:solidFill>
              <a:srgbClr val="CC0000"/>
            </a:solidFill>
            <a:prstDash val="solid"/>
            <a:round/>
            <a:headEnd len="sm" w="sm" type="none"/>
            <a:tailEnd len="sm" w="sm" type="none"/>
          </a:ln>
        </p:spPr>
        <p:txBody>
          <a:bodyPr anchorCtr="0" anchor="ctr" bIns="59575" lIns="59575" spcFirstLastPara="1" rIns="59575" wrap="square" tIns="59575">
            <a:noAutofit/>
          </a:bodyPr>
          <a:lstStyle/>
          <a:p>
            <a:pPr indent="0" lvl="0" marL="0" rtl="0" algn="ctr">
              <a:spcBef>
                <a:spcPts val="0"/>
              </a:spcBef>
              <a:spcAft>
                <a:spcPts val="0"/>
              </a:spcAft>
              <a:buNone/>
            </a:pPr>
            <a:r>
              <a:t/>
            </a:r>
            <a:endParaRPr sz="912"/>
          </a:p>
        </p:txBody>
      </p:sp>
      <p:sp>
        <p:nvSpPr>
          <p:cNvPr id="697" name="Google Shape;697;p53"/>
          <p:cNvSpPr txBox="1"/>
          <p:nvPr>
            <p:ph idx="4294967295" type="subTitle"/>
          </p:nvPr>
        </p:nvSpPr>
        <p:spPr>
          <a:xfrm>
            <a:off x="4796679" y="1295455"/>
            <a:ext cx="747000" cy="294900"/>
          </a:xfrm>
          <a:prstGeom prst="rect">
            <a:avLst/>
          </a:prstGeom>
        </p:spPr>
        <p:txBody>
          <a:bodyPr anchorCtr="0" anchor="t" bIns="70375" lIns="70375" spcFirstLastPara="1" rIns="70375" wrap="square" tIns="70375">
            <a:noAutofit/>
          </a:bodyPr>
          <a:lstStyle/>
          <a:p>
            <a:pPr indent="0" lvl="0" marL="0" rtl="0" algn="l">
              <a:lnSpc>
                <a:spcPct val="150000"/>
              </a:lnSpc>
              <a:spcBef>
                <a:spcPts val="0"/>
              </a:spcBef>
              <a:spcAft>
                <a:spcPts val="0"/>
              </a:spcAft>
              <a:buNone/>
            </a:pPr>
            <a:r>
              <a:rPr lang="en" sz="924">
                <a:solidFill>
                  <a:schemeClr val="dk1"/>
                </a:solidFill>
              </a:rPr>
              <a:t>label -1</a:t>
            </a:r>
            <a:endParaRPr sz="924">
              <a:solidFill>
                <a:schemeClr val="dk1"/>
              </a:solidFill>
            </a:endParaRPr>
          </a:p>
        </p:txBody>
      </p:sp>
      <p:sp>
        <p:nvSpPr>
          <p:cNvPr id="698" name="Google Shape;698;p53"/>
          <p:cNvSpPr/>
          <p:nvPr/>
        </p:nvSpPr>
        <p:spPr>
          <a:xfrm>
            <a:off x="4087946" y="1312967"/>
            <a:ext cx="235800" cy="231300"/>
          </a:xfrm>
          <a:prstGeom prst="ellipse">
            <a:avLst/>
          </a:prstGeom>
          <a:solidFill>
            <a:srgbClr val="B6D7A8"/>
          </a:solidFill>
          <a:ln cap="flat" cmpd="sng" w="15425">
            <a:solidFill>
              <a:srgbClr val="6AA84F"/>
            </a:solidFill>
            <a:prstDash val="solid"/>
            <a:round/>
            <a:headEnd len="sm" w="sm" type="none"/>
            <a:tailEnd len="sm" w="sm" type="none"/>
          </a:ln>
        </p:spPr>
        <p:txBody>
          <a:bodyPr anchorCtr="0" anchor="ctr" bIns="77400" lIns="77400" spcFirstLastPara="1" rIns="77400" wrap="square" tIns="77400">
            <a:noAutofit/>
          </a:bodyPr>
          <a:lstStyle/>
          <a:p>
            <a:pPr indent="0" lvl="0" marL="0" rtl="0" algn="ctr">
              <a:spcBef>
                <a:spcPts val="0"/>
              </a:spcBef>
              <a:spcAft>
                <a:spcPts val="0"/>
              </a:spcAft>
              <a:buNone/>
            </a:pPr>
            <a:r>
              <a:t/>
            </a:r>
            <a:endParaRPr sz="1185"/>
          </a:p>
        </p:txBody>
      </p:sp>
      <p:sp>
        <p:nvSpPr>
          <p:cNvPr id="699" name="Google Shape;699;p53"/>
          <p:cNvSpPr txBox="1"/>
          <p:nvPr>
            <p:ph idx="1" type="body"/>
          </p:nvPr>
        </p:nvSpPr>
        <p:spPr>
          <a:xfrm>
            <a:off x="4048586" y="1017725"/>
            <a:ext cx="314400" cy="297000"/>
          </a:xfrm>
          <a:prstGeom prst="rect">
            <a:avLst/>
          </a:prstGeom>
        </p:spPr>
        <p:txBody>
          <a:bodyPr anchorCtr="0" anchor="t" bIns="61500" lIns="61500" spcFirstLastPara="1" rIns="61500" wrap="square" tIns="61500">
            <a:noAutofit/>
          </a:bodyPr>
          <a:lstStyle/>
          <a:p>
            <a:pPr indent="0" lvl="0" marL="0" rtl="0" algn="l">
              <a:lnSpc>
                <a:spcPct val="100000"/>
              </a:lnSpc>
              <a:spcBef>
                <a:spcPts val="0"/>
              </a:spcBef>
              <a:spcAft>
                <a:spcPts val="0"/>
              </a:spcAft>
              <a:buNone/>
            </a:pPr>
            <a:r>
              <a:rPr b="1" lang="en" sz="1134">
                <a:solidFill>
                  <a:schemeClr val="dk1"/>
                </a:solidFill>
              </a:rPr>
              <a:t>p</a:t>
            </a:r>
            <a:r>
              <a:rPr b="1" baseline="-25000" lang="en" sz="1134">
                <a:solidFill>
                  <a:schemeClr val="dk1"/>
                </a:solidFill>
              </a:rPr>
              <a:t>15</a:t>
            </a:r>
            <a:endParaRPr b="1" sz="1134">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cxnSp>
        <p:nvCxnSpPr>
          <p:cNvPr id="704" name="Google Shape;704;p54"/>
          <p:cNvCxnSpPr/>
          <p:nvPr/>
        </p:nvCxnSpPr>
        <p:spPr>
          <a:xfrm>
            <a:off x="463625" y="1096831"/>
            <a:ext cx="4500" cy="2847300"/>
          </a:xfrm>
          <a:prstGeom prst="straightConnector1">
            <a:avLst/>
          </a:prstGeom>
          <a:noFill/>
          <a:ln cap="flat" cmpd="sng" w="21725">
            <a:solidFill>
              <a:schemeClr val="dk2"/>
            </a:solidFill>
            <a:prstDash val="solid"/>
            <a:round/>
            <a:headEnd len="med" w="med" type="none"/>
            <a:tailEnd len="med" w="med" type="none"/>
          </a:ln>
        </p:spPr>
      </p:cxnSp>
      <p:cxnSp>
        <p:nvCxnSpPr>
          <p:cNvPr id="705" name="Google Shape;705;p54"/>
          <p:cNvCxnSpPr/>
          <p:nvPr/>
        </p:nvCxnSpPr>
        <p:spPr>
          <a:xfrm flipH="1">
            <a:off x="454725" y="3954789"/>
            <a:ext cx="3653100" cy="2400"/>
          </a:xfrm>
          <a:prstGeom prst="straightConnector1">
            <a:avLst/>
          </a:prstGeom>
          <a:noFill/>
          <a:ln cap="flat" cmpd="sng" w="21725">
            <a:solidFill>
              <a:schemeClr val="dk2"/>
            </a:solidFill>
            <a:prstDash val="solid"/>
            <a:round/>
            <a:headEnd len="med" w="med" type="none"/>
            <a:tailEnd len="med" w="med" type="none"/>
          </a:ln>
        </p:spPr>
      </p:cxnSp>
      <p:sp>
        <p:nvSpPr>
          <p:cNvPr id="706" name="Google Shape;706;p54"/>
          <p:cNvSpPr/>
          <p:nvPr/>
        </p:nvSpPr>
        <p:spPr>
          <a:xfrm>
            <a:off x="645321" y="309261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07" name="Google Shape;707;p54"/>
          <p:cNvSpPr txBox="1"/>
          <p:nvPr>
            <p:ph idx="1" type="body"/>
          </p:nvPr>
        </p:nvSpPr>
        <p:spPr>
          <a:xfrm>
            <a:off x="616010" y="286855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a:t>
            </a:r>
            <a:endParaRPr b="1" sz="844">
              <a:solidFill>
                <a:schemeClr val="dk1"/>
              </a:solidFill>
            </a:endParaRPr>
          </a:p>
        </p:txBody>
      </p:sp>
      <p:sp>
        <p:nvSpPr>
          <p:cNvPr id="708" name="Google Shape;708;p54"/>
          <p:cNvSpPr/>
          <p:nvPr/>
        </p:nvSpPr>
        <p:spPr>
          <a:xfrm>
            <a:off x="645321" y="2688366"/>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09" name="Google Shape;709;p54"/>
          <p:cNvSpPr txBox="1"/>
          <p:nvPr>
            <p:ph idx="1" type="body"/>
          </p:nvPr>
        </p:nvSpPr>
        <p:spPr>
          <a:xfrm>
            <a:off x="616010" y="2464306"/>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2</a:t>
            </a:r>
            <a:endParaRPr b="1" sz="844">
              <a:solidFill>
                <a:schemeClr val="dk1"/>
              </a:solidFill>
            </a:endParaRPr>
          </a:p>
        </p:txBody>
      </p:sp>
      <p:sp>
        <p:nvSpPr>
          <p:cNvPr id="710" name="Google Shape;710;p54"/>
          <p:cNvSpPr/>
          <p:nvPr/>
        </p:nvSpPr>
        <p:spPr>
          <a:xfrm>
            <a:off x="879448" y="2032485"/>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11" name="Google Shape;711;p54"/>
          <p:cNvSpPr txBox="1"/>
          <p:nvPr>
            <p:ph idx="1" type="body"/>
          </p:nvPr>
        </p:nvSpPr>
        <p:spPr>
          <a:xfrm>
            <a:off x="850137" y="180842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3</a:t>
            </a:r>
            <a:endParaRPr b="1" sz="844">
              <a:solidFill>
                <a:schemeClr val="dk1"/>
              </a:solidFill>
            </a:endParaRPr>
          </a:p>
        </p:txBody>
      </p:sp>
      <p:sp>
        <p:nvSpPr>
          <p:cNvPr id="712" name="Google Shape;712;p54"/>
          <p:cNvSpPr/>
          <p:nvPr/>
        </p:nvSpPr>
        <p:spPr>
          <a:xfrm>
            <a:off x="1084370" y="1374787"/>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13" name="Google Shape;713;p54"/>
          <p:cNvSpPr txBox="1"/>
          <p:nvPr>
            <p:ph idx="1" type="body"/>
          </p:nvPr>
        </p:nvSpPr>
        <p:spPr>
          <a:xfrm>
            <a:off x="1055059" y="1150727"/>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4</a:t>
            </a:r>
            <a:endParaRPr b="1" sz="844">
              <a:solidFill>
                <a:schemeClr val="dk1"/>
              </a:solidFill>
            </a:endParaRPr>
          </a:p>
        </p:txBody>
      </p:sp>
      <p:sp>
        <p:nvSpPr>
          <p:cNvPr id="714" name="Google Shape;714;p54"/>
          <p:cNvSpPr/>
          <p:nvPr/>
        </p:nvSpPr>
        <p:spPr>
          <a:xfrm>
            <a:off x="1757467" y="1241785"/>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15" name="Google Shape;715;p54"/>
          <p:cNvSpPr txBox="1"/>
          <p:nvPr>
            <p:ph idx="1" type="body"/>
          </p:nvPr>
        </p:nvSpPr>
        <p:spPr>
          <a:xfrm>
            <a:off x="1728156" y="101772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10</a:t>
            </a:r>
            <a:endParaRPr b="1" sz="844">
              <a:solidFill>
                <a:schemeClr val="dk1"/>
              </a:solidFill>
            </a:endParaRPr>
          </a:p>
        </p:txBody>
      </p:sp>
      <p:sp>
        <p:nvSpPr>
          <p:cNvPr id="716" name="Google Shape;716;p54"/>
          <p:cNvSpPr/>
          <p:nvPr/>
        </p:nvSpPr>
        <p:spPr>
          <a:xfrm>
            <a:off x="1991639" y="1511745"/>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17" name="Google Shape;717;p54"/>
          <p:cNvSpPr txBox="1"/>
          <p:nvPr>
            <p:ph idx="1" type="body"/>
          </p:nvPr>
        </p:nvSpPr>
        <p:spPr>
          <a:xfrm>
            <a:off x="1962327" y="128768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11</a:t>
            </a:r>
            <a:endParaRPr b="1" sz="844">
              <a:solidFill>
                <a:schemeClr val="dk1"/>
              </a:solidFill>
            </a:endParaRPr>
          </a:p>
        </p:txBody>
      </p:sp>
      <p:sp>
        <p:nvSpPr>
          <p:cNvPr id="718" name="Google Shape;718;p54"/>
          <p:cNvSpPr/>
          <p:nvPr/>
        </p:nvSpPr>
        <p:spPr>
          <a:xfrm>
            <a:off x="2535061" y="210300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19" name="Google Shape;719;p54"/>
          <p:cNvSpPr txBox="1"/>
          <p:nvPr>
            <p:ph idx="1" type="body"/>
          </p:nvPr>
        </p:nvSpPr>
        <p:spPr>
          <a:xfrm>
            <a:off x="2505750" y="187894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13</a:t>
            </a:r>
            <a:endParaRPr b="1" sz="844">
              <a:solidFill>
                <a:schemeClr val="dk1"/>
              </a:solidFill>
            </a:endParaRPr>
          </a:p>
        </p:txBody>
      </p:sp>
      <p:sp>
        <p:nvSpPr>
          <p:cNvPr id="720" name="Google Shape;720;p54"/>
          <p:cNvSpPr/>
          <p:nvPr/>
        </p:nvSpPr>
        <p:spPr>
          <a:xfrm>
            <a:off x="2264690" y="1822971"/>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21" name="Google Shape;721;p54"/>
          <p:cNvSpPr txBox="1"/>
          <p:nvPr>
            <p:ph idx="1" type="body"/>
          </p:nvPr>
        </p:nvSpPr>
        <p:spPr>
          <a:xfrm>
            <a:off x="2235379" y="1598911"/>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12</a:t>
            </a:r>
            <a:endParaRPr b="1" sz="844">
              <a:solidFill>
                <a:schemeClr val="dk1"/>
              </a:solidFill>
            </a:endParaRPr>
          </a:p>
        </p:txBody>
      </p:sp>
      <p:sp>
        <p:nvSpPr>
          <p:cNvPr id="722" name="Google Shape;722;p54"/>
          <p:cNvSpPr/>
          <p:nvPr/>
        </p:nvSpPr>
        <p:spPr>
          <a:xfrm>
            <a:off x="2769213" y="242709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23" name="Google Shape;723;p54"/>
          <p:cNvSpPr txBox="1"/>
          <p:nvPr>
            <p:ph idx="1" type="body"/>
          </p:nvPr>
        </p:nvSpPr>
        <p:spPr>
          <a:xfrm>
            <a:off x="2739902" y="220303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14</a:t>
            </a:r>
            <a:endParaRPr b="1" sz="844">
              <a:solidFill>
                <a:schemeClr val="dk1"/>
              </a:solidFill>
            </a:endParaRPr>
          </a:p>
        </p:txBody>
      </p:sp>
      <p:sp>
        <p:nvSpPr>
          <p:cNvPr id="724" name="Google Shape;724;p54"/>
          <p:cNvSpPr/>
          <p:nvPr/>
        </p:nvSpPr>
        <p:spPr>
          <a:xfrm>
            <a:off x="1318496" y="2866024"/>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25" name="Google Shape;725;p54"/>
          <p:cNvSpPr txBox="1"/>
          <p:nvPr>
            <p:ph idx="1" type="body"/>
          </p:nvPr>
        </p:nvSpPr>
        <p:spPr>
          <a:xfrm>
            <a:off x="1289184" y="2641964"/>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5</a:t>
            </a:r>
            <a:endParaRPr b="1" sz="844">
              <a:solidFill>
                <a:schemeClr val="dk1"/>
              </a:solidFill>
            </a:endParaRPr>
          </a:p>
        </p:txBody>
      </p:sp>
      <p:sp>
        <p:nvSpPr>
          <p:cNvPr id="726" name="Google Shape;726;p54"/>
          <p:cNvSpPr/>
          <p:nvPr/>
        </p:nvSpPr>
        <p:spPr>
          <a:xfrm>
            <a:off x="1796407" y="2669272"/>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27" name="Google Shape;727;p54"/>
          <p:cNvSpPr txBox="1"/>
          <p:nvPr>
            <p:ph idx="1" type="body"/>
          </p:nvPr>
        </p:nvSpPr>
        <p:spPr>
          <a:xfrm>
            <a:off x="1767096" y="2445212"/>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9</a:t>
            </a:r>
            <a:endParaRPr b="1" sz="844">
              <a:solidFill>
                <a:schemeClr val="dk1"/>
              </a:solidFill>
            </a:endParaRPr>
          </a:p>
        </p:txBody>
      </p:sp>
      <p:sp>
        <p:nvSpPr>
          <p:cNvPr id="728" name="Google Shape;728;p54"/>
          <p:cNvSpPr/>
          <p:nvPr/>
        </p:nvSpPr>
        <p:spPr>
          <a:xfrm>
            <a:off x="3160314" y="2684167"/>
            <a:ext cx="175800" cy="1722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29" name="Google Shape;729;p54"/>
          <p:cNvSpPr txBox="1"/>
          <p:nvPr>
            <p:ph idx="1" type="body"/>
          </p:nvPr>
        </p:nvSpPr>
        <p:spPr>
          <a:xfrm>
            <a:off x="3131003" y="2464299"/>
            <a:ext cx="234000" cy="2211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16</a:t>
            </a:r>
            <a:endParaRPr b="1" sz="844">
              <a:solidFill>
                <a:schemeClr val="dk1"/>
              </a:solidFill>
            </a:endParaRPr>
          </a:p>
        </p:txBody>
      </p:sp>
      <p:sp>
        <p:nvSpPr>
          <p:cNvPr id="730" name="Google Shape;730;p54"/>
          <p:cNvSpPr/>
          <p:nvPr/>
        </p:nvSpPr>
        <p:spPr>
          <a:xfrm>
            <a:off x="1523327" y="3693803"/>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31" name="Google Shape;731;p54"/>
          <p:cNvSpPr txBox="1"/>
          <p:nvPr>
            <p:ph idx="1" type="body"/>
          </p:nvPr>
        </p:nvSpPr>
        <p:spPr>
          <a:xfrm>
            <a:off x="1494016" y="3469743"/>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6</a:t>
            </a:r>
            <a:endParaRPr b="1" sz="844">
              <a:solidFill>
                <a:schemeClr val="dk1"/>
              </a:solidFill>
            </a:endParaRPr>
          </a:p>
        </p:txBody>
      </p:sp>
      <p:sp>
        <p:nvSpPr>
          <p:cNvPr id="732" name="Google Shape;732;p54"/>
          <p:cNvSpPr/>
          <p:nvPr/>
        </p:nvSpPr>
        <p:spPr>
          <a:xfrm>
            <a:off x="1796448" y="3693803"/>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33" name="Google Shape;733;p54"/>
          <p:cNvSpPr txBox="1"/>
          <p:nvPr>
            <p:ph idx="1" type="body"/>
          </p:nvPr>
        </p:nvSpPr>
        <p:spPr>
          <a:xfrm>
            <a:off x="1767137" y="3469743"/>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7</a:t>
            </a:r>
            <a:endParaRPr b="1" sz="844">
              <a:solidFill>
                <a:schemeClr val="dk1"/>
              </a:solidFill>
            </a:endParaRPr>
          </a:p>
        </p:txBody>
      </p:sp>
      <p:sp>
        <p:nvSpPr>
          <p:cNvPr id="734" name="Google Shape;734;p54"/>
          <p:cNvSpPr/>
          <p:nvPr/>
        </p:nvSpPr>
        <p:spPr>
          <a:xfrm>
            <a:off x="1796485" y="3336939"/>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35" name="Google Shape;735;p54"/>
          <p:cNvSpPr txBox="1"/>
          <p:nvPr>
            <p:ph idx="1" type="body"/>
          </p:nvPr>
        </p:nvSpPr>
        <p:spPr>
          <a:xfrm>
            <a:off x="1767174" y="3112880"/>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8</a:t>
            </a:r>
            <a:endParaRPr b="1" sz="844">
              <a:solidFill>
                <a:schemeClr val="dk1"/>
              </a:solidFill>
            </a:endParaRPr>
          </a:p>
        </p:txBody>
      </p:sp>
      <p:cxnSp>
        <p:nvCxnSpPr>
          <p:cNvPr id="736" name="Google Shape;736;p54"/>
          <p:cNvCxnSpPr/>
          <p:nvPr/>
        </p:nvCxnSpPr>
        <p:spPr>
          <a:xfrm>
            <a:off x="4305275" y="1096831"/>
            <a:ext cx="4500" cy="2847300"/>
          </a:xfrm>
          <a:prstGeom prst="straightConnector1">
            <a:avLst/>
          </a:prstGeom>
          <a:noFill/>
          <a:ln cap="flat" cmpd="sng" w="21725">
            <a:solidFill>
              <a:schemeClr val="dk2"/>
            </a:solidFill>
            <a:prstDash val="solid"/>
            <a:round/>
            <a:headEnd len="med" w="med" type="none"/>
            <a:tailEnd len="med" w="med" type="none"/>
          </a:ln>
        </p:spPr>
      </p:cxnSp>
      <p:cxnSp>
        <p:nvCxnSpPr>
          <p:cNvPr id="737" name="Google Shape;737;p54"/>
          <p:cNvCxnSpPr/>
          <p:nvPr/>
        </p:nvCxnSpPr>
        <p:spPr>
          <a:xfrm flipH="1">
            <a:off x="4296375" y="3954789"/>
            <a:ext cx="3653100" cy="2400"/>
          </a:xfrm>
          <a:prstGeom prst="straightConnector1">
            <a:avLst/>
          </a:prstGeom>
          <a:noFill/>
          <a:ln cap="flat" cmpd="sng" w="21725">
            <a:solidFill>
              <a:schemeClr val="dk2"/>
            </a:solidFill>
            <a:prstDash val="solid"/>
            <a:round/>
            <a:headEnd len="med" w="med" type="none"/>
            <a:tailEnd len="med" w="med" type="none"/>
          </a:ln>
        </p:spPr>
      </p:cxnSp>
      <p:sp>
        <p:nvSpPr>
          <p:cNvPr id="738" name="Google Shape;738;p54"/>
          <p:cNvSpPr/>
          <p:nvPr/>
        </p:nvSpPr>
        <p:spPr>
          <a:xfrm>
            <a:off x="4486971" y="309261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39" name="Google Shape;739;p54"/>
          <p:cNvSpPr txBox="1"/>
          <p:nvPr>
            <p:ph idx="1" type="body"/>
          </p:nvPr>
        </p:nvSpPr>
        <p:spPr>
          <a:xfrm>
            <a:off x="4457660" y="286855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a:t>
            </a:r>
            <a:endParaRPr b="1" sz="844">
              <a:solidFill>
                <a:schemeClr val="dk1"/>
              </a:solidFill>
            </a:endParaRPr>
          </a:p>
        </p:txBody>
      </p:sp>
      <p:sp>
        <p:nvSpPr>
          <p:cNvPr id="740" name="Google Shape;740;p54"/>
          <p:cNvSpPr/>
          <p:nvPr/>
        </p:nvSpPr>
        <p:spPr>
          <a:xfrm>
            <a:off x="4486971" y="2688366"/>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41" name="Google Shape;741;p54"/>
          <p:cNvSpPr txBox="1"/>
          <p:nvPr>
            <p:ph idx="1" type="body"/>
          </p:nvPr>
        </p:nvSpPr>
        <p:spPr>
          <a:xfrm>
            <a:off x="4457660" y="2464306"/>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2</a:t>
            </a:r>
            <a:endParaRPr b="1" sz="844">
              <a:solidFill>
                <a:schemeClr val="dk1"/>
              </a:solidFill>
            </a:endParaRPr>
          </a:p>
        </p:txBody>
      </p:sp>
      <p:sp>
        <p:nvSpPr>
          <p:cNvPr id="742" name="Google Shape;742;p54"/>
          <p:cNvSpPr/>
          <p:nvPr/>
        </p:nvSpPr>
        <p:spPr>
          <a:xfrm>
            <a:off x="4721098" y="2032485"/>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43" name="Google Shape;743;p54"/>
          <p:cNvSpPr txBox="1"/>
          <p:nvPr>
            <p:ph idx="1" type="body"/>
          </p:nvPr>
        </p:nvSpPr>
        <p:spPr>
          <a:xfrm>
            <a:off x="4691787" y="180842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3</a:t>
            </a:r>
            <a:endParaRPr b="1" sz="844">
              <a:solidFill>
                <a:schemeClr val="dk1"/>
              </a:solidFill>
            </a:endParaRPr>
          </a:p>
        </p:txBody>
      </p:sp>
      <p:sp>
        <p:nvSpPr>
          <p:cNvPr id="744" name="Google Shape;744;p54"/>
          <p:cNvSpPr/>
          <p:nvPr/>
        </p:nvSpPr>
        <p:spPr>
          <a:xfrm>
            <a:off x="4926020" y="1374787"/>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45" name="Google Shape;745;p54"/>
          <p:cNvSpPr txBox="1"/>
          <p:nvPr>
            <p:ph idx="1" type="body"/>
          </p:nvPr>
        </p:nvSpPr>
        <p:spPr>
          <a:xfrm>
            <a:off x="4896709" y="1150727"/>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4</a:t>
            </a:r>
            <a:endParaRPr b="1" sz="844">
              <a:solidFill>
                <a:schemeClr val="dk1"/>
              </a:solidFill>
            </a:endParaRPr>
          </a:p>
        </p:txBody>
      </p:sp>
      <p:sp>
        <p:nvSpPr>
          <p:cNvPr id="746" name="Google Shape;746;p54"/>
          <p:cNvSpPr/>
          <p:nvPr/>
        </p:nvSpPr>
        <p:spPr>
          <a:xfrm>
            <a:off x="5599117" y="1241785"/>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47" name="Google Shape;747;p54"/>
          <p:cNvSpPr txBox="1"/>
          <p:nvPr>
            <p:ph idx="1" type="body"/>
          </p:nvPr>
        </p:nvSpPr>
        <p:spPr>
          <a:xfrm>
            <a:off x="5569806" y="101772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10</a:t>
            </a:r>
            <a:endParaRPr b="1" sz="844">
              <a:solidFill>
                <a:schemeClr val="dk1"/>
              </a:solidFill>
            </a:endParaRPr>
          </a:p>
        </p:txBody>
      </p:sp>
      <p:sp>
        <p:nvSpPr>
          <p:cNvPr id="748" name="Google Shape;748;p54"/>
          <p:cNvSpPr/>
          <p:nvPr/>
        </p:nvSpPr>
        <p:spPr>
          <a:xfrm>
            <a:off x="5833289" y="1511745"/>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49" name="Google Shape;749;p54"/>
          <p:cNvSpPr txBox="1"/>
          <p:nvPr>
            <p:ph idx="1" type="body"/>
          </p:nvPr>
        </p:nvSpPr>
        <p:spPr>
          <a:xfrm>
            <a:off x="5803977" y="1287685"/>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11</a:t>
            </a:r>
            <a:endParaRPr b="1" sz="844">
              <a:solidFill>
                <a:schemeClr val="dk1"/>
              </a:solidFill>
            </a:endParaRPr>
          </a:p>
        </p:txBody>
      </p:sp>
      <p:sp>
        <p:nvSpPr>
          <p:cNvPr id="750" name="Google Shape;750;p54"/>
          <p:cNvSpPr/>
          <p:nvPr/>
        </p:nvSpPr>
        <p:spPr>
          <a:xfrm>
            <a:off x="6376711" y="210300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51" name="Google Shape;751;p54"/>
          <p:cNvSpPr txBox="1"/>
          <p:nvPr>
            <p:ph idx="1" type="body"/>
          </p:nvPr>
        </p:nvSpPr>
        <p:spPr>
          <a:xfrm>
            <a:off x="6347400" y="187894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13</a:t>
            </a:r>
            <a:endParaRPr b="1" sz="844">
              <a:solidFill>
                <a:schemeClr val="dk1"/>
              </a:solidFill>
            </a:endParaRPr>
          </a:p>
        </p:txBody>
      </p:sp>
      <p:sp>
        <p:nvSpPr>
          <p:cNvPr id="752" name="Google Shape;752;p54"/>
          <p:cNvSpPr/>
          <p:nvPr/>
        </p:nvSpPr>
        <p:spPr>
          <a:xfrm>
            <a:off x="6106340" y="1822971"/>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53" name="Google Shape;753;p54"/>
          <p:cNvSpPr txBox="1"/>
          <p:nvPr>
            <p:ph idx="1" type="body"/>
          </p:nvPr>
        </p:nvSpPr>
        <p:spPr>
          <a:xfrm>
            <a:off x="6077029" y="1598911"/>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12</a:t>
            </a:r>
            <a:endParaRPr b="1" sz="844">
              <a:solidFill>
                <a:schemeClr val="dk1"/>
              </a:solidFill>
            </a:endParaRPr>
          </a:p>
        </p:txBody>
      </p:sp>
      <p:sp>
        <p:nvSpPr>
          <p:cNvPr id="754" name="Google Shape;754;p54"/>
          <p:cNvSpPr/>
          <p:nvPr/>
        </p:nvSpPr>
        <p:spPr>
          <a:xfrm>
            <a:off x="6610863" y="2427099"/>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55" name="Google Shape;755;p54"/>
          <p:cNvSpPr txBox="1"/>
          <p:nvPr>
            <p:ph idx="1" type="body"/>
          </p:nvPr>
        </p:nvSpPr>
        <p:spPr>
          <a:xfrm>
            <a:off x="6581552" y="2203039"/>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14</a:t>
            </a:r>
            <a:endParaRPr b="1" sz="844">
              <a:solidFill>
                <a:schemeClr val="dk1"/>
              </a:solidFill>
            </a:endParaRPr>
          </a:p>
        </p:txBody>
      </p:sp>
      <p:sp>
        <p:nvSpPr>
          <p:cNvPr id="756" name="Google Shape;756;p54"/>
          <p:cNvSpPr/>
          <p:nvPr/>
        </p:nvSpPr>
        <p:spPr>
          <a:xfrm>
            <a:off x="5160146" y="2866024"/>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57" name="Google Shape;757;p54"/>
          <p:cNvSpPr txBox="1"/>
          <p:nvPr>
            <p:ph idx="1" type="body"/>
          </p:nvPr>
        </p:nvSpPr>
        <p:spPr>
          <a:xfrm>
            <a:off x="5130834" y="2641964"/>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5</a:t>
            </a:r>
            <a:endParaRPr b="1" sz="844">
              <a:solidFill>
                <a:schemeClr val="dk1"/>
              </a:solidFill>
            </a:endParaRPr>
          </a:p>
        </p:txBody>
      </p:sp>
      <p:sp>
        <p:nvSpPr>
          <p:cNvPr id="758" name="Google Shape;758;p54"/>
          <p:cNvSpPr/>
          <p:nvPr/>
        </p:nvSpPr>
        <p:spPr>
          <a:xfrm>
            <a:off x="5638057" y="2669272"/>
            <a:ext cx="175800" cy="1758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59" name="Google Shape;759;p54"/>
          <p:cNvSpPr txBox="1"/>
          <p:nvPr>
            <p:ph idx="1" type="body"/>
          </p:nvPr>
        </p:nvSpPr>
        <p:spPr>
          <a:xfrm>
            <a:off x="5608746" y="2445212"/>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9</a:t>
            </a:r>
            <a:endParaRPr b="1" sz="844">
              <a:solidFill>
                <a:schemeClr val="dk1"/>
              </a:solidFill>
            </a:endParaRPr>
          </a:p>
        </p:txBody>
      </p:sp>
      <p:sp>
        <p:nvSpPr>
          <p:cNvPr id="760" name="Google Shape;760;p54"/>
          <p:cNvSpPr/>
          <p:nvPr/>
        </p:nvSpPr>
        <p:spPr>
          <a:xfrm>
            <a:off x="7001964" y="2684167"/>
            <a:ext cx="175800" cy="1722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61" name="Google Shape;761;p54"/>
          <p:cNvSpPr txBox="1"/>
          <p:nvPr>
            <p:ph idx="1" type="body"/>
          </p:nvPr>
        </p:nvSpPr>
        <p:spPr>
          <a:xfrm>
            <a:off x="6972653" y="2464299"/>
            <a:ext cx="234000" cy="2211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16</a:t>
            </a:r>
            <a:endParaRPr b="1" sz="844">
              <a:solidFill>
                <a:schemeClr val="dk1"/>
              </a:solidFill>
            </a:endParaRPr>
          </a:p>
        </p:txBody>
      </p:sp>
      <p:sp>
        <p:nvSpPr>
          <p:cNvPr id="762" name="Google Shape;762;p54"/>
          <p:cNvSpPr/>
          <p:nvPr/>
        </p:nvSpPr>
        <p:spPr>
          <a:xfrm>
            <a:off x="5364977" y="3693803"/>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63" name="Google Shape;763;p54"/>
          <p:cNvSpPr txBox="1"/>
          <p:nvPr>
            <p:ph idx="1" type="body"/>
          </p:nvPr>
        </p:nvSpPr>
        <p:spPr>
          <a:xfrm>
            <a:off x="5335666" y="3469743"/>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6</a:t>
            </a:r>
            <a:endParaRPr b="1" sz="844">
              <a:solidFill>
                <a:schemeClr val="dk1"/>
              </a:solidFill>
            </a:endParaRPr>
          </a:p>
        </p:txBody>
      </p:sp>
      <p:sp>
        <p:nvSpPr>
          <p:cNvPr id="764" name="Google Shape;764;p54"/>
          <p:cNvSpPr/>
          <p:nvPr/>
        </p:nvSpPr>
        <p:spPr>
          <a:xfrm>
            <a:off x="5638098" y="3693803"/>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65" name="Google Shape;765;p54"/>
          <p:cNvSpPr txBox="1"/>
          <p:nvPr>
            <p:ph idx="1" type="body"/>
          </p:nvPr>
        </p:nvSpPr>
        <p:spPr>
          <a:xfrm>
            <a:off x="5608787" y="3469743"/>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7</a:t>
            </a:r>
            <a:endParaRPr b="1" sz="844">
              <a:solidFill>
                <a:schemeClr val="dk1"/>
              </a:solidFill>
            </a:endParaRPr>
          </a:p>
        </p:txBody>
      </p:sp>
      <p:sp>
        <p:nvSpPr>
          <p:cNvPr id="766" name="Google Shape;766;p54"/>
          <p:cNvSpPr/>
          <p:nvPr/>
        </p:nvSpPr>
        <p:spPr>
          <a:xfrm>
            <a:off x="5638135" y="3336939"/>
            <a:ext cx="175800" cy="1758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67" name="Google Shape;767;p54"/>
          <p:cNvSpPr txBox="1"/>
          <p:nvPr>
            <p:ph idx="1" type="body"/>
          </p:nvPr>
        </p:nvSpPr>
        <p:spPr>
          <a:xfrm>
            <a:off x="5608824" y="3112880"/>
            <a:ext cx="234000" cy="2253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8</a:t>
            </a:r>
            <a:endParaRPr b="1" sz="844">
              <a:solidFill>
                <a:schemeClr val="dk1"/>
              </a:solidFill>
            </a:endParaRPr>
          </a:p>
        </p:txBody>
      </p:sp>
      <p:sp>
        <p:nvSpPr>
          <p:cNvPr id="768" name="Google Shape;768;p54"/>
          <p:cNvSpPr txBox="1"/>
          <p:nvPr>
            <p:ph type="title"/>
          </p:nvPr>
        </p:nvSpPr>
        <p:spPr>
          <a:xfrm>
            <a:off x="1017700" y="4042400"/>
            <a:ext cx="21237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700"/>
              <a:t>Classifier Output</a:t>
            </a:r>
            <a:endParaRPr baseline="-25000" sz="1700"/>
          </a:p>
        </p:txBody>
      </p:sp>
      <p:sp>
        <p:nvSpPr>
          <p:cNvPr id="769" name="Google Shape;769;p54"/>
          <p:cNvSpPr txBox="1"/>
          <p:nvPr>
            <p:ph type="title"/>
          </p:nvPr>
        </p:nvSpPr>
        <p:spPr>
          <a:xfrm>
            <a:off x="4859350" y="4042400"/>
            <a:ext cx="21237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700"/>
              <a:t>True Labels</a:t>
            </a:r>
            <a:endParaRPr baseline="-25000" sz="1700"/>
          </a:p>
        </p:txBody>
      </p:sp>
      <p:sp>
        <p:nvSpPr>
          <p:cNvPr id="770" name="Google Shape;770;p54"/>
          <p:cNvSpPr txBox="1"/>
          <p:nvPr>
            <p:ph type="title"/>
          </p:nvPr>
        </p:nvSpPr>
        <p:spPr>
          <a:xfrm>
            <a:off x="3141400" y="4023225"/>
            <a:ext cx="21237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sz="1700"/>
              <a:t>vs.</a:t>
            </a:r>
            <a:endParaRPr baseline="-25000" i="1" sz="1700"/>
          </a:p>
        </p:txBody>
      </p:sp>
      <p:sp>
        <p:nvSpPr>
          <p:cNvPr id="771" name="Google Shape;771;p54"/>
          <p:cNvSpPr/>
          <p:nvPr/>
        </p:nvSpPr>
        <p:spPr>
          <a:xfrm>
            <a:off x="400975" y="4491525"/>
            <a:ext cx="8431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1500">
                <a:solidFill>
                  <a:schemeClr val="dk1"/>
                </a:solidFill>
              </a:rPr>
              <a:t>Note: error = 5 ≥ k* = 3 but e</a:t>
            </a:r>
            <a:r>
              <a:rPr i="1" lang="en" sz="1500">
                <a:solidFill>
                  <a:schemeClr val="dk1"/>
                </a:solidFill>
              </a:rPr>
              <a:t>rror = 5 </a:t>
            </a:r>
            <a:r>
              <a:rPr i="1" lang="en" sz="1500">
                <a:solidFill>
                  <a:schemeClr val="dk1"/>
                </a:solidFill>
              </a:rPr>
              <a:t>≤ 2k* = 6</a:t>
            </a:r>
            <a:r>
              <a:rPr i="1" lang="en" sz="1200">
                <a:solidFill>
                  <a:schemeClr val="dk1"/>
                </a:solidFill>
              </a:rPr>
              <a:t>, where k* = min. #mistakes any monotone classifier can make</a:t>
            </a:r>
            <a:endParaRPr baseline="-25000" i="1" sz="1200">
              <a:solidFill>
                <a:schemeClr val="dk1"/>
              </a:solidFill>
            </a:endParaRPr>
          </a:p>
        </p:txBody>
      </p:sp>
      <p:sp>
        <p:nvSpPr>
          <p:cNvPr id="772" name="Google Shape;772;p54"/>
          <p:cNvSpPr/>
          <p:nvPr/>
        </p:nvSpPr>
        <p:spPr>
          <a:xfrm>
            <a:off x="3163101" y="1237605"/>
            <a:ext cx="175800" cy="172200"/>
          </a:xfrm>
          <a:prstGeom prst="ellipse">
            <a:avLst/>
          </a:prstGeom>
          <a:solidFill>
            <a:srgbClr val="B6D7A8"/>
          </a:solidFill>
          <a:ln cap="flat" cmpd="sng" w="11475">
            <a:solidFill>
              <a:srgbClr val="6AA84F"/>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73" name="Google Shape;773;p54"/>
          <p:cNvSpPr txBox="1"/>
          <p:nvPr>
            <p:ph idx="1" type="body"/>
          </p:nvPr>
        </p:nvSpPr>
        <p:spPr>
          <a:xfrm>
            <a:off x="3133790" y="1017737"/>
            <a:ext cx="234000" cy="2211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15</a:t>
            </a:r>
            <a:endParaRPr b="1" sz="844">
              <a:solidFill>
                <a:schemeClr val="dk1"/>
              </a:solidFill>
            </a:endParaRPr>
          </a:p>
        </p:txBody>
      </p:sp>
      <p:sp>
        <p:nvSpPr>
          <p:cNvPr id="774" name="Google Shape;774;p54"/>
          <p:cNvSpPr/>
          <p:nvPr/>
        </p:nvSpPr>
        <p:spPr>
          <a:xfrm>
            <a:off x="7001951" y="1237592"/>
            <a:ext cx="175800" cy="172200"/>
          </a:xfrm>
          <a:prstGeom prst="ellipse">
            <a:avLst/>
          </a:prstGeom>
          <a:solidFill>
            <a:srgbClr val="EA9999"/>
          </a:solidFill>
          <a:ln cap="flat" cmpd="sng" w="11475">
            <a:solidFill>
              <a:srgbClr val="CC0000"/>
            </a:solidFill>
            <a:prstDash val="solid"/>
            <a:round/>
            <a:headEnd len="sm" w="sm" type="none"/>
            <a:tailEnd len="sm" w="sm" type="none"/>
          </a:ln>
        </p:spPr>
        <p:txBody>
          <a:bodyPr anchorCtr="0" anchor="ctr" bIns="57625" lIns="57625" spcFirstLastPara="1" rIns="57625" wrap="square" tIns="57625">
            <a:noAutofit/>
          </a:bodyPr>
          <a:lstStyle/>
          <a:p>
            <a:pPr indent="0" lvl="0" marL="0" rtl="0" algn="ctr">
              <a:spcBef>
                <a:spcPts val="0"/>
              </a:spcBef>
              <a:spcAft>
                <a:spcPts val="0"/>
              </a:spcAft>
              <a:buNone/>
            </a:pPr>
            <a:r>
              <a:t/>
            </a:r>
            <a:endParaRPr sz="883"/>
          </a:p>
        </p:txBody>
      </p:sp>
      <p:sp>
        <p:nvSpPr>
          <p:cNvPr id="775" name="Google Shape;775;p54"/>
          <p:cNvSpPr txBox="1"/>
          <p:nvPr>
            <p:ph idx="1" type="body"/>
          </p:nvPr>
        </p:nvSpPr>
        <p:spPr>
          <a:xfrm>
            <a:off x="6972640" y="1017724"/>
            <a:ext cx="234000" cy="221100"/>
          </a:xfrm>
          <a:prstGeom prst="rect">
            <a:avLst/>
          </a:prstGeom>
        </p:spPr>
        <p:txBody>
          <a:bodyPr anchorCtr="0" anchor="t" bIns="45800" lIns="45800" spcFirstLastPara="1" rIns="45800" wrap="square" tIns="45800">
            <a:noAutofit/>
          </a:bodyPr>
          <a:lstStyle/>
          <a:p>
            <a:pPr indent="0" lvl="0" marL="0" rtl="0" algn="l">
              <a:lnSpc>
                <a:spcPct val="100000"/>
              </a:lnSpc>
              <a:spcBef>
                <a:spcPts val="0"/>
              </a:spcBef>
              <a:spcAft>
                <a:spcPts val="0"/>
              </a:spcAft>
              <a:buNone/>
            </a:pPr>
            <a:r>
              <a:rPr b="1" lang="en" sz="844">
                <a:solidFill>
                  <a:schemeClr val="dk1"/>
                </a:solidFill>
              </a:rPr>
              <a:t>p</a:t>
            </a:r>
            <a:r>
              <a:rPr b="1" baseline="-25000" lang="en" sz="844">
                <a:solidFill>
                  <a:schemeClr val="dk1"/>
                </a:solidFill>
              </a:rPr>
              <a:t>15</a:t>
            </a:r>
            <a:endParaRPr b="1" sz="844">
              <a:solidFill>
                <a:schemeClr val="dk1"/>
              </a:solidFill>
            </a:endParaRPr>
          </a:p>
        </p:txBody>
      </p:sp>
      <p:sp>
        <p:nvSpPr>
          <p:cNvPr id="776" name="Google Shape;776;p54"/>
          <p:cNvSpPr/>
          <p:nvPr/>
        </p:nvSpPr>
        <p:spPr>
          <a:xfrm>
            <a:off x="2753925" y="3153450"/>
            <a:ext cx="1292700" cy="572700"/>
          </a:xfrm>
          <a:prstGeom prst="rect">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a:solidFill>
                  <a:schemeClr val="dk1"/>
                </a:solidFill>
              </a:rPr>
              <a:t>5 red points mapped to +1</a:t>
            </a:r>
            <a:endParaRPr baseline="-25000" i="1">
              <a:solidFill>
                <a:schemeClr val="dk1"/>
              </a:solidFill>
            </a:endParaRPr>
          </a:p>
        </p:txBody>
      </p:sp>
      <p:sp>
        <p:nvSpPr>
          <p:cNvPr id="777" name="Google Shape;777;p54"/>
          <p:cNvSpPr/>
          <p:nvPr/>
        </p:nvSpPr>
        <p:spPr>
          <a:xfrm>
            <a:off x="1685700" y="414900"/>
            <a:ext cx="2016900" cy="572700"/>
          </a:xfrm>
          <a:prstGeom prst="rect">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rPr>
              <a:t>err</a:t>
            </a:r>
            <a:r>
              <a:rPr baseline="-25000" lang="en" sz="1600">
                <a:solidFill>
                  <a:schemeClr val="dk1"/>
                </a:solidFill>
              </a:rPr>
              <a:t>P</a:t>
            </a:r>
            <a:r>
              <a:rPr lang="en" sz="1600">
                <a:solidFill>
                  <a:schemeClr val="dk1"/>
                </a:solidFill>
              </a:rPr>
              <a:t>(h</a:t>
            </a:r>
            <a:r>
              <a:rPr baseline="-25000" lang="en" sz="1600">
                <a:solidFill>
                  <a:schemeClr val="dk1"/>
                </a:solidFill>
              </a:rPr>
              <a:t>RPE</a:t>
            </a:r>
            <a:r>
              <a:rPr lang="en" sz="1600">
                <a:solidFill>
                  <a:schemeClr val="dk1"/>
                </a:solidFill>
              </a:rPr>
              <a:t>) = 5</a:t>
            </a:r>
            <a:endParaRPr baseline="-25000" sz="1500">
              <a:solidFill>
                <a:schemeClr val="dk1"/>
              </a:solidFill>
            </a:endParaRPr>
          </a:p>
        </p:txBody>
      </p:sp>
      <p:sp>
        <p:nvSpPr>
          <p:cNvPr id="778" name="Google Shape;778;p54"/>
          <p:cNvSpPr/>
          <p:nvPr/>
        </p:nvSpPr>
        <p:spPr>
          <a:xfrm>
            <a:off x="4703875" y="414900"/>
            <a:ext cx="2016900" cy="5727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rPr>
              <a:t>c</a:t>
            </a:r>
            <a:r>
              <a:rPr lang="en" sz="1600">
                <a:solidFill>
                  <a:schemeClr val="dk1"/>
                </a:solidFill>
              </a:rPr>
              <a:t>ost = 2 probes</a:t>
            </a:r>
            <a:endParaRPr baseline="-25000" sz="15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Theorem 2.1 – Formal Guarantees</a:t>
            </a:r>
            <a:endParaRPr/>
          </a:p>
        </p:txBody>
      </p:sp>
      <p:sp>
        <p:nvSpPr>
          <p:cNvPr id="784" name="Google Shape;784;p55"/>
          <p:cNvSpPr txBox="1"/>
          <p:nvPr>
            <p:ph idx="1" type="body"/>
          </p:nvPr>
        </p:nvSpPr>
        <p:spPr>
          <a:xfrm>
            <a:off x="311700" y="1726150"/>
            <a:ext cx="3999900" cy="28428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2000">
                <a:solidFill>
                  <a:schemeClr val="dk1"/>
                </a:solidFill>
              </a:rPr>
              <a:t>E[err</a:t>
            </a:r>
            <a:r>
              <a:rPr baseline="-25000" lang="en" sz="2000">
                <a:solidFill>
                  <a:schemeClr val="dk1"/>
                </a:solidFill>
              </a:rPr>
              <a:t>P</a:t>
            </a:r>
            <a:r>
              <a:rPr lang="en" sz="2000">
                <a:solidFill>
                  <a:schemeClr val="dk1"/>
                </a:solidFill>
              </a:rPr>
              <a:t>(h</a:t>
            </a:r>
            <a:r>
              <a:rPr baseline="-25000" lang="en" sz="2000">
                <a:solidFill>
                  <a:schemeClr val="dk1"/>
                </a:solidFill>
              </a:rPr>
              <a:t>RPE</a:t>
            </a:r>
            <a:r>
              <a:rPr lang="en" sz="2000">
                <a:solidFill>
                  <a:schemeClr val="dk1"/>
                </a:solidFill>
              </a:rPr>
              <a:t>)]  ≤ 2k*</a:t>
            </a:r>
            <a:endParaRPr sz="2000">
              <a:solidFill>
                <a:schemeClr val="dk1"/>
              </a:solidFill>
            </a:endParaRPr>
          </a:p>
          <a:p>
            <a:pPr indent="0" lvl="0" marL="0" rtl="0" algn="l">
              <a:spcBef>
                <a:spcPts val="1200"/>
              </a:spcBef>
              <a:spcAft>
                <a:spcPts val="0"/>
              </a:spcAft>
              <a:buNone/>
            </a:pPr>
            <a:r>
              <a:rPr lang="en" sz="1500">
                <a:solidFill>
                  <a:schemeClr val="dk1"/>
                </a:solidFill>
              </a:rPr>
              <a:t>i.e. </a:t>
            </a:r>
            <a:r>
              <a:rPr lang="en" sz="1500">
                <a:solidFill>
                  <a:schemeClr val="dk1"/>
                </a:solidFill>
              </a:rPr>
              <a:t>expected error is at most twice the optimal monotone error, regardless of input</a:t>
            </a:r>
            <a:endParaRPr sz="20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i="1" lang="en" sz="1500">
                <a:solidFill>
                  <a:schemeClr val="dk1"/>
                </a:solidFill>
              </a:rPr>
              <a:t>Note: Guarantee is in expectation → a single run may exceed 2k*</a:t>
            </a:r>
            <a:endParaRPr i="1" sz="1500">
              <a:solidFill>
                <a:schemeClr val="dk1"/>
              </a:solidFill>
            </a:endParaRPr>
          </a:p>
        </p:txBody>
      </p:sp>
      <p:sp>
        <p:nvSpPr>
          <p:cNvPr id="785" name="Google Shape;785;p55"/>
          <p:cNvSpPr/>
          <p:nvPr/>
        </p:nvSpPr>
        <p:spPr>
          <a:xfrm>
            <a:off x="315750" y="1153450"/>
            <a:ext cx="3999900" cy="5727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Expected Error</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Theorem 2.1 – Formal Guarantees</a:t>
            </a:r>
            <a:endParaRPr/>
          </a:p>
        </p:txBody>
      </p:sp>
      <p:sp>
        <p:nvSpPr>
          <p:cNvPr id="791" name="Google Shape;791;p56"/>
          <p:cNvSpPr txBox="1"/>
          <p:nvPr>
            <p:ph idx="1" type="body"/>
          </p:nvPr>
        </p:nvSpPr>
        <p:spPr>
          <a:xfrm>
            <a:off x="311700" y="1726150"/>
            <a:ext cx="3999900" cy="28428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2000">
                <a:solidFill>
                  <a:schemeClr val="dk1"/>
                </a:solidFill>
              </a:rPr>
              <a:t>E[err</a:t>
            </a:r>
            <a:r>
              <a:rPr baseline="-25000" lang="en" sz="2000">
                <a:solidFill>
                  <a:schemeClr val="dk1"/>
                </a:solidFill>
              </a:rPr>
              <a:t>P</a:t>
            </a:r>
            <a:r>
              <a:rPr lang="en" sz="2000">
                <a:solidFill>
                  <a:schemeClr val="dk1"/>
                </a:solidFill>
              </a:rPr>
              <a:t>(h</a:t>
            </a:r>
            <a:r>
              <a:rPr baseline="-25000" lang="en" sz="2000">
                <a:solidFill>
                  <a:schemeClr val="dk1"/>
                </a:solidFill>
              </a:rPr>
              <a:t>RPE</a:t>
            </a:r>
            <a:r>
              <a:rPr lang="en" sz="2000">
                <a:solidFill>
                  <a:schemeClr val="dk1"/>
                </a:solidFill>
              </a:rPr>
              <a:t>)]  ≤ 2k*</a:t>
            </a:r>
            <a:endParaRPr sz="2000">
              <a:solidFill>
                <a:schemeClr val="dk1"/>
              </a:solidFill>
            </a:endParaRPr>
          </a:p>
          <a:p>
            <a:pPr indent="0" lvl="0" marL="0" rtl="0" algn="l">
              <a:spcBef>
                <a:spcPts val="1200"/>
              </a:spcBef>
              <a:spcAft>
                <a:spcPts val="0"/>
              </a:spcAft>
              <a:buNone/>
            </a:pPr>
            <a:r>
              <a:rPr lang="en" sz="1500">
                <a:solidFill>
                  <a:schemeClr val="dk1"/>
                </a:solidFill>
              </a:rPr>
              <a:t>i.e. expected error is at most twice the optimal monotone error, regardless of input</a:t>
            </a:r>
            <a:endParaRPr sz="20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i="1" lang="en" sz="1500">
                <a:solidFill>
                  <a:schemeClr val="dk1"/>
                </a:solidFill>
              </a:rPr>
              <a:t>Note: Guarantee is in expectation → a single run may exceed 2k*</a:t>
            </a:r>
            <a:endParaRPr i="1" sz="1500">
              <a:solidFill>
                <a:schemeClr val="dk1"/>
              </a:solidFill>
            </a:endParaRPr>
          </a:p>
        </p:txBody>
      </p:sp>
      <p:sp>
        <p:nvSpPr>
          <p:cNvPr id="792" name="Google Shape;792;p56"/>
          <p:cNvSpPr/>
          <p:nvPr/>
        </p:nvSpPr>
        <p:spPr>
          <a:xfrm>
            <a:off x="315750" y="1153450"/>
            <a:ext cx="3999900" cy="5727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Expected Error</a:t>
            </a:r>
            <a:endParaRPr sz="2000"/>
          </a:p>
        </p:txBody>
      </p:sp>
      <p:sp>
        <p:nvSpPr>
          <p:cNvPr id="793" name="Google Shape;793;p56"/>
          <p:cNvSpPr/>
          <p:nvPr/>
        </p:nvSpPr>
        <p:spPr>
          <a:xfrm>
            <a:off x="315750" y="2925175"/>
            <a:ext cx="3999900" cy="708000"/>
          </a:xfrm>
          <a:prstGeom prst="rect">
            <a:avLst/>
          </a:prstGeom>
          <a:solidFill>
            <a:srgbClr val="FCE5CD"/>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t>Special case: k* = 0 → 2k* = 0</a:t>
            </a:r>
            <a:endParaRPr sz="1500"/>
          </a:p>
          <a:p>
            <a:pPr indent="0" lvl="0" marL="0" rtl="0" algn="l">
              <a:lnSpc>
                <a:spcPct val="115000"/>
              </a:lnSpc>
              <a:spcBef>
                <a:spcPts val="0"/>
              </a:spcBef>
              <a:spcAft>
                <a:spcPts val="0"/>
              </a:spcAft>
              <a:buNone/>
            </a:pPr>
            <a:r>
              <a:rPr lang="en" sz="1500"/>
              <a:t>RPE always finds a perfect classifier.</a:t>
            </a:r>
            <a:endParaRPr sz="15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Theorem 2.1 – Formal Guarantees</a:t>
            </a:r>
            <a:endParaRPr/>
          </a:p>
        </p:txBody>
      </p:sp>
      <p:sp>
        <p:nvSpPr>
          <p:cNvPr id="799" name="Google Shape;799;p57"/>
          <p:cNvSpPr txBox="1"/>
          <p:nvPr>
            <p:ph idx="1" type="body"/>
          </p:nvPr>
        </p:nvSpPr>
        <p:spPr>
          <a:xfrm>
            <a:off x="311700" y="1726150"/>
            <a:ext cx="3999900" cy="28428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2000">
                <a:solidFill>
                  <a:schemeClr val="dk1"/>
                </a:solidFill>
              </a:rPr>
              <a:t>E[err</a:t>
            </a:r>
            <a:r>
              <a:rPr baseline="-25000" lang="en" sz="2000">
                <a:solidFill>
                  <a:schemeClr val="dk1"/>
                </a:solidFill>
              </a:rPr>
              <a:t>P</a:t>
            </a:r>
            <a:r>
              <a:rPr lang="en" sz="2000">
                <a:solidFill>
                  <a:schemeClr val="dk1"/>
                </a:solidFill>
              </a:rPr>
              <a:t>(h</a:t>
            </a:r>
            <a:r>
              <a:rPr baseline="-25000" lang="en" sz="2000">
                <a:solidFill>
                  <a:schemeClr val="dk1"/>
                </a:solidFill>
              </a:rPr>
              <a:t>RPE</a:t>
            </a:r>
            <a:r>
              <a:rPr lang="en" sz="2000">
                <a:solidFill>
                  <a:schemeClr val="dk1"/>
                </a:solidFill>
              </a:rPr>
              <a:t>)]  ≤ 2k*</a:t>
            </a:r>
            <a:endParaRPr sz="2000">
              <a:solidFill>
                <a:schemeClr val="dk1"/>
              </a:solidFill>
            </a:endParaRPr>
          </a:p>
          <a:p>
            <a:pPr indent="0" lvl="0" marL="0" rtl="0" algn="l">
              <a:spcBef>
                <a:spcPts val="1200"/>
              </a:spcBef>
              <a:spcAft>
                <a:spcPts val="0"/>
              </a:spcAft>
              <a:buNone/>
            </a:pPr>
            <a:r>
              <a:rPr lang="en" sz="1500">
                <a:solidFill>
                  <a:schemeClr val="dk1"/>
                </a:solidFill>
              </a:rPr>
              <a:t>i.e. expected error is at most twice the optimal monotone error, regardless of input</a:t>
            </a:r>
            <a:endParaRPr sz="20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i="1" lang="en" sz="1500">
                <a:solidFill>
                  <a:schemeClr val="dk1"/>
                </a:solidFill>
              </a:rPr>
              <a:t>Note: Guarantee is in expectation → a single run may exceed 2k*</a:t>
            </a:r>
            <a:endParaRPr i="1" sz="1500">
              <a:solidFill>
                <a:schemeClr val="dk1"/>
              </a:solidFill>
            </a:endParaRPr>
          </a:p>
        </p:txBody>
      </p:sp>
      <p:sp>
        <p:nvSpPr>
          <p:cNvPr id="800" name="Google Shape;800;p57"/>
          <p:cNvSpPr txBox="1"/>
          <p:nvPr>
            <p:ph idx="2" type="body"/>
          </p:nvPr>
        </p:nvSpPr>
        <p:spPr>
          <a:xfrm>
            <a:off x="4832400" y="1726075"/>
            <a:ext cx="3999900" cy="2842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rgbClr val="000000"/>
                </a:solidFill>
              </a:rPr>
              <a:t>O(w⋅log(n/w)), </a:t>
            </a:r>
            <a:endParaRPr sz="2000">
              <a:solidFill>
                <a:srgbClr val="000000"/>
              </a:solidFill>
            </a:endParaRPr>
          </a:p>
          <a:p>
            <a:pPr indent="0" lvl="0" marL="0" rtl="0" algn="l">
              <a:spcBef>
                <a:spcPts val="1200"/>
              </a:spcBef>
              <a:spcAft>
                <a:spcPts val="0"/>
              </a:spcAft>
              <a:buNone/>
            </a:pPr>
            <a:r>
              <a:rPr lang="en" sz="1500">
                <a:solidFill>
                  <a:srgbClr val="000000"/>
                </a:solidFill>
              </a:rPr>
              <a:t>where w is the dominance width of P, n = |P|, and log(x) = log</a:t>
            </a:r>
            <a:r>
              <a:rPr baseline="-25000" lang="en" sz="1500">
                <a:solidFill>
                  <a:srgbClr val="000000"/>
                </a:solidFill>
              </a:rPr>
              <a:t>2</a:t>
            </a:r>
            <a:r>
              <a:rPr lang="en" sz="1500">
                <a:solidFill>
                  <a:srgbClr val="000000"/>
                </a:solidFill>
              </a:rPr>
              <a:t>(1 + x)</a:t>
            </a:r>
            <a:endParaRPr sz="1500">
              <a:solidFill>
                <a:srgbClr val="000000"/>
              </a:solidFill>
            </a:endParaRPr>
          </a:p>
          <a:p>
            <a:pPr indent="0" lvl="0" marL="0" rtl="0" algn="l">
              <a:spcBef>
                <a:spcPts val="1200"/>
              </a:spcBef>
              <a:spcAft>
                <a:spcPts val="0"/>
              </a:spcAft>
              <a:buNone/>
            </a:pPr>
            <a:r>
              <a:rPr lang="en" sz="1500">
                <a:solidFill>
                  <a:srgbClr val="000000"/>
                </a:solidFill>
              </a:rPr>
              <a:t>Far fewer than naive n probes!</a:t>
            </a:r>
            <a:endParaRPr sz="1500">
              <a:solidFill>
                <a:srgbClr val="000000"/>
              </a:solidFill>
            </a:endParaRPr>
          </a:p>
          <a:p>
            <a:pPr indent="0" lvl="0" marL="0" rtl="0" algn="l">
              <a:spcBef>
                <a:spcPts val="1200"/>
              </a:spcBef>
              <a:spcAft>
                <a:spcPts val="0"/>
              </a:spcAft>
              <a:buNone/>
            </a:pPr>
            <a:r>
              <a:t/>
            </a:r>
            <a:endParaRPr sz="1500">
              <a:solidFill>
                <a:srgbClr val="000000"/>
              </a:solidFill>
            </a:endParaRPr>
          </a:p>
          <a:p>
            <a:pPr indent="0" lvl="0" marL="0" rtl="0" algn="l">
              <a:spcBef>
                <a:spcPts val="1200"/>
              </a:spcBef>
              <a:spcAft>
                <a:spcPts val="1200"/>
              </a:spcAft>
              <a:buNone/>
            </a:pPr>
            <a:r>
              <a:rPr i="1" lang="en" sz="1500">
                <a:solidFill>
                  <a:srgbClr val="000000"/>
                </a:solidFill>
              </a:rPr>
              <a:t>Note: RPE never needs to compute w – the width is only used in analysis</a:t>
            </a:r>
            <a:endParaRPr i="1" sz="1500">
              <a:solidFill>
                <a:srgbClr val="000000"/>
              </a:solidFill>
            </a:endParaRPr>
          </a:p>
        </p:txBody>
      </p:sp>
      <p:sp>
        <p:nvSpPr>
          <p:cNvPr id="801" name="Google Shape;801;p57"/>
          <p:cNvSpPr/>
          <p:nvPr/>
        </p:nvSpPr>
        <p:spPr>
          <a:xfrm>
            <a:off x="315750" y="1153450"/>
            <a:ext cx="3999900" cy="5727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Expected Error</a:t>
            </a:r>
            <a:endParaRPr sz="2000"/>
          </a:p>
        </p:txBody>
      </p:sp>
      <p:sp>
        <p:nvSpPr>
          <p:cNvPr id="802" name="Google Shape;802;p57"/>
          <p:cNvSpPr/>
          <p:nvPr/>
        </p:nvSpPr>
        <p:spPr>
          <a:xfrm>
            <a:off x="483240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Expected Cost</a:t>
            </a:r>
            <a:endParaRPr sz="2000"/>
          </a:p>
        </p:txBody>
      </p:sp>
      <p:sp>
        <p:nvSpPr>
          <p:cNvPr id="803" name="Google Shape;803;p57"/>
          <p:cNvSpPr/>
          <p:nvPr/>
        </p:nvSpPr>
        <p:spPr>
          <a:xfrm>
            <a:off x="315750" y="2925175"/>
            <a:ext cx="3999900" cy="708000"/>
          </a:xfrm>
          <a:prstGeom prst="rect">
            <a:avLst/>
          </a:prstGeom>
          <a:solidFill>
            <a:srgbClr val="FCE5CD"/>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t>Special case: k* = 0 → 2k* = 0</a:t>
            </a:r>
            <a:endParaRPr sz="1500"/>
          </a:p>
          <a:p>
            <a:pPr indent="0" lvl="0" marL="0" rtl="0" algn="l">
              <a:lnSpc>
                <a:spcPct val="115000"/>
              </a:lnSpc>
              <a:spcBef>
                <a:spcPts val="0"/>
              </a:spcBef>
              <a:spcAft>
                <a:spcPts val="0"/>
              </a:spcAft>
              <a:buNone/>
            </a:pPr>
            <a:r>
              <a:rPr lang="en" sz="1500"/>
              <a:t>RPE always finds a perfect classifier.</a:t>
            </a:r>
            <a:endParaRPr sz="1500"/>
          </a:p>
        </p:txBody>
      </p:sp>
      <p:sp>
        <p:nvSpPr>
          <p:cNvPr id="804" name="Google Shape;804;p57"/>
          <p:cNvSpPr txBox="1"/>
          <p:nvPr/>
        </p:nvSpPr>
        <p:spPr>
          <a:xfrm>
            <a:off x="4832550" y="4361475"/>
            <a:ext cx="3999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300"/>
              <a:t>w = max. number of mutually incomparable points</a:t>
            </a:r>
            <a:endParaRPr i="1" sz="13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E[err</a:t>
            </a:r>
            <a:r>
              <a:rPr baseline="-25000" lang="en" sz="2500"/>
              <a:t>P</a:t>
            </a:r>
            <a:r>
              <a:rPr lang="en" sz="2500"/>
              <a:t>(h</a:t>
            </a:r>
            <a:r>
              <a:rPr baseline="-25000" lang="en" sz="2500"/>
              <a:t>RPE</a:t>
            </a:r>
            <a:r>
              <a:rPr lang="en" sz="2500"/>
              <a:t>)]  ≤ 2k*</a:t>
            </a:r>
            <a:endParaRPr sz="2500"/>
          </a:p>
        </p:txBody>
      </p:sp>
      <p:sp>
        <p:nvSpPr>
          <p:cNvPr id="810" name="Google Shape;810;p58"/>
          <p:cNvSpPr txBox="1"/>
          <p:nvPr>
            <p:ph idx="1" type="body"/>
          </p:nvPr>
        </p:nvSpPr>
        <p:spPr>
          <a:xfrm>
            <a:off x="311700" y="1152475"/>
            <a:ext cx="39999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300">
                <a:solidFill>
                  <a:srgbClr val="000000"/>
                </a:solidFill>
              </a:rPr>
              <a:t>Fix the optimal classifier h*. Classify every point as:</a:t>
            </a:r>
            <a:endParaRPr sz="1300">
              <a:solidFill>
                <a:srgbClr val="000000"/>
              </a:solidFill>
            </a:endParaRPr>
          </a:p>
          <a:p>
            <a:pPr indent="0" lvl="0" marL="0" rtl="0" algn="l">
              <a:spcBef>
                <a:spcPts val="0"/>
              </a:spcBef>
              <a:spcAft>
                <a:spcPts val="0"/>
              </a:spcAft>
              <a:buNone/>
            </a:pPr>
            <a:r>
              <a:t/>
            </a:r>
            <a:endParaRPr sz="1300">
              <a:solidFill>
                <a:srgbClr val="000000"/>
              </a:solidFill>
            </a:endParaRPr>
          </a:p>
        </p:txBody>
      </p:sp>
      <p:sp>
        <p:nvSpPr>
          <p:cNvPr id="811" name="Google Shape;811;p58"/>
          <p:cNvSpPr/>
          <p:nvPr/>
        </p:nvSpPr>
        <p:spPr>
          <a:xfrm>
            <a:off x="407850" y="1593997"/>
            <a:ext cx="1812000" cy="7401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h*-good </a:t>
            </a:r>
            <a:endParaRPr sz="1500"/>
          </a:p>
          <a:p>
            <a:pPr indent="0" lvl="0" marL="0" rtl="0" algn="ctr">
              <a:lnSpc>
                <a:spcPct val="115000"/>
              </a:lnSpc>
              <a:spcBef>
                <a:spcPts val="0"/>
              </a:spcBef>
              <a:spcAft>
                <a:spcPts val="0"/>
              </a:spcAft>
              <a:buNone/>
            </a:pPr>
            <a:r>
              <a:rPr lang="en" sz="1500"/>
              <a:t>if h*(p) = label(p)</a:t>
            </a:r>
            <a:endParaRPr sz="1500"/>
          </a:p>
        </p:txBody>
      </p:sp>
      <p:sp>
        <p:nvSpPr>
          <p:cNvPr id="812" name="Google Shape;812;p58"/>
          <p:cNvSpPr/>
          <p:nvPr/>
        </p:nvSpPr>
        <p:spPr>
          <a:xfrm>
            <a:off x="2386650" y="1593997"/>
            <a:ext cx="1812000" cy="7401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h*-bad </a:t>
            </a:r>
            <a:endParaRPr sz="1500"/>
          </a:p>
          <a:p>
            <a:pPr indent="0" lvl="0" marL="0" rtl="0" algn="ctr">
              <a:lnSpc>
                <a:spcPct val="115000"/>
              </a:lnSpc>
              <a:spcBef>
                <a:spcPts val="0"/>
              </a:spcBef>
              <a:spcAft>
                <a:spcPts val="0"/>
              </a:spcAft>
              <a:buNone/>
            </a:pPr>
            <a:r>
              <a:rPr lang="en" sz="1500"/>
              <a:t>if h*(p) ≠ label(p)</a:t>
            </a:r>
            <a:endParaRPr sz="1500"/>
          </a:p>
        </p:txBody>
      </p:sp>
      <p:sp>
        <p:nvSpPr>
          <p:cNvPr id="813" name="Google Shape;813;p58"/>
          <p:cNvSpPr/>
          <p:nvPr/>
        </p:nvSpPr>
        <p:spPr>
          <a:xfrm>
            <a:off x="416250" y="2855475"/>
            <a:ext cx="3790800" cy="7401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n" sz="1500"/>
              <a:t>L</a:t>
            </a:r>
            <a:r>
              <a:rPr i="1" lang="en" sz="1500"/>
              <a:t>emma 2.1. </a:t>
            </a:r>
            <a:r>
              <a:rPr lang="en" sz="1500"/>
              <a:t>Expected # of h*-good points misclassified by h</a:t>
            </a:r>
            <a:r>
              <a:rPr baseline="-25000" lang="en" sz="1500"/>
              <a:t>RPE</a:t>
            </a:r>
            <a:r>
              <a:rPr lang="en" sz="1500"/>
              <a:t> ≤ k* </a:t>
            </a:r>
            <a:endParaRPr sz="1500"/>
          </a:p>
        </p:txBody>
      </p:sp>
      <p:sp>
        <p:nvSpPr>
          <p:cNvPr id="814" name="Google Shape;814;p58"/>
          <p:cNvSpPr/>
          <p:nvPr/>
        </p:nvSpPr>
        <p:spPr>
          <a:xfrm>
            <a:off x="407850" y="3783375"/>
            <a:ext cx="1722600" cy="7401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k* bad points </a:t>
            </a:r>
            <a:endParaRPr sz="1500"/>
          </a:p>
          <a:p>
            <a:pPr indent="0" lvl="0" marL="0" rtl="0" algn="ctr">
              <a:lnSpc>
                <a:spcPct val="115000"/>
              </a:lnSpc>
              <a:spcBef>
                <a:spcPts val="0"/>
              </a:spcBef>
              <a:spcAft>
                <a:spcPts val="0"/>
              </a:spcAft>
              <a:buNone/>
            </a:pPr>
            <a:r>
              <a:rPr lang="en" sz="1500"/>
              <a:t>(always wrong)</a:t>
            </a:r>
            <a:endParaRPr sz="1500"/>
          </a:p>
        </p:txBody>
      </p:sp>
      <p:sp>
        <p:nvSpPr>
          <p:cNvPr id="815" name="Google Shape;815;p58"/>
          <p:cNvSpPr/>
          <p:nvPr/>
        </p:nvSpPr>
        <p:spPr>
          <a:xfrm>
            <a:off x="2476050" y="3783375"/>
            <a:ext cx="1722600" cy="7401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 k* good points </a:t>
            </a:r>
            <a:endParaRPr sz="1500"/>
          </a:p>
          <a:p>
            <a:pPr indent="0" lvl="0" marL="0" rtl="0" algn="ctr">
              <a:lnSpc>
                <a:spcPct val="115000"/>
              </a:lnSpc>
              <a:spcBef>
                <a:spcPts val="0"/>
              </a:spcBef>
              <a:spcAft>
                <a:spcPts val="0"/>
              </a:spcAft>
              <a:buNone/>
            </a:pPr>
            <a:r>
              <a:rPr lang="en" sz="1500"/>
              <a:t>(misclassified)</a:t>
            </a:r>
            <a:endParaRPr sz="1500"/>
          </a:p>
        </p:txBody>
      </p:sp>
      <p:sp>
        <p:nvSpPr>
          <p:cNvPr id="816" name="Google Shape;816;p58"/>
          <p:cNvSpPr/>
          <p:nvPr/>
        </p:nvSpPr>
        <p:spPr>
          <a:xfrm>
            <a:off x="1933950" y="3783375"/>
            <a:ext cx="755400" cy="740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a:t>
            </a:r>
            <a:endParaRPr sz="1500"/>
          </a:p>
        </p:txBody>
      </p:sp>
      <p:sp>
        <p:nvSpPr>
          <p:cNvPr id="817" name="Google Shape;817;p58"/>
          <p:cNvSpPr txBox="1"/>
          <p:nvPr>
            <p:ph idx="1" type="body"/>
          </p:nvPr>
        </p:nvSpPr>
        <p:spPr>
          <a:xfrm>
            <a:off x="311700" y="2397523"/>
            <a:ext cx="3999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rPr>
              <a:t>There are exactly k* h*bad points.</a:t>
            </a:r>
            <a:endParaRPr sz="1300">
              <a:solidFill>
                <a:srgbClr val="000000"/>
              </a:solidFill>
            </a:endParaRPr>
          </a:p>
        </p:txBody>
      </p:sp>
      <p:sp>
        <p:nvSpPr>
          <p:cNvPr id="818" name="Google Shape;818;p58"/>
          <p:cNvSpPr/>
          <p:nvPr/>
        </p:nvSpPr>
        <p:spPr>
          <a:xfrm>
            <a:off x="4207050" y="3783375"/>
            <a:ext cx="755400" cy="740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chemeClr val="dk1"/>
                </a:solidFill>
              </a:rPr>
              <a:t>≤</a:t>
            </a:r>
            <a:r>
              <a:rPr lang="en" sz="1500"/>
              <a:t> 2k*</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5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E[err</a:t>
            </a:r>
            <a:r>
              <a:rPr baseline="-25000" lang="en" sz="2500"/>
              <a:t>P</a:t>
            </a:r>
            <a:r>
              <a:rPr lang="en" sz="2500"/>
              <a:t>(h</a:t>
            </a:r>
            <a:r>
              <a:rPr baseline="-25000" lang="en" sz="2500"/>
              <a:t>RPE</a:t>
            </a:r>
            <a:r>
              <a:rPr lang="en" sz="2500"/>
              <a:t>)]  ≤ 2k*</a:t>
            </a:r>
            <a:endParaRPr sz="2500"/>
          </a:p>
        </p:txBody>
      </p:sp>
      <p:sp>
        <p:nvSpPr>
          <p:cNvPr id="824" name="Google Shape;824;p59"/>
          <p:cNvSpPr txBox="1"/>
          <p:nvPr>
            <p:ph idx="1" type="body"/>
          </p:nvPr>
        </p:nvSpPr>
        <p:spPr>
          <a:xfrm>
            <a:off x="311700" y="1152475"/>
            <a:ext cx="39999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300">
                <a:solidFill>
                  <a:srgbClr val="000000"/>
                </a:solidFill>
              </a:rPr>
              <a:t>Fix the optimal classifier h*. Classify every point as:</a:t>
            </a:r>
            <a:endParaRPr sz="1300">
              <a:solidFill>
                <a:srgbClr val="000000"/>
              </a:solidFill>
            </a:endParaRPr>
          </a:p>
          <a:p>
            <a:pPr indent="0" lvl="0" marL="0" rtl="0" algn="l">
              <a:spcBef>
                <a:spcPts val="0"/>
              </a:spcBef>
              <a:spcAft>
                <a:spcPts val="0"/>
              </a:spcAft>
              <a:buNone/>
            </a:pPr>
            <a:r>
              <a:t/>
            </a:r>
            <a:endParaRPr sz="1300">
              <a:solidFill>
                <a:srgbClr val="000000"/>
              </a:solidFill>
            </a:endParaRPr>
          </a:p>
        </p:txBody>
      </p:sp>
      <p:sp>
        <p:nvSpPr>
          <p:cNvPr id="825" name="Google Shape;825;p59"/>
          <p:cNvSpPr/>
          <p:nvPr/>
        </p:nvSpPr>
        <p:spPr>
          <a:xfrm>
            <a:off x="407850" y="1593997"/>
            <a:ext cx="1812000" cy="7401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h*-good </a:t>
            </a:r>
            <a:endParaRPr sz="1500"/>
          </a:p>
          <a:p>
            <a:pPr indent="0" lvl="0" marL="0" rtl="0" algn="ctr">
              <a:lnSpc>
                <a:spcPct val="115000"/>
              </a:lnSpc>
              <a:spcBef>
                <a:spcPts val="0"/>
              </a:spcBef>
              <a:spcAft>
                <a:spcPts val="0"/>
              </a:spcAft>
              <a:buNone/>
            </a:pPr>
            <a:r>
              <a:rPr lang="en" sz="1500"/>
              <a:t>if h*(p) = label(p)</a:t>
            </a:r>
            <a:endParaRPr sz="1500"/>
          </a:p>
        </p:txBody>
      </p:sp>
      <p:sp>
        <p:nvSpPr>
          <p:cNvPr id="826" name="Google Shape;826;p59"/>
          <p:cNvSpPr/>
          <p:nvPr/>
        </p:nvSpPr>
        <p:spPr>
          <a:xfrm>
            <a:off x="2386650" y="1593997"/>
            <a:ext cx="1812000" cy="7401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h*-bad </a:t>
            </a:r>
            <a:endParaRPr sz="1500"/>
          </a:p>
          <a:p>
            <a:pPr indent="0" lvl="0" marL="0" rtl="0" algn="ctr">
              <a:lnSpc>
                <a:spcPct val="115000"/>
              </a:lnSpc>
              <a:spcBef>
                <a:spcPts val="0"/>
              </a:spcBef>
              <a:spcAft>
                <a:spcPts val="0"/>
              </a:spcAft>
              <a:buNone/>
            </a:pPr>
            <a:r>
              <a:rPr lang="en" sz="1500"/>
              <a:t>if h*(p) ≠ label(p)</a:t>
            </a:r>
            <a:endParaRPr sz="1500"/>
          </a:p>
        </p:txBody>
      </p:sp>
      <p:sp>
        <p:nvSpPr>
          <p:cNvPr id="827" name="Google Shape;827;p59"/>
          <p:cNvSpPr/>
          <p:nvPr/>
        </p:nvSpPr>
        <p:spPr>
          <a:xfrm>
            <a:off x="416250" y="2855475"/>
            <a:ext cx="3790800" cy="7401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n" sz="1500"/>
              <a:t>Lemma 2.1.</a:t>
            </a:r>
            <a:r>
              <a:rPr lang="en" sz="1500"/>
              <a:t> Expected # of h*-good points misclassified by h</a:t>
            </a:r>
            <a:r>
              <a:rPr baseline="-25000" lang="en" sz="1500"/>
              <a:t>RPE</a:t>
            </a:r>
            <a:r>
              <a:rPr lang="en" sz="1500"/>
              <a:t> ≤ k*   </a:t>
            </a:r>
            <a:r>
              <a:rPr lang="en" sz="1200"/>
              <a:t>(</a:t>
            </a:r>
            <a:r>
              <a:rPr lang="en" sz="1200"/>
              <a:t># of h*-bad points)</a:t>
            </a:r>
            <a:endParaRPr sz="1200"/>
          </a:p>
        </p:txBody>
      </p:sp>
      <p:sp>
        <p:nvSpPr>
          <p:cNvPr id="828" name="Google Shape;828;p59"/>
          <p:cNvSpPr/>
          <p:nvPr/>
        </p:nvSpPr>
        <p:spPr>
          <a:xfrm>
            <a:off x="407850" y="3783375"/>
            <a:ext cx="1722600" cy="7401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k* bad points </a:t>
            </a:r>
            <a:endParaRPr sz="1500"/>
          </a:p>
          <a:p>
            <a:pPr indent="0" lvl="0" marL="0" rtl="0" algn="ctr">
              <a:lnSpc>
                <a:spcPct val="115000"/>
              </a:lnSpc>
              <a:spcBef>
                <a:spcPts val="0"/>
              </a:spcBef>
              <a:spcAft>
                <a:spcPts val="0"/>
              </a:spcAft>
              <a:buNone/>
            </a:pPr>
            <a:r>
              <a:rPr lang="en" sz="1500"/>
              <a:t>(always wrong)</a:t>
            </a:r>
            <a:endParaRPr sz="1500"/>
          </a:p>
        </p:txBody>
      </p:sp>
      <p:sp>
        <p:nvSpPr>
          <p:cNvPr id="829" name="Google Shape;829;p59"/>
          <p:cNvSpPr/>
          <p:nvPr/>
        </p:nvSpPr>
        <p:spPr>
          <a:xfrm>
            <a:off x="2476050" y="3783375"/>
            <a:ext cx="1722600" cy="7401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 k* good points </a:t>
            </a:r>
            <a:endParaRPr sz="1500"/>
          </a:p>
          <a:p>
            <a:pPr indent="0" lvl="0" marL="0" rtl="0" algn="ctr">
              <a:lnSpc>
                <a:spcPct val="115000"/>
              </a:lnSpc>
              <a:spcBef>
                <a:spcPts val="0"/>
              </a:spcBef>
              <a:spcAft>
                <a:spcPts val="0"/>
              </a:spcAft>
              <a:buNone/>
            </a:pPr>
            <a:r>
              <a:rPr lang="en" sz="1500"/>
              <a:t>(misclassified)</a:t>
            </a:r>
            <a:endParaRPr sz="1500"/>
          </a:p>
        </p:txBody>
      </p:sp>
      <p:sp>
        <p:nvSpPr>
          <p:cNvPr id="830" name="Google Shape;830;p59"/>
          <p:cNvSpPr/>
          <p:nvPr/>
        </p:nvSpPr>
        <p:spPr>
          <a:xfrm>
            <a:off x="1933950" y="3783375"/>
            <a:ext cx="755400" cy="740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t>+</a:t>
            </a:r>
            <a:endParaRPr sz="1500"/>
          </a:p>
        </p:txBody>
      </p:sp>
      <p:sp>
        <p:nvSpPr>
          <p:cNvPr id="831" name="Google Shape;831;p59"/>
          <p:cNvSpPr txBox="1"/>
          <p:nvPr>
            <p:ph idx="1" type="body"/>
          </p:nvPr>
        </p:nvSpPr>
        <p:spPr>
          <a:xfrm>
            <a:off x="311700" y="2397523"/>
            <a:ext cx="3999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solidFill>
                  <a:schemeClr val="dk1"/>
                </a:solidFill>
              </a:rPr>
              <a:t>There are exactly k* h*bad points.</a:t>
            </a:r>
            <a:endParaRPr sz="1300">
              <a:solidFill>
                <a:srgbClr val="000000"/>
              </a:solidFill>
            </a:endParaRPr>
          </a:p>
        </p:txBody>
      </p:sp>
      <p:sp>
        <p:nvSpPr>
          <p:cNvPr id="832" name="Google Shape;832;p59"/>
          <p:cNvSpPr/>
          <p:nvPr/>
        </p:nvSpPr>
        <p:spPr>
          <a:xfrm>
            <a:off x="4207050" y="3783375"/>
            <a:ext cx="755400" cy="740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chemeClr val="dk1"/>
                </a:solidFill>
              </a:rPr>
              <a:t>≤</a:t>
            </a:r>
            <a:r>
              <a:rPr lang="en" sz="1500"/>
              <a:t> 2k*</a:t>
            </a:r>
            <a:endParaRPr sz="1500"/>
          </a:p>
        </p:txBody>
      </p:sp>
      <p:sp>
        <p:nvSpPr>
          <p:cNvPr id="833" name="Google Shape;833;p59"/>
          <p:cNvSpPr txBox="1"/>
          <p:nvPr>
            <p:ph idx="2" type="body"/>
          </p:nvPr>
        </p:nvSpPr>
        <p:spPr>
          <a:xfrm>
            <a:off x="4832400" y="567204"/>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rgbClr val="222222"/>
                </a:solidFill>
              </a:rPr>
              <a:t>When RPE probes a point, it can cause other points to be misclassified: </a:t>
            </a:r>
            <a:endParaRPr sz="1300">
              <a:solidFill>
                <a:srgbClr val="222222"/>
              </a:solidFill>
            </a:endParaRPr>
          </a:p>
        </p:txBody>
      </p:sp>
      <p:sp>
        <p:nvSpPr>
          <p:cNvPr id="834" name="Google Shape;834;p59"/>
          <p:cNvSpPr/>
          <p:nvPr/>
        </p:nvSpPr>
        <p:spPr>
          <a:xfrm>
            <a:off x="4936950" y="1215929"/>
            <a:ext cx="3790800" cy="978000"/>
          </a:xfrm>
          <a:prstGeom prst="rect">
            <a:avLst/>
          </a:prstGeom>
          <a:solidFill>
            <a:srgbClr val="FCE5CD"/>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500"/>
              <a:t>I</a:t>
            </a:r>
            <a:r>
              <a:rPr b="1" baseline="-25000" lang="en" sz="1500"/>
              <a:t>bad</a:t>
            </a:r>
            <a:r>
              <a:rPr b="1" lang="en" sz="1500"/>
              <a:t>(p)</a:t>
            </a:r>
            <a:r>
              <a:rPr lang="en" sz="1500"/>
              <a:t> for each h*-bad point p:</a:t>
            </a:r>
            <a:endParaRPr sz="1500"/>
          </a:p>
          <a:p>
            <a:pPr indent="0" lvl="0" marL="0" rtl="0" algn="l">
              <a:lnSpc>
                <a:spcPct val="115000"/>
              </a:lnSpc>
              <a:spcBef>
                <a:spcPts val="0"/>
              </a:spcBef>
              <a:spcAft>
                <a:spcPts val="0"/>
              </a:spcAft>
              <a:buNone/>
            </a:pPr>
            <a:r>
              <a:rPr lang="en" sz="1300"/>
              <a:t>set of h*-good points that get forced to the wrong label if p is the first probe. </a:t>
            </a:r>
            <a:endParaRPr sz="1300"/>
          </a:p>
        </p:txBody>
      </p:sp>
      <p:sp>
        <p:nvSpPr>
          <p:cNvPr id="835" name="Google Shape;835;p59"/>
          <p:cNvSpPr/>
          <p:nvPr/>
        </p:nvSpPr>
        <p:spPr>
          <a:xfrm>
            <a:off x="4936950" y="2327579"/>
            <a:ext cx="3790800" cy="978000"/>
          </a:xfrm>
          <a:prstGeom prst="rect">
            <a:avLst/>
          </a:prstGeom>
          <a:solidFill>
            <a:srgbClr val="FCE5CD"/>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500"/>
              <a:t>I</a:t>
            </a:r>
            <a:r>
              <a:rPr b="1" baseline="-25000" lang="en" sz="1500"/>
              <a:t>good</a:t>
            </a:r>
            <a:r>
              <a:rPr b="1" lang="en" sz="1500"/>
              <a:t>(q)</a:t>
            </a:r>
            <a:r>
              <a:rPr lang="en" sz="1500"/>
              <a:t> for each h*-good point q:</a:t>
            </a:r>
            <a:endParaRPr sz="1500"/>
          </a:p>
          <a:p>
            <a:pPr indent="0" lvl="0" marL="0" rtl="0" algn="l">
              <a:lnSpc>
                <a:spcPct val="115000"/>
              </a:lnSpc>
              <a:spcBef>
                <a:spcPts val="0"/>
              </a:spcBef>
              <a:spcAft>
                <a:spcPts val="0"/>
              </a:spcAft>
              <a:buNone/>
            </a:pPr>
            <a:r>
              <a:rPr lang="en" sz="1300"/>
              <a:t>set of h*-bad points that get forced to the wrong label if q is the first probe. </a:t>
            </a:r>
            <a:endParaRPr sz="1300"/>
          </a:p>
        </p:txBody>
      </p:sp>
      <p:sp>
        <p:nvSpPr>
          <p:cNvPr id="836" name="Google Shape;836;p59"/>
          <p:cNvSpPr/>
          <p:nvPr/>
        </p:nvSpPr>
        <p:spPr>
          <a:xfrm>
            <a:off x="4936950" y="3439225"/>
            <a:ext cx="3790800" cy="8355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n" sz="1500"/>
              <a:t>Lemma 2.2. </a:t>
            </a:r>
            <a:r>
              <a:rPr lang="en" sz="1500"/>
              <a:t>q ∈ I</a:t>
            </a:r>
            <a:r>
              <a:rPr baseline="-25000" lang="en" sz="1500"/>
              <a:t>bad</a:t>
            </a:r>
            <a:r>
              <a:rPr lang="en" sz="1500"/>
              <a:t>(p) ⟺ </a:t>
            </a:r>
            <a:r>
              <a:rPr lang="en" sz="1500">
                <a:solidFill>
                  <a:schemeClr val="dk1"/>
                </a:solidFill>
              </a:rPr>
              <a:t>p</a:t>
            </a:r>
            <a:r>
              <a:rPr lang="en" sz="1500">
                <a:solidFill>
                  <a:schemeClr val="dk1"/>
                </a:solidFill>
              </a:rPr>
              <a:t> ∈ I</a:t>
            </a:r>
            <a:r>
              <a:rPr baseline="-25000" lang="en" sz="1500">
                <a:solidFill>
                  <a:schemeClr val="dk1"/>
                </a:solidFill>
              </a:rPr>
              <a:t>good</a:t>
            </a:r>
            <a:r>
              <a:rPr lang="en" sz="1500">
                <a:solidFill>
                  <a:schemeClr val="dk1"/>
                </a:solidFill>
              </a:rPr>
              <a:t>(q) </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 Σ</a:t>
            </a:r>
            <a:r>
              <a:rPr baseline="-25000" lang="en" sz="1500">
                <a:solidFill>
                  <a:schemeClr val="dk1"/>
                </a:solidFill>
              </a:rPr>
              <a:t>p∈bad</a:t>
            </a:r>
            <a:r>
              <a:rPr lang="en" sz="1500">
                <a:solidFill>
                  <a:schemeClr val="dk1"/>
                </a:solidFill>
              </a:rPr>
              <a:t> |I</a:t>
            </a:r>
            <a:r>
              <a:rPr baseline="-25000" lang="en" sz="1500">
                <a:solidFill>
                  <a:schemeClr val="dk1"/>
                </a:solidFill>
              </a:rPr>
              <a:t>bad</a:t>
            </a:r>
            <a:r>
              <a:rPr lang="en" sz="1500">
                <a:solidFill>
                  <a:schemeClr val="dk1"/>
                </a:solidFill>
              </a:rPr>
              <a:t>(p)|  =  Σ</a:t>
            </a:r>
            <a:r>
              <a:rPr baseline="-25000" lang="en" sz="1500">
                <a:solidFill>
                  <a:schemeClr val="dk1"/>
                </a:solidFill>
              </a:rPr>
              <a:t>q∈good</a:t>
            </a:r>
            <a:r>
              <a:rPr lang="en" sz="1500">
                <a:solidFill>
                  <a:schemeClr val="dk1"/>
                </a:solidFill>
              </a:rPr>
              <a:t> |I</a:t>
            </a:r>
            <a:r>
              <a:rPr baseline="-25000" lang="en" sz="1500">
                <a:solidFill>
                  <a:schemeClr val="dk1"/>
                </a:solidFill>
              </a:rPr>
              <a:t>good</a:t>
            </a:r>
            <a:r>
              <a:rPr lang="en" sz="1500">
                <a:solidFill>
                  <a:schemeClr val="dk1"/>
                </a:solidFill>
              </a:rPr>
              <a:t>(q)|</a:t>
            </a:r>
            <a:endParaRPr sz="1500"/>
          </a:p>
        </p:txBody>
      </p:sp>
      <p:sp>
        <p:nvSpPr>
          <p:cNvPr id="837" name="Google Shape;837;p59"/>
          <p:cNvSpPr txBox="1"/>
          <p:nvPr>
            <p:ph idx="1" type="body"/>
          </p:nvPr>
        </p:nvSpPr>
        <p:spPr>
          <a:xfrm>
            <a:off x="311700" y="4652878"/>
            <a:ext cx="8520600" cy="44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1100">
                <a:solidFill>
                  <a:schemeClr val="dk1"/>
                </a:solidFill>
              </a:rPr>
              <a:t>Note: h* is used here to prove the expected error bound, but the lemmas and terms apply for any monotone classifier h.</a:t>
            </a:r>
            <a:endParaRPr i="1" sz="1100">
              <a:solidFill>
                <a:srgbClr val="000000"/>
              </a:solidFill>
            </a:endParaRPr>
          </a:p>
        </p:txBody>
      </p:sp>
      <p:sp>
        <p:nvSpPr>
          <p:cNvPr id="838" name="Google Shape;838;p59"/>
          <p:cNvSpPr txBox="1"/>
          <p:nvPr/>
        </p:nvSpPr>
        <p:spPr>
          <a:xfrm>
            <a:off x="4936950" y="4274725"/>
            <a:ext cx="37908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t> total “potential for error” = total “potential for correction”</a:t>
            </a:r>
            <a:endParaRPr sz="1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6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O(w⋅log(n/w)) Probes</a:t>
            </a:r>
            <a:endParaRPr sz="2500"/>
          </a:p>
        </p:txBody>
      </p:sp>
      <p:sp>
        <p:nvSpPr>
          <p:cNvPr id="844" name="Google Shape;844;p60"/>
          <p:cNvSpPr txBox="1"/>
          <p:nvPr>
            <p:ph idx="1" type="body"/>
          </p:nvPr>
        </p:nvSpPr>
        <p:spPr>
          <a:xfrm>
            <a:off x="311700" y="1726150"/>
            <a:ext cx="3999900" cy="28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rgbClr val="000000"/>
                </a:solidFill>
              </a:rPr>
              <a:t>Any P can be partitioned into exactly w disjoint chains (where every point in a chain is comparable to others).</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rPr>
              <a:t>Two points p and q are comparable if:</a:t>
            </a:r>
            <a:endParaRPr sz="1500">
              <a:solidFill>
                <a:srgbClr val="000000"/>
              </a:solidFill>
            </a:endParaRPr>
          </a:p>
          <a:p>
            <a:pPr indent="0" lvl="0" marL="0" rtl="0" algn="l">
              <a:spcBef>
                <a:spcPts val="0"/>
              </a:spcBef>
              <a:spcAft>
                <a:spcPts val="0"/>
              </a:spcAft>
              <a:buNone/>
            </a:pPr>
            <a:r>
              <a:rPr lang="en" sz="1500">
                <a:solidFill>
                  <a:srgbClr val="000000"/>
                </a:solidFill>
              </a:rPr>
              <a:t>p</a:t>
            </a:r>
            <a:r>
              <a:rPr lang="en" sz="1500">
                <a:solidFill>
                  <a:srgbClr val="000000"/>
                </a:solidFill>
              </a:rPr>
              <a:t> ⪰ q or q ⪰ p</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i="1" lang="en" sz="1500">
                <a:solidFill>
                  <a:srgbClr val="000000"/>
                </a:solidFill>
              </a:rPr>
              <a:t>Intuition: Comparable = “we can clearly say one is better (or equal) in all aspects”</a:t>
            </a:r>
            <a:endParaRPr i="1" sz="1500">
              <a:solidFill>
                <a:srgbClr val="000000"/>
              </a:solidFill>
            </a:endParaRPr>
          </a:p>
        </p:txBody>
      </p:sp>
      <p:sp>
        <p:nvSpPr>
          <p:cNvPr id="845" name="Google Shape;845;p60"/>
          <p:cNvSpPr/>
          <p:nvPr/>
        </p:nvSpPr>
        <p:spPr>
          <a:xfrm>
            <a:off x="31575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1. Dilworth’s Theorem</a:t>
            </a:r>
            <a:endParaRPr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6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O(w⋅log(n/w)) Probes</a:t>
            </a:r>
            <a:endParaRPr sz="2500"/>
          </a:p>
        </p:txBody>
      </p:sp>
      <p:sp>
        <p:nvSpPr>
          <p:cNvPr id="851" name="Google Shape;851;p61"/>
          <p:cNvSpPr txBox="1"/>
          <p:nvPr>
            <p:ph idx="1" type="body"/>
          </p:nvPr>
        </p:nvSpPr>
        <p:spPr>
          <a:xfrm>
            <a:off x="311700" y="1726150"/>
            <a:ext cx="3999900" cy="28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rgbClr val="000000"/>
                </a:solidFill>
              </a:rPr>
              <a:t>Any P can be partitioned into exactly w disjoint chains (where every point in a chain is comparable to others).</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300">
                <a:solidFill>
                  <a:srgbClr val="000000"/>
                </a:solidFill>
              </a:rPr>
              <a:t>e</a:t>
            </a:r>
            <a:r>
              <a:rPr lang="en" sz="1300">
                <a:solidFill>
                  <a:srgbClr val="000000"/>
                </a:solidFill>
              </a:rPr>
              <a:t>.g., P can be decomposed into 6 chains:</a:t>
            </a:r>
            <a:endParaRPr sz="1300">
              <a:solidFill>
                <a:srgbClr val="000000"/>
              </a:solidFill>
            </a:endParaRPr>
          </a:p>
          <a:p>
            <a:pPr indent="0" lvl="0" marL="0" rtl="0" algn="l">
              <a:spcBef>
                <a:spcPts val="0"/>
              </a:spcBef>
              <a:spcAft>
                <a:spcPts val="0"/>
              </a:spcAft>
              <a:buNone/>
            </a:pPr>
            <a:r>
              <a:rPr lang="en" sz="1300">
                <a:solidFill>
                  <a:srgbClr val="000000"/>
                </a:solidFill>
              </a:rPr>
              <a:t>C</a:t>
            </a:r>
            <a:r>
              <a:rPr baseline="-25000" lang="en" sz="1300">
                <a:solidFill>
                  <a:srgbClr val="000000"/>
                </a:solidFill>
              </a:rPr>
              <a:t>1</a:t>
            </a:r>
            <a:r>
              <a:rPr lang="en" sz="1300">
                <a:solidFill>
                  <a:srgbClr val="000000"/>
                </a:solidFill>
              </a:rPr>
              <a:t> = {</a:t>
            </a:r>
            <a:r>
              <a:rPr lang="en" sz="1300">
                <a:solidFill>
                  <a:schemeClr val="dk1"/>
                </a:solidFill>
              </a:rPr>
              <a:t>p</a:t>
            </a:r>
            <a:r>
              <a:rPr baseline="-25000" lang="en" sz="1300">
                <a:solidFill>
                  <a:schemeClr val="dk1"/>
                </a:solidFill>
              </a:rPr>
              <a:t>1</a:t>
            </a:r>
            <a:r>
              <a:rPr lang="en" sz="1300">
                <a:solidFill>
                  <a:schemeClr val="dk1"/>
                </a:solidFill>
              </a:rPr>
              <a:t>, p</a:t>
            </a:r>
            <a:r>
              <a:rPr baseline="-25000" lang="en" sz="1300">
                <a:solidFill>
                  <a:schemeClr val="dk1"/>
                </a:solidFill>
              </a:rPr>
              <a:t>2</a:t>
            </a:r>
            <a:r>
              <a:rPr lang="en" sz="1300">
                <a:solidFill>
                  <a:schemeClr val="dk1"/>
                </a:solidFill>
              </a:rPr>
              <a:t>, p</a:t>
            </a:r>
            <a:r>
              <a:rPr baseline="-25000" lang="en" sz="1300">
                <a:solidFill>
                  <a:schemeClr val="dk1"/>
                </a:solidFill>
              </a:rPr>
              <a:t>3</a:t>
            </a:r>
            <a:r>
              <a:rPr lang="en" sz="1300">
                <a:solidFill>
                  <a:schemeClr val="dk1"/>
                </a:solidFill>
              </a:rPr>
              <a:t>,p</a:t>
            </a:r>
            <a:r>
              <a:rPr baseline="-25000" lang="en" sz="1300">
                <a:solidFill>
                  <a:schemeClr val="dk1"/>
                </a:solidFill>
              </a:rPr>
              <a:t>4</a:t>
            </a:r>
            <a:r>
              <a:rPr lang="en" sz="1300">
                <a:solidFill>
                  <a:schemeClr val="dk1"/>
                </a:solidFill>
              </a:rPr>
              <a:t>, p</a:t>
            </a:r>
            <a:r>
              <a:rPr baseline="-25000" lang="en" sz="1300">
                <a:solidFill>
                  <a:schemeClr val="dk1"/>
                </a:solidFill>
              </a:rPr>
              <a:t>10</a:t>
            </a:r>
            <a:r>
              <a:rPr lang="en" sz="1300">
                <a:solidFill>
                  <a:schemeClr val="dk1"/>
                </a:solidFill>
              </a:rPr>
              <a:t>}</a:t>
            </a:r>
            <a:endParaRPr sz="1300">
              <a:solidFill>
                <a:schemeClr val="dk1"/>
              </a:solidFill>
            </a:endParaRPr>
          </a:p>
          <a:p>
            <a:pPr indent="0" lvl="0" marL="0" rtl="0" algn="l">
              <a:spcBef>
                <a:spcPts val="0"/>
              </a:spcBef>
              <a:spcAft>
                <a:spcPts val="0"/>
              </a:spcAft>
              <a:buNone/>
            </a:pPr>
            <a:r>
              <a:rPr lang="en" sz="1300">
                <a:solidFill>
                  <a:schemeClr val="dk1"/>
                </a:solidFill>
              </a:rPr>
              <a:t>C</a:t>
            </a:r>
            <a:r>
              <a:rPr baseline="-25000" lang="en" sz="1300">
                <a:solidFill>
                  <a:schemeClr val="dk1"/>
                </a:solidFill>
              </a:rPr>
              <a:t>2</a:t>
            </a:r>
            <a:r>
              <a:rPr lang="en" sz="1300">
                <a:solidFill>
                  <a:schemeClr val="dk1"/>
                </a:solidFill>
              </a:rPr>
              <a:t> = {p</a:t>
            </a:r>
            <a:r>
              <a:rPr baseline="-25000" lang="en" sz="1300">
                <a:solidFill>
                  <a:schemeClr val="dk1"/>
                </a:solidFill>
              </a:rPr>
              <a:t>11</a:t>
            </a:r>
            <a:r>
              <a:rPr lang="en" sz="1300">
                <a:solidFill>
                  <a:schemeClr val="dk1"/>
                </a:solidFill>
              </a:rPr>
              <a:t>}</a:t>
            </a:r>
            <a:endParaRPr sz="1300">
              <a:solidFill>
                <a:schemeClr val="dk1"/>
              </a:solidFill>
            </a:endParaRPr>
          </a:p>
          <a:p>
            <a:pPr indent="0" lvl="0" marL="0" rtl="0" algn="l">
              <a:spcBef>
                <a:spcPts val="0"/>
              </a:spcBef>
              <a:spcAft>
                <a:spcPts val="0"/>
              </a:spcAft>
              <a:buNone/>
            </a:pPr>
            <a:r>
              <a:rPr lang="en" sz="1300">
                <a:solidFill>
                  <a:schemeClr val="dk1"/>
                </a:solidFill>
              </a:rPr>
              <a:t>C</a:t>
            </a:r>
            <a:r>
              <a:rPr baseline="-25000" lang="en" sz="1300">
                <a:solidFill>
                  <a:schemeClr val="dk1"/>
                </a:solidFill>
              </a:rPr>
              <a:t>3</a:t>
            </a:r>
            <a:r>
              <a:rPr lang="en" sz="1300">
                <a:solidFill>
                  <a:schemeClr val="dk1"/>
                </a:solidFill>
              </a:rPr>
              <a:t> = {p</a:t>
            </a:r>
            <a:r>
              <a:rPr baseline="-25000" lang="en" sz="1300">
                <a:solidFill>
                  <a:schemeClr val="dk1"/>
                </a:solidFill>
              </a:rPr>
              <a:t>5</a:t>
            </a:r>
            <a:r>
              <a:rPr lang="en" sz="1300">
                <a:solidFill>
                  <a:schemeClr val="dk1"/>
                </a:solidFill>
              </a:rPr>
              <a:t>, p</a:t>
            </a:r>
            <a:r>
              <a:rPr baseline="-25000" lang="en" sz="1300">
                <a:solidFill>
                  <a:schemeClr val="dk1"/>
                </a:solidFill>
              </a:rPr>
              <a:t>9</a:t>
            </a:r>
            <a:r>
              <a:rPr lang="en" sz="1300">
                <a:solidFill>
                  <a:schemeClr val="dk1"/>
                </a:solidFill>
              </a:rPr>
              <a:t>, p</a:t>
            </a:r>
            <a:r>
              <a:rPr baseline="-25000" lang="en" sz="1300">
                <a:solidFill>
                  <a:schemeClr val="dk1"/>
                </a:solidFill>
              </a:rPr>
              <a:t>12</a:t>
            </a:r>
            <a:r>
              <a:rPr lang="en" sz="1300">
                <a:solidFill>
                  <a:schemeClr val="dk1"/>
                </a:solidFill>
              </a:rPr>
              <a:t>}</a:t>
            </a:r>
            <a:endParaRPr sz="1300">
              <a:solidFill>
                <a:schemeClr val="dk1"/>
              </a:solidFill>
            </a:endParaRPr>
          </a:p>
          <a:p>
            <a:pPr indent="0" lvl="0" marL="0" rtl="0" algn="l">
              <a:spcBef>
                <a:spcPts val="0"/>
              </a:spcBef>
              <a:spcAft>
                <a:spcPts val="0"/>
              </a:spcAft>
              <a:buNone/>
            </a:pPr>
            <a:r>
              <a:rPr lang="en" sz="1300">
                <a:solidFill>
                  <a:schemeClr val="dk1"/>
                </a:solidFill>
              </a:rPr>
              <a:t>C</a:t>
            </a:r>
            <a:r>
              <a:rPr baseline="-25000" lang="en" sz="1300">
                <a:solidFill>
                  <a:schemeClr val="dk1"/>
                </a:solidFill>
              </a:rPr>
              <a:t>4</a:t>
            </a:r>
            <a:r>
              <a:rPr lang="en" sz="1300">
                <a:solidFill>
                  <a:schemeClr val="dk1"/>
                </a:solidFill>
              </a:rPr>
              <a:t> = {p</a:t>
            </a:r>
            <a:r>
              <a:rPr baseline="-25000" lang="en" sz="1300">
                <a:solidFill>
                  <a:schemeClr val="dk1"/>
                </a:solidFill>
              </a:rPr>
              <a:t>16</a:t>
            </a:r>
            <a:r>
              <a:rPr lang="en" sz="1300">
                <a:solidFill>
                  <a:schemeClr val="dk1"/>
                </a:solidFill>
              </a:rPr>
              <a:t>}</a:t>
            </a:r>
            <a:endParaRPr sz="1300">
              <a:solidFill>
                <a:schemeClr val="dk1"/>
              </a:solidFill>
            </a:endParaRPr>
          </a:p>
          <a:p>
            <a:pPr indent="0" lvl="0" marL="0" rtl="0" algn="l">
              <a:spcBef>
                <a:spcPts val="0"/>
              </a:spcBef>
              <a:spcAft>
                <a:spcPts val="0"/>
              </a:spcAft>
              <a:buNone/>
            </a:pPr>
            <a:r>
              <a:rPr lang="en" sz="1300">
                <a:solidFill>
                  <a:schemeClr val="dk1"/>
                </a:solidFill>
              </a:rPr>
              <a:t>C</a:t>
            </a:r>
            <a:r>
              <a:rPr baseline="-25000" lang="en" sz="1300">
                <a:solidFill>
                  <a:schemeClr val="dk1"/>
                </a:solidFill>
              </a:rPr>
              <a:t>5</a:t>
            </a:r>
            <a:r>
              <a:rPr lang="en" sz="1300">
                <a:solidFill>
                  <a:schemeClr val="dk1"/>
                </a:solidFill>
              </a:rPr>
              <a:t> = {p</a:t>
            </a:r>
            <a:r>
              <a:rPr baseline="-25000" lang="en" sz="1300">
                <a:solidFill>
                  <a:schemeClr val="dk1"/>
                </a:solidFill>
              </a:rPr>
              <a:t>13</a:t>
            </a:r>
            <a:r>
              <a:rPr lang="en" sz="1300">
                <a:solidFill>
                  <a:schemeClr val="dk1"/>
                </a:solidFill>
              </a:rPr>
              <a:t>}</a:t>
            </a:r>
            <a:endParaRPr sz="1300">
              <a:solidFill>
                <a:schemeClr val="dk1"/>
              </a:solidFill>
            </a:endParaRPr>
          </a:p>
          <a:p>
            <a:pPr indent="0" lvl="0" marL="0" rtl="0" algn="l">
              <a:spcBef>
                <a:spcPts val="0"/>
              </a:spcBef>
              <a:spcAft>
                <a:spcPts val="0"/>
              </a:spcAft>
              <a:buNone/>
            </a:pPr>
            <a:r>
              <a:rPr lang="en" sz="1300">
                <a:solidFill>
                  <a:schemeClr val="dk1"/>
                </a:solidFill>
              </a:rPr>
              <a:t>C</a:t>
            </a:r>
            <a:r>
              <a:rPr baseline="-25000" lang="en" sz="1300">
                <a:solidFill>
                  <a:schemeClr val="dk1"/>
                </a:solidFill>
              </a:rPr>
              <a:t>6</a:t>
            </a:r>
            <a:r>
              <a:rPr lang="en" sz="1300">
                <a:solidFill>
                  <a:schemeClr val="dk1"/>
                </a:solidFill>
              </a:rPr>
              <a:t> = {p</a:t>
            </a:r>
            <a:r>
              <a:rPr baseline="-25000" lang="en" sz="1300">
                <a:solidFill>
                  <a:schemeClr val="dk1"/>
                </a:solidFill>
              </a:rPr>
              <a:t>6</a:t>
            </a:r>
            <a:r>
              <a:rPr lang="en" sz="1300">
                <a:solidFill>
                  <a:schemeClr val="dk1"/>
                </a:solidFill>
              </a:rPr>
              <a:t>, p</a:t>
            </a:r>
            <a:r>
              <a:rPr baseline="-25000" lang="en" sz="1300">
                <a:solidFill>
                  <a:schemeClr val="dk1"/>
                </a:solidFill>
              </a:rPr>
              <a:t>7</a:t>
            </a:r>
            <a:r>
              <a:rPr lang="en" sz="1300">
                <a:solidFill>
                  <a:schemeClr val="dk1"/>
                </a:solidFill>
              </a:rPr>
              <a:t>, p</a:t>
            </a:r>
            <a:r>
              <a:rPr baseline="-25000" lang="en" sz="1300">
                <a:solidFill>
                  <a:schemeClr val="dk1"/>
                </a:solidFill>
              </a:rPr>
              <a:t>8</a:t>
            </a:r>
            <a:r>
              <a:rPr lang="en" sz="1300">
                <a:solidFill>
                  <a:schemeClr val="dk1"/>
                </a:solidFill>
              </a:rPr>
              <a:t>,p</a:t>
            </a:r>
            <a:r>
              <a:rPr baseline="-25000" lang="en" sz="1300">
                <a:solidFill>
                  <a:schemeClr val="dk1"/>
                </a:solidFill>
              </a:rPr>
              <a:t>14</a:t>
            </a:r>
            <a:r>
              <a:rPr lang="en" sz="1300">
                <a:solidFill>
                  <a:schemeClr val="dk1"/>
                </a:solidFill>
              </a:rPr>
              <a:t>, p</a:t>
            </a:r>
            <a:r>
              <a:rPr baseline="-25000" lang="en" sz="1300">
                <a:solidFill>
                  <a:schemeClr val="dk1"/>
                </a:solidFill>
              </a:rPr>
              <a:t>15</a:t>
            </a:r>
            <a:r>
              <a:rPr lang="en" sz="1300">
                <a:solidFill>
                  <a:schemeClr val="dk1"/>
                </a:solidFill>
              </a:rPr>
              <a:t>}</a:t>
            </a:r>
            <a:endParaRPr sz="1500">
              <a:solidFill>
                <a:schemeClr val="dk1"/>
              </a:solidFill>
            </a:endParaRPr>
          </a:p>
        </p:txBody>
      </p:sp>
      <p:sp>
        <p:nvSpPr>
          <p:cNvPr id="852" name="Google Shape;852;p61"/>
          <p:cNvSpPr/>
          <p:nvPr/>
        </p:nvSpPr>
        <p:spPr>
          <a:xfrm>
            <a:off x="31575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1. Dilworth’s Theorem</a:t>
            </a:r>
            <a:endParaRPr sz="2000"/>
          </a:p>
        </p:txBody>
      </p:sp>
      <p:cxnSp>
        <p:nvCxnSpPr>
          <p:cNvPr id="853" name="Google Shape;853;p61"/>
          <p:cNvCxnSpPr/>
          <p:nvPr/>
        </p:nvCxnSpPr>
        <p:spPr>
          <a:xfrm>
            <a:off x="4738807" y="1638131"/>
            <a:ext cx="4500" cy="2917500"/>
          </a:xfrm>
          <a:prstGeom prst="straightConnector1">
            <a:avLst/>
          </a:prstGeom>
          <a:noFill/>
          <a:ln cap="flat" cmpd="sng" w="22250">
            <a:solidFill>
              <a:schemeClr val="dk2"/>
            </a:solidFill>
            <a:prstDash val="solid"/>
            <a:round/>
            <a:headEnd len="med" w="med" type="none"/>
            <a:tailEnd len="med" w="med" type="none"/>
          </a:ln>
        </p:spPr>
      </p:cxnSp>
      <p:cxnSp>
        <p:nvCxnSpPr>
          <p:cNvPr id="854" name="Google Shape;854;p61"/>
          <p:cNvCxnSpPr/>
          <p:nvPr/>
        </p:nvCxnSpPr>
        <p:spPr>
          <a:xfrm flipH="1">
            <a:off x="4729581" y="4566649"/>
            <a:ext cx="3743400" cy="2400"/>
          </a:xfrm>
          <a:prstGeom prst="straightConnector1">
            <a:avLst/>
          </a:prstGeom>
          <a:noFill/>
          <a:ln cap="flat" cmpd="sng" w="22250">
            <a:solidFill>
              <a:schemeClr val="dk2"/>
            </a:solidFill>
            <a:prstDash val="solid"/>
            <a:round/>
            <a:headEnd len="med" w="med" type="none"/>
            <a:tailEnd len="med" w="med" type="none"/>
          </a:ln>
        </p:spPr>
      </p:cxnSp>
      <p:sp>
        <p:nvSpPr>
          <p:cNvPr id="855" name="Google Shape;855;p61"/>
          <p:cNvSpPr/>
          <p:nvPr/>
        </p:nvSpPr>
        <p:spPr>
          <a:xfrm>
            <a:off x="4924989" y="3683193"/>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56" name="Google Shape;856;p61"/>
          <p:cNvSpPr txBox="1"/>
          <p:nvPr>
            <p:ph idx="1" type="body"/>
          </p:nvPr>
        </p:nvSpPr>
        <p:spPr>
          <a:xfrm>
            <a:off x="4894954" y="3453601"/>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a:t>
            </a:r>
            <a:endParaRPr b="1" sz="865">
              <a:solidFill>
                <a:schemeClr val="dk1"/>
              </a:solidFill>
            </a:endParaRPr>
          </a:p>
        </p:txBody>
      </p:sp>
      <p:sp>
        <p:nvSpPr>
          <p:cNvPr id="857" name="Google Shape;857;p61"/>
          <p:cNvSpPr/>
          <p:nvPr/>
        </p:nvSpPr>
        <p:spPr>
          <a:xfrm>
            <a:off x="4924989" y="3268959"/>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58" name="Google Shape;858;p61"/>
          <p:cNvSpPr txBox="1"/>
          <p:nvPr>
            <p:ph idx="1" type="body"/>
          </p:nvPr>
        </p:nvSpPr>
        <p:spPr>
          <a:xfrm>
            <a:off x="4894954" y="3039368"/>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2</a:t>
            </a:r>
            <a:endParaRPr b="1" sz="865">
              <a:solidFill>
                <a:schemeClr val="dk1"/>
              </a:solidFill>
            </a:endParaRPr>
          </a:p>
        </p:txBody>
      </p:sp>
      <p:sp>
        <p:nvSpPr>
          <p:cNvPr id="859" name="Google Shape;859;p61"/>
          <p:cNvSpPr/>
          <p:nvPr/>
        </p:nvSpPr>
        <p:spPr>
          <a:xfrm>
            <a:off x="5164896" y="2596885"/>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60" name="Google Shape;860;p61"/>
          <p:cNvSpPr txBox="1"/>
          <p:nvPr>
            <p:ph idx="1" type="body"/>
          </p:nvPr>
        </p:nvSpPr>
        <p:spPr>
          <a:xfrm>
            <a:off x="5134861" y="2367294"/>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3</a:t>
            </a:r>
            <a:endParaRPr b="1" sz="865">
              <a:solidFill>
                <a:schemeClr val="dk1"/>
              </a:solidFill>
            </a:endParaRPr>
          </a:p>
        </p:txBody>
      </p:sp>
      <p:sp>
        <p:nvSpPr>
          <p:cNvPr id="861" name="Google Shape;861;p61"/>
          <p:cNvSpPr/>
          <p:nvPr/>
        </p:nvSpPr>
        <p:spPr>
          <a:xfrm>
            <a:off x="5374878" y="1922950"/>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62" name="Google Shape;862;p61"/>
          <p:cNvSpPr txBox="1"/>
          <p:nvPr>
            <p:ph idx="1" type="body"/>
          </p:nvPr>
        </p:nvSpPr>
        <p:spPr>
          <a:xfrm>
            <a:off x="5344843" y="1693358"/>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4</a:t>
            </a:r>
            <a:endParaRPr b="1" sz="865">
              <a:solidFill>
                <a:schemeClr val="dk1"/>
              </a:solidFill>
            </a:endParaRPr>
          </a:p>
        </p:txBody>
      </p:sp>
      <p:sp>
        <p:nvSpPr>
          <p:cNvPr id="863" name="Google Shape;863;p61"/>
          <p:cNvSpPr/>
          <p:nvPr/>
        </p:nvSpPr>
        <p:spPr>
          <a:xfrm>
            <a:off x="6064593" y="1786664"/>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64" name="Google Shape;864;p61"/>
          <p:cNvSpPr txBox="1"/>
          <p:nvPr>
            <p:ph idx="1" type="body"/>
          </p:nvPr>
        </p:nvSpPr>
        <p:spPr>
          <a:xfrm>
            <a:off x="6034558" y="1557072"/>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10</a:t>
            </a:r>
            <a:endParaRPr b="1" sz="865">
              <a:solidFill>
                <a:schemeClr val="dk1"/>
              </a:solidFill>
            </a:endParaRPr>
          </a:p>
        </p:txBody>
      </p:sp>
      <p:sp>
        <p:nvSpPr>
          <p:cNvPr id="865" name="Google Shape;865;p61"/>
          <p:cNvSpPr/>
          <p:nvPr/>
        </p:nvSpPr>
        <p:spPr>
          <a:xfrm>
            <a:off x="6304546" y="2063289"/>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66" name="Google Shape;866;p61"/>
          <p:cNvSpPr txBox="1"/>
          <p:nvPr>
            <p:ph idx="1" type="body"/>
          </p:nvPr>
        </p:nvSpPr>
        <p:spPr>
          <a:xfrm>
            <a:off x="6274511" y="1833697"/>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11</a:t>
            </a:r>
            <a:endParaRPr b="1" sz="865">
              <a:solidFill>
                <a:schemeClr val="dk1"/>
              </a:solidFill>
            </a:endParaRPr>
          </a:p>
        </p:txBody>
      </p:sp>
      <p:sp>
        <p:nvSpPr>
          <p:cNvPr id="867" name="Google Shape;867;p61"/>
          <p:cNvSpPr/>
          <p:nvPr/>
        </p:nvSpPr>
        <p:spPr>
          <a:xfrm>
            <a:off x="6861386" y="2669150"/>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68" name="Google Shape;868;p61"/>
          <p:cNvSpPr txBox="1"/>
          <p:nvPr>
            <p:ph idx="1" type="body"/>
          </p:nvPr>
        </p:nvSpPr>
        <p:spPr>
          <a:xfrm>
            <a:off x="6831351" y="2439559"/>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13</a:t>
            </a:r>
            <a:endParaRPr b="1" sz="865">
              <a:solidFill>
                <a:schemeClr val="dk1"/>
              </a:solidFill>
            </a:endParaRPr>
          </a:p>
        </p:txBody>
      </p:sp>
      <p:sp>
        <p:nvSpPr>
          <p:cNvPr id="869" name="Google Shape;869;p61"/>
          <p:cNvSpPr/>
          <p:nvPr/>
        </p:nvSpPr>
        <p:spPr>
          <a:xfrm>
            <a:off x="6584340" y="2382199"/>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70" name="Google Shape;870;p61"/>
          <p:cNvSpPr txBox="1"/>
          <p:nvPr>
            <p:ph idx="1" type="body"/>
          </p:nvPr>
        </p:nvSpPr>
        <p:spPr>
          <a:xfrm>
            <a:off x="6554305" y="2152607"/>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12</a:t>
            </a:r>
            <a:endParaRPr b="1" sz="865">
              <a:solidFill>
                <a:schemeClr val="dk1"/>
              </a:solidFill>
            </a:endParaRPr>
          </a:p>
        </p:txBody>
      </p:sp>
      <p:sp>
        <p:nvSpPr>
          <p:cNvPr id="871" name="Google Shape;871;p61"/>
          <p:cNvSpPr/>
          <p:nvPr/>
        </p:nvSpPr>
        <p:spPr>
          <a:xfrm>
            <a:off x="7101319" y="3001242"/>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72" name="Google Shape;872;p61"/>
          <p:cNvSpPr txBox="1"/>
          <p:nvPr>
            <p:ph idx="1" type="body"/>
          </p:nvPr>
        </p:nvSpPr>
        <p:spPr>
          <a:xfrm>
            <a:off x="7071285" y="2771650"/>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14</a:t>
            </a:r>
            <a:endParaRPr b="1" sz="865">
              <a:solidFill>
                <a:schemeClr val="dk1"/>
              </a:solidFill>
            </a:endParaRPr>
          </a:p>
        </p:txBody>
      </p:sp>
      <p:sp>
        <p:nvSpPr>
          <p:cNvPr id="873" name="Google Shape;873;p61"/>
          <p:cNvSpPr/>
          <p:nvPr/>
        </p:nvSpPr>
        <p:spPr>
          <a:xfrm>
            <a:off x="5614783" y="3451004"/>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74" name="Google Shape;874;p61"/>
          <p:cNvSpPr txBox="1"/>
          <p:nvPr>
            <p:ph idx="1" type="body"/>
          </p:nvPr>
        </p:nvSpPr>
        <p:spPr>
          <a:xfrm>
            <a:off x="5584749" y="3221412"/>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5</a:t>
            </a:r>
            <a:endParaRPr b="1" sz="865">
              <a:solidFill>
                <a:schemeClr val="dk1"/>
              </a:solidFill>
            </a:endParaRPr>
          </a:p>
        </p:txBody>
      </p:sp>
      <p:sp>
        <p:nvSpPr>
          <p:cNvPr id="875" name="Google Shape;875;p61"/>
          <p:cNvSpPr/>
          <p:nvPr/>
        </p:nvSpPr>
        <p:spPr>
          <a:xfrm>
            <a:off x="6104495" y="3249394"/>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76" name="Google Shape;876;p61"/>
          <p:cNvSpPr txBox="1"/>
          <p:nvPr>
            <p:ph idx="1" type="body"/>
          </p:nvPr>
        </p:nvSpPr>
        <p:spPr>
          <a:xfrm>
            <a:off x="6074460" y="3019802"/>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9</a:t>
            </a:r>
            <a:endParaRPr b="1" sz="865">
              <a:solidFill>
                <a:schemeClr val="dk1"/>
              </a:solidFill>
            </a:endParaRPr>
          </a:p>
        </p:txBody>
      </p:sp>
      <p:sp>
        <p:nvSpPr>
          <p:cNvPr id="877" name="Google Shape;877;p61"/>
          <p:cNvSpPr/>
          <p:nvPr/>
        </p:nvSpPr>
        <p:spPr>
          <a:xfrm>
            <a:off x="7502076" y="3264657"/>
            <a:ext cx="180000" cy="1767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78" name="Google Shape;878;p61"/>
          <p:cNvSpPr txBox="1"/>
          <p:nvPr>
            <p:ph idx="1" type="body"/>
          </p:nvPr>
        </p:nvSpPr>
        <p:spPr>
          <a:xfrm>
            <a:off x="7472041" y="3039361"/>
            <a:ext cx="239700" cy="2265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16</a:t>
            </a:r>
            <a:endParaRPr b="1" sz="865">
              <a:solidFill>
                <a:schemeClr val="dk1"/>
              </a:solidFill>
            </a:endParaRPr>
          </a:p>
        </p:txBody>
      </p:sp>
      <p:sp>
        <p:nvSpPr>
          <p:cNvPr id="879" name="Google Shape;879;p61"/>
          <p:cNvSpPr/>
          <p:nvPr/>
        </p:nvSpPr>
        <p:spPr>
          <a:xfrm>
            <a:off x="5824672" y="4299220"/>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80" name="Google Shape;880;p61"/>
          <p:cNvSpPr txBox="1"/>
          <p:nvPr>
            <p:ph idx="1" type="body"/>
          </p:nvPr>
        </p:nvSpPr>
        <p:spPr>
          <a:xfrm>
            <a:off x="5794637" y="4069628"/>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6</a:t>
            </a:r>
            <a:endParaRPr b="1" sz="865">
              <a:solidFill>
                <a:schemeClr val="dk1"/>
              </a:solidFill>
            </a:endParaRPr>
          </a:p>
        </p:txBody>
      </p:sp>
      <p:sp>
        <p:nvSpPr>
          <p:cNvPr id="881" name="Google Shape;881;p61"/>
          <p:cNvSpPr/>
          <p:nvPr/>
        </p:nvSpPr>
        <p:spPr>
          <a:xfrm>
            <a:off x="6104536" y="4299220"/>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82" name="Google Shape;882;p61"/>
          <p:cNvSpPr txBox="1"/>
          <p:nvPr>
            <p:ph idx="1" type="body"/>
          </p:nvPr>
        </p:nvSpPr>
        <p:spPr>
          <a:xfrm>
            <a:off x="6074501" y="4069628"/>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7</a:t>
            </a:r>
            <a:endParaRPr b="1" sz="865">
              <a:solidFill>
                <a:schemeClr val="dk1"/>
              </a:solidFill>
            </a:endParaRPr>
          </a:p>
        </p:txBody>
      </p:sp>
      <p:sp>
        <p:nvSpPr>
          <p:cNvPr id="883" name="Google Shape;883;p61"/>
          <p:cNvSpPr/>
          <p:nvPr/>
        </p:nvSpPr>
        <p:spPr>
          <a:xfrm>
            <a:off x="6104574" y="3933546"/>
            <a:ext cx="180000" cy="1800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84" name="Google Shape;884;p61"/>
          <p:cNvSpPr txBox="1"/>
          <p:nvPr>
            <p:ph idx="1" type="body"/>
          </p:nvPr>
        </p:nvSpPr>
        <p:spPr>
          <a:xfrm>
            <a:off x="6074540" y="3703954"/>
            <a:ext cx="239700" cy="2310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8</a:t>
            </a:r>
            <a:endParaRPr b="1" sz="865">
              <a:solidFill>
                <a:schemeClr val="dk1"/>
              </a:solidFill>
            </a:endParaRPr>
          </a:p>
        </p:txBody>
      </p:sp>
      <p:sp>
        <p:nvSpPr>
          <p:cNvPr id="885" name="Google Shape;885;p61"/>
          <p:cNvSpPr/>
          <p:nvPr/>
        </p:nvSpPr>
        <p:spPr>
          <a:xfrm>
            <a:off x="7502133" y="1782369"/>
            <a:ext cx="180000" cy="176700"/>
          </a:xfrm>
          <a:prstGeom prst="ellipse">
            <a:avLst/>
          </a:prstGeom>
          <a:solidFill>
            <a:schemeClr val="lt1"/>
          </a:solid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86" name="Google Shape;886;p61"/>
          <p:cNvSpPr txBox="1"/>
          <p:nvPr>
            <p:ph idx="1" type="body"/>
          </p:nvPr>
        </p:nvSpPr>
        <p:spPr>
          <a:xfrm>
            <a:off x="7472098" y="1557072"/>
            <a:ext cx="239700" cy="226500"/>
          </a:xfrm>
          <a:prstGeom prst="rect">
            <a:avLst/>
          </a:prstGeom>
        </p:spPr>
        <p:txBody>
          <a:bodyPr anchorCtr="0" anchor="t" bIns="46925" lIns="46925" spcFirstLastPara="1" rIns="46925" wrap="square" tIns="46925">
            <a:noAutofit/>
          </a:bodyPr>
          <a:lstStyle/>
          <a:p>
            <a:pPr indent="0" lvl="0" marL="0" rtl="0" algn="l">
              <a:lnSpc>
                <a:spcPct val="100000"/>
              </a:lnSpc>
              <a:spcBef>
                <a:spcPts val="0"/>
              </a:spcBef>
              <a:spcAft>
                <a:spcPts val="0"/>
              </a:spcAft>
              <a:buNone/>
            </a:pPr>
            <a:r>
              <a:rPr b="1" lang="en" sz="865">
                <a:solidFill>
                  <a:schemeClr val="dk1"/>
                </a:solidFill>
              </a:rPr>
              <a:t>p</a:t>
            </a:r>
            <a:r>
              <a:rPr b="1" baseline="-25000" lang="en" sz="865">
                <a:solidFill>
                  <a:schemeClr val="dk1"/>
                </a:solidFill>
              </a:rPr>
              <a:t>15</a:t>
            </a:r>
            <a:endParaRPr b="1" sz="865">
              <a:solidFill>
                <a:schemeClr val="dk1"/>
              </a:solidFill>
            </a:endParaRPr>
          </a:p>
        </p:txBody>
      </p:sp>
      <p:sp>
        <p:nvSpPr>
          <p:cNvPr id="887" name="Google Shape;887;p61"/>
          <p:cNvSpPr txBox="1"/>
          <p:nvPr>
            <p:ph idx="1" type="body"/>
          </p:nvPr>
        </p:nvSpPr>
        <p:spPr>
          <a:xfrm>
            <a:off x="5614774" y="1106625"/>
            <a:ext cx="1899900" cy="365100"/>
          </a:xfrm>
          <a:prstGeom prst="rect">
            <a:avLst/>
          </a:prstGeom>
        </p:spPr>
        <p:txBody>
          <a:bodyPr anchorCtr="0" anchor="t" bIns="87650" lIns="87650" spcFirstLastPara="1" rIns="87650" wrap="square" tIns="87650">
            <a:normAutofit lnSpcReduction="20000"/>
          </a:bodyPr>
          <a:lstStyle/>
          <a:p>
            <a:pPr indent="0" lvl="0" marL="0" rtl="0" algn="l">
              <a:spcBef>
                <a:spcPts val="0"/>
              </a:spcBef>
              <a:spcAft>
                <a:spcPts val="0"/>
              </a:spcAft>
              <a:buNone/>
            </a:pPr>
            <a:r>
              <a:rPr i="1" lang="en" sz="1246">
                <a:solidFill>
                  <a:srgbClr val="000000"/>
                </a:solidFill>
              </a:rPr>
              <a:t>Recall earlier example:</a:t>
            </a:r>
            <a:endParaRPr i="1" sz="1246">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6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O(w⋅log(n/w)) Probes</a:t>
            </a:r>
            <a:endParaRPr sz="2500"/>
          </a:p>
        </p:txBody>
      </p:sp>
      <p:sp>
        <p:nvSpPr>
          <p:cNvPr id="893" name="Google Shape;893;p62"/>
          <p:cNvSpPr txBox="1"/>
          <p:nvPr>
            <p:ph idx="1" type="body"/>
          </p:nvPr>
        </p:nvSpPr>
        <p:spPr>
          <a:xfrm>
            <a:off x="311700" y="1726150"/>
            <a:ext cx="3999900" cy="28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Any P can be partitioned into exactly w disjoint chains (where every point in a chain is comparable to others).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Two points p and q are comparable if:</a:t>
            </a:r>
            <a:endParaRPr sz="1500">
              <a:solidFill>
                <a:schemeClr val="dk1"/>
              </a:solidFill>
            </a:endParaRPr>
          </a:p>
          <a:p>
            <a:pPr indent="0" lvl="0" marL="0" rtl="0" algn="l">
              <a:spcBef>
                <a:spcPts val="0"/>
              </a:spcBef>
              <a:spcAft>
                <a:spcPts val="0"/>
              </a:spcAft>
              <a:buNone/>
            </a:pPr>
            <a:r>
              <a:rPr lang="en" sz="1500">
                <a:solidFill>
                  <a:schemeClr val="dk1"/>
                </a:solidFill>
              </a:rPr>
              <a:t>p ⪰ q or q ⪰ p</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Intuition: Comparable = “we can clearly say one is better (or equal) in all aspects”</a:t>
            </a:r>
            <a:endParaRPr sz="1300">
              <a:solidFill>
                <a:srgbClr val="000000"/>
              </a:solidFill>
            </a:endParaRPr>
          </a:p>
        </p:txBody>
      </p:sp>
      <p:sp>
        <p:nvSpPr>
          <p:cNvPr id="894" name="Google Shape;894;p62"/>
          <p:cNvSpPr txBox="1"/>
          <p:nvPr>
            <p:ph idx="2" type="body"/>
          </p:nvPr>
        </p:nvSpPr>
        <p:spPr>
          <a:xfrm>
            <a:off x="4832400" y="1726075"/>
            <a:ext cx="3999900" cy="1533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Two-player Attrition-and-Elimination (A&amp;E) game on each chain of m points.</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rPr lang="en" sz="1500">
                <a:solidFill>
                  <a:srgbClr val="990000"/>
                </a:solidFill>
              </a:rPr>
              <a:t>Bob</a:t>
            </a:r>
            <a:r>
              <a:rPr lang="en" sz="1500">
                <a:solidFill>
                  <a:schemeClr val="dk1"/>
                </a:solidFill>
              </a:rPr>
              <a:t> (adversary): delete any subset of points</a:t>
            </a:r>
            <a:endParaRPr sz="1500">
              <a:solidFill>
                <a:schemeClr val="dk1"/>
              </a:solidFill>
            </a:endParaRPr>
          </a:p>
          <a:p>
            <a:pPr indent="0" lvl="0" marL="0" rtl="0" algn="l">
              <a:lnSpc>
                <a:spcPct val="115000"/>
              </a:lnSpc>
              <a:spcBef>
                <a:spcPts val="0"/>
              </a:spcBef>
              <a:spcAft>
                <a:spcPts val="0"/>
              </a:spcAft>
              <a:buNone/>
            </a:pPr>
            <a:r>
              <a:rPr lang="en" sz="1500">
                <a:solidFill>
                  <a:srgbClr val="38761D"/>
                </a:solidFill>
              </a:rPr>
              <a:t>Alice</a:t>
            </a:r>
            <a:r>
              <a:rPr lang="en" sz="1500">
                <a:solidFill>
                  <a:schemeClr val="dk1"/>
                </a:solidFill>
              </a:rPr>
              <a:t>: pick a random p and delete all q ⪰ p</a:t>
            </a:r>
            <a:endParaRPr sz="1500">
              <a:solidFill>
                <a:schemeClr val="dk1"/>
              </a:solidFill>
            </a:endParaRPr>
          </a:p>
          <a:p>
            <a:pPr indent="0" lvl="0" marL="0" rtl="0" algn="l">
              <a:spcBef>
                <a:spcPts val="0"/>
              </a:spcBef>
              <a:spcAft>
                <a:spcPts val="1200"/>
              </a:spcAft>
              <a:buNone/>
            </a:pPr>
            <a:r>
              <a:t/>
            </a:r>
            <a:endParaRPr sz="1500">
              <a:solidFill>
                <a:schemeClr val="dk1"/>
              </a:solidFill>
            </a:endParaRPr>
          </a:p>
        </p:txBody>
      </p:sp>
      <p:sp>
        <p:nvSpPr>
          <p:cNvPr id="895" name="Google Shape;895;p62"/>
          <p:cNvSpPr/>
          <p:nvPr/>
        </p:nvSpPr>
        <p:spPr>
          <a:xfrm>
            <a:off x="31575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1. Dilworth’s Theorem</a:t>
            </a:r>
            <a:endParaRPr sz="2000"/>
          </a:p>
        </p:txBody>
      </p:sp>
      <p:sp>
        <p:nvSpPr>
          <p:cNvPr id="896" name="Google Shape;896;p62"/>
          <p:cNvSpPr/>
          <p:nvPr/>
        </p:nvSpPr>
        <p:spPr>
          <a:xfrm>
            <a:off x="483240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2. A&amp;E Game per chain</a:t>
            </a:r>
            <a:endParaRPr sz="2000"/>
          </a:p>
        </p:txBody>
      </p:sp>
      <p:sp>
        <p:nvSpPr>
          <p:cNvPr id="897" name="Google Shape;897;p62"/>
          <p:cNvSpPr/>
          <p:nvPr/>
        </p:nvSpPr>
        <p:spPr>
          <a:xfrm>
            <a:off x="4959001" y="4118943"/>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98" name="Google Shape;898;p62"/>
          <p:cNvSpPr/>
          <p:nvPr/>
        </p:nvSpPr>
        <p:spPr>
          <a:xfrm>
            <a:off x="4959001" y="383241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899" name="Google Shape;899;p62"/>
          <p:cNvSpPr/>
          <p:nvPr/>
        </p:nvSpPr>
        <p:spPr>
          <a:xfrm>
            <a:off x="4959001" y="3545893"/>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0" name="Google Shape;900;p62"/>
          <p:cNvSpPr/>
          <p:nvPr/>
        </p:nvSpPr>
        <p:spPr>
          <a:xfrm>
            <a:off x="4959001" y="32593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1" name="Google Shape;901;p62"/>
          <p:cNvSpPr/>
          <p:nvPr/>
        </p:nvSpPr>
        <p:spPr>
          <a:xfrm>
            <a:off x="5529401" y="44054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2" name="Google Shape;902;p62"/>
          <p:cNvSpPr/>
          <p:nvPr/>
        </p:nvSpPr>
        <p:spPr>
          <a:xfrm>
            <a:off x="5529401" y="383241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3" name="Google Shape;903;p62"/>
          <p:cNvSpPr/>
          <p:nvPr/>
        </p:nvSpPr>
        <p:spPr>
          <a:xfrm>
            <a:off x="5529401" y="32593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4" name="Google Shape;904;p62"/>
          <p:cNvSpPr/>
          <p:nvPr/>
        </p:nvSpPr>
        <p:spPr>
          <a:xfrm>
            <a:off x="4959001" y="44054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5" name="Google Shape;905;p62"/>
          <p:cNvSpPr/>
          <p:nvPr/>
        </p:nvSpPr>
        <p:spPr>
          <a:xfrm>
            <a:off x="6099801" y="44054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6" name="Google Shape;906;p62"/>
          <p:cNvSpPr/>
          <p:nvPr/>
        </p:nvSpPr>
        <p:spPr>
          <a:xfrm>
            <a:off x="6099801" y="32593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7" name="Google Shape;907;p62"/>
          <p:cNvSpPr/>
          <p:nvPr/>
        </p:nvSpPr>
        <p:spPr>
          <a:xfrm>
            <a:off x="6670201" y="4405468"/>
            <a:ext cx="180000" cy="180000"/>
          </a:xfrm>
          <a:prstGeom prst="ellipse">
            <a:avLst/>
          </a:prstGeom>
          <a:noFill/>
          <a:ln cap="flat" cmpd="sng" w="11775">
            <a:solidFill>
              <a:schemeClr val="dk1"/>
            </a:solidFill>
            <a:prstDash val="solid"/>
            <a:round/>
            <a:headEnd len="sm" w="sm" type="none"/>
            <a:tailEnd len="sm" w="sm" type="none"/>
          </a:ln>
        </p:spPr>
        <p:txBody>
          <a:bodyPr anchorCtr="0" anchor="ctr" bIns="59075" lIns="59075" spcFirstLastPara="1" rIns="59075" wrap="square" tIns="59075">
            <a:noAutofit/>
          </a:bodyPr>
          <a:lstStyle/>
          <a:p>
            <a:pPr indent="0" lvl="0" marL="0" rtl="0" algn="ctr">
              <a:spcBef>
                <a:spcPts val="0"/>
              </a:spcBef>
              <a:spcAft>
                <a:spcPts val="0"/>
              </a:spcAft>
              <a:buNone/>
            </a:pPr>
            <a:r>
              <a:t/>
            </a:r>
            <a:endParaRPr sz="904"/>
          </a:p>
        </p:txBody>
      </p:sp>
      <p:sp>
        <p:nvSpPr>
          <p:cNvPr id="908" name="Google Shape;908;p62"/>
          <p:cNvSpPr txBox="1"/>
          <p:nvPr/>
        </p:nvSpPr>
        <p:spPr>
          <a:xfrm>
            <a:off x="4862563" y="4585475"/>
            <a:ext cx="372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1"/>
                </a:solidFill>
              </a:rPr>
              <a:t>R1</a:t>
            </a:r>
            <a:endParaRPr sz="1000">
              <a:solidFill>
                <a:schemeClr val="dk1"/>
              </a:solidFill>
            </a:endParaRPr>
          </a:p>
        </p:txBody>
      </p:sp>
      <p:sp>
        <p:nvSpPr>
          <p:cNvPr id="909" name="Google Shape;909;p62"/>
          <p:cNvSpPr txBox="1"/>
          <p:nvPr/>
        </p:nvSpPr>
        <p:spPr>
          <a:xfrm>
            <a:off x="5432963" y="4585475"/>
            <a:ext cx="372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1"/>
                </a:solidFill>
              </a:rPr>
              <a:t>R2</a:t>
            </a:r>
            <a:endParaRPr sz="1000">
              <a:solidFill>
                <a:schemeClr val="dk1"/>
              </a:solidFill>
            </a:endParaRPr>
          </a:p>
        </p:txBody>
      </p:sp>
      <p:sp>
        <p:nvSpPr>
          <p:cNvPr id="910" name="Google Shape;910;p62"/>
          <p:cNvSpPr txBox="1"/>
          <p:nvPr/>
        </p:nvSpPr>
        <p:spPr>
          <a:xfrm>
            <a:off x="6003363" y="4585475"/>
            <a:ext cx="372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1"/>
                </a:solidFill>
              </a:rPr>
              <a:t>R3</a:t>
            </a:r>
            <a:endParaRPr sz="1000">
              <a:solidFill>
                <a:schemeClr val="dk1"/>
              </a:solidFill>
            </a:endParaRPr>
          </a:p>
        </p:txBody>
      </p:sp>
      <p:sp>
        <p:nvSpPr>
          <p:cNvPr id="911" name="Google Shape;911;p62"/>
          <p:cNvSpPr txBox="1"/>
          <p:nvPr/>
        </p:nvSpPr>
        <p:spPr>
          <a:xfrm>
            <a:off x="6573763" y="4585475"/>
            <a:ext cx="3729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1"/>
                </a:solidFill>
              </a:rPr>
              <a:t>R4</a:t>
            </a:r>
            <a:endParaRPr sz="1000">
              <a:solidFill>
                <a:schemeClr val="dk1"/>
              </a:solidFill>
            </a:endParaRPr>
          </a:p>
        </p:txBody>
      </p:sp>
      <p:sp>
        <p:nvSpPr>
          <p:cNvPr id="912" name="Google Shape;912;p62"/>
          <p:cNvSpPr txBox="1"/>
          <p:nvPr/>
        </p:nvSpPr>
        <p:spPr>
          <a:xfrm>
            <a:off x="7180338" y="3499875"/>
            <a:ext cx="1621800" cy="8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i="1" lang="en" sz="1300">
                <a:solidFill>
                  <a:schemeClr val="dk1"/>
                </a:solidFill>
              </a:rPr>
              <a:t>Each round halves the chain with probability &gt; 1/2</a:t>
            </a:r>
            <a:endParaRPr i="1" sz="13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6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O(w⋅log(n/w)) Probes</a:t>
            </a:r>
            <a:endParaRPr sz="2500"/>
          </a:p>
        </p:txBody>
      </p:sp>
      <p:sp>
        <p:nvSpPr>
          <p:cNvPr id="918" name="Google Shape;918;p63"/>
          <p:cNvSpPr txBox="1"/>
          <p:nvPr>
            <p:ph idx="1" type="body"/>
          </p:nvPr>
        </p:nvSpPr>
        <p:spPr>
          <a:xfrm>
            <a:off x="311700" y="1726150"/>
            <a:ext cx="3999900" cy="28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Any P can be partitioned into exactly w disjoint chains (where every point in a chain is comparable to others).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Two points p and q are comparable if:</a:t>
            </a:r>
            <a:endParaRPr sz="1500">
              <a:solidFill>
                <a:schemeClr val="dk1"/>
              </a:solidFill>
            </a:endParaRPr>
          </a:p>
          <a:p>
            <a:pPr indent="0" lvl="0" marL="0" rtl="0" algn="l">
              <a:spcBef>
                <a:spcPts val="0"/>
              </a:spcBef>
              <a:spcAft>
                <a:spcPts val="0"/>
              </a:spcAft>
              <a:buNone/>
            </a:pPr>
            <a:r>
              <a:rPr lang="en" sz="1500">
                <a:solidFill>
                  <a:schemeClr val="dk1"/>
                </a:solidFill>
              </a:rPr>
              <a:t>p ⪰ q or q ⪰ p</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i="1" lang="en" sz="1500">
                <a:solidFill>
                  <a:schemeClr val="dk1"/>
                </a:solidFill>
              </a:rPr>
              <a:t>Intuition: Comparable = “we can clearly say one is better (or equal) in all aspects”</a:t>
            </a:r>
            <a:endParaRPr sz="1300">
              <a:solidFill>
                <a:srgbClr val="000000"/>
              </a:solidFill>
            </a:endParaRPr>
          </a:p>
        </p:txBody>
      </p:sp>
      <p:sp>
        <p:nvSpPr>
          <p:cNvPr id="919" name="Google Shape;919;p63"/>
          <p:cNvSpPr txBox="1"/>
          <p:nvPr>
            <p:ph idx="2" type="body"/>
          </p:nvPr>
        </p:nvSpPr>
        <p:spPr>
          <a:xfrm>
            <a:off x="4832400" y="1726075"/>
            <a:ext cx="3999900" cy="2842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Two-player Attrition-and-Elimination (A&amp;E) game on each chain of m points.</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rPr lang="en" sz="1500">
                <a:solidFill>
                  <a:srgbClr val="990000"/>
                </a:solidFill>
              </a:rPr>
              <a:t>Bob</a:t>
            </a:r>
            <a:r>
              <a:rPr lang="en" sz="1500">
                <a:solidFill>
                  <a:schemeClr val="dk1"/>
                </a:solidFill>
              </a:rPr>
              <a:t> (adversary): delete any subset of points</a:t>
            </a:r>
            <a:endParaRPr sz="1500">
              <a:solidFill>
                <a:schemeClr val="dk1"/>
              </a:solidFill>
            </a:endParaRPr>
          </a:p>
          <a:p>
            <a:pPr indent="0" lvl="0" marL="0" rtl="0" algn="l">
              <a:lnSpc>
                <a:spcPct val="115000"/>
              </a:lnSpc>
              <a:spcBef>
                <a:spcPts val="0"/>
              </a:spcBef>
              <a:spcAft>
                <a:spcPts val="0"/>
              </a:spcAft>
              <a:buNone/>
            </a:pPr>
            <a:r>
              <a:rPr lang="en" sz="1500">
                <a:solidFill>
                  <a:srgbClr val="38761D"/>
                </a:solidFill>
              </a:rPr>
              <a:t>Alice</a:t>
            </a:r>
            <a:r>
              <a:rPr lang="en" sz="1500">
                <a:solidFill>
                  <a:schemeClr val="dk1"/>
                </a:solidFill>
              </a:rPr>
              <a:t>: pick a random p and delete all q ⪰ p</a:t>
            </a:r>
            <a:endParaRPr sz="1500">
              <a:solidFill>
                <a:schemeClr val="dk1"/>
              </a:solidFill>
            </a:endParaRPr>
          </a:p>
          <a:p>
            <a:pPr indent="0" lvl="0" marL="0" rtl="0" algn="l">
              <a:spcBef>
                <a:spcPts val="0"/>
              </a:spcBef>
              <a:spcAft>
                <a:spcPts val="1200"/>
              </a:spcAft>
              <a:buNone/>
            </a:pPr>
            <a:r>
              <a:t/>
            </a:r>
            <a:endParaRPr sz="1500">
              <a:solidFill>
                <a:schemeClr val="dk1"/>
              </a:solidFill>
            </a:endParaRPr>
          </a:p>
        </p:txBody>
      </p:sp>
      <p:sp>
        <p:nvSpPr>
          <p:cNvPr id="920" name="Google Shape;920;p63"/>
          <p:cNvSpPr/>
          <p:nvPr/>
        </p:nvSpPr>
        <p:spPr>
          <a:xfrm>
            <a:off x="31575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1. Dilworth’s Theorem</a:t>
            </a:r>
            <a:endParaRPr sz="2000"/>
          </a:p>
        </p:txBody>
      </p:sp>
      <p:sp>
        <p:nvSpPr>
          <p:cNvPr id="921" name="Google Shape;921;p63"/>
          <p:cNvSpPr/>
          <p:nvPr/>
        </p:nvSpPr>
        <p:spPr>
          <a:xfrm>
            <a:off x="483240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2. A&amp;E Game per chain</a:t>
            </a:r>
            <a:endParaRPr sz="2000"/>
          </a:p>
        </p:txBody>
      </p:sp>
      <p:sp>
        <p:nvSpPr>
          <p:cNvPr id="922" name="Google Shape;922;p63"/>
          <p:cNvSpPr/>
          <p:nvPr/>
        </p:nvSpPr>
        <p:spPr>
          <a:xfrm>
            <a:off x="4832400" y="3337750"/>
            <a:ext cx="3999900" cy="7401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i="1" lang="en" sz="1500"/>
              <a:t>Lemma 2.3.</a:t>
            </a:r>
            <a:r>
              <a:rPr lang="en" sz="1500"/>
              <a:t> </a:t>
            </a:r>
            <a:r>
              <a:rPr lang="en" sz="1500"/>
              <a:t>E[rounds] = O(log m), regardless of Bob’s strategy</a:t>
            </a:r>
            <a:endParaRPr sz="1200"/>
          </a:p>
        </p:txBody>
      </p:sp>
      <p:sp>
        <p:nvSpPr>
          <p:cNvPr id="923" name="Google Shape;923;p63"/>
          <p:cNvSpPr txBox="1"/>
          <p:nvPr/>
        </p:nvSpPr>
        <p:spPr>
          <a:xfrm>
            <a:off x="4832418" y="4160275"/>
            <a:ext cx="39999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i="1" lang="en" sz="1300">
                <a:solidFill>
                  <a:schemeClr val="dk1"/>
                </a:solidFill>
              </a:rPr>
              <a:t>Each round halves the chain with probability &gt; 1/2</a:t>
            </a:r>
            <a:endParaRPr i="1" sz="13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6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Proof: Why O(w⋅log(n/w)) Probes</a:t>
            </a:r>
            <a:endParaRPr sz="2500"/>
          </a:p>
        </p:txBody>
      </p:sp>
      <p:sp>
        <p:nvSpPr>
          <p:cNvPr id="929" name="Google Shape;929;p64"/>
          <p:cNvSpPr txBox="1"/>
          <p:nvPr>
            <p:ph idx="1" type="body"/>
          </p:nvPr>
        </p:nvSpPr>
        <p:spPr>
          <a:xfrm>
            <a:off x="311700" y="1726150"/>
            <a:ext cx="3999900" cy="28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rPr>
              <a:t>Any P can be partitioned into exactly w disjoint chains (where every point in a chain is comparable to others).</a:t>
            </a:r>
            <a:endParaRPr sz="1700">
              <a:solidFill>
                <a:schemeClr val="dk1"/>
              </a:solidFill>
            </a:endParaRPr>
          </a:p>
          <a:p>
            <a:pPr indent="0" lvl="0" marL="0" rtl="0" algn="l">
              <a:spcBef>
                <a:spcPts val="0"/>
              </a:spcBef>
              <a:spcAft>
                <a:spcPts val="0"/>
              </a:spcAft>
              <a:buNone/>
            </a:pPr>
            <a:r>
              <a:t/>
            </a:r>
            <a:endParaRPr sz="1700">
              <a:solidFill>
                <a:srgbClr val="000000"/>
              </a:solidFill>
            </a:endParaRPr>
          </a:p>
        </p:txBody>
      </p:sp>
      <p:sp>
        <p:nvSpPr>
          <p:cNvPr id="930" name="Google Shape;930;p64"/>
          <p:cNvSpPr txBox="1"/>
          <p:nvPr>
            <p:ph idx="2" type="body"/>
          </p:nvPr>
        </p:nvSpPr>
        <p:spPr>
          <a:xfrm>
            <a:off x="4832400" y="1726075"/>
            <a:ext cx="3999900" cy="284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Two-player Attrition-and-Elimination (A&amp;E) game on each chain of m points.</a:t>
            </a:r>
            <a:endParaRPr sz="1700">
              <a:solidFill>
                <a:schemeClr val="dk1"/>
              </a:solidFill>
            </a:endParaRPr>
          </a:p>
          <a:p>
            <a:pPr indent="0" lvl="0" marL="0" rtl="0" algn="l">
              <a:spcBef>
                <a:spcPts val="0"/>
              </a:spcBef>
              <a:spcAft>
                <a:spcPts val="1200"/>
              </a:spcAft>
              <a:buNone/>
            </a:pPr>
            <a:r>
              <a:t/>
            </a:r>
            <a:endParaRPr sz="1700">
              <a:solidFill>
                <a:schemeClr val="dk1"/>
              </a:solidFill>
            </a:endParaRPr>
          </a:p>
        </p:txBody>
      </p:sp>
      <p:sp>
        <p:nvSpPr>
          <p:cNvPr id="931" name="Google Shape;931;p64"/>
          <p:cNvSpPr/>
          <p:nvPr/>
        </p:nvSpPr>
        <p:spPr>
          <a:xfrm>
            <a:off x="31575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1. Dilworth’s Theorem</a:t>
            </a:r>
            <a:endParaRPr sz="2000"/>
          </a:p>
        </p:txBody>
      </p:sp>
      <p:sp>
        <p:nvSpPr>
          <p:cNvPr id="932" name="Google Shape;932;p64"/>
          <p:cNvSpPr/>
          <p:nvPr/>
        </p:nvSpPr>
        <p:spPr>
          <a:xfrm>
            <a:off x="4832400" y="1153450"/>
            <a:ext cx="3999900" cy="572700"/>
          </a:xfrm>
          <a:prstGeom prst="rect">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2. A&amp;E Game per chain</a:t>
            </a:r>
            <a:endParaRPr sz="2000"/>
          </a:p>
        </p:txBody>
      </p:sp>
      <p:sp>
        <p:nvSpPr>
          <p:cNvPr id="933" name="Google Shape;933;p64"/>
          <p:cNvSpPr/>
          <p:nvPr/>
        </p:nvSpPr>
        <p:spPr>
          <a:xfrm>
            <a:off x="2365500" y="3114225"/>
            <a:ext cx="4413000" cy="1231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700"/>
              <a:t>Sum O(log |C</a:t>
            </a:r>
            <a:r>
              <a:rPr baseline="-25000" lang="en" sz="1700"/>
              <a:t>i</a:t>
            </a:r>
            <a:r>
              <a:rPr lang="en" sz="1700"/>
              <a:t>|) over all w chains: </a:t>
            </a:r>
            <a:r>
              <a:rPr lang="en" sz="1700">
                <a:solidFill>
                  <a:schemeClr val="dk1"/>
                </a:solidFill>
              </a:rPr>
              <a:t>Σ</a:t>
            </a:r>
            <a:r>
              <a:rPr baseline="-25000" lang="en" sz="1700">
                <a:solidFill>
                  <a:schemeClr val="dk1"/>
                </a:solidFill>
              </a:rPr>
              <a:t>i </a:t>
            </a:r>
            <a:r>
              <a:rPr lang="en" sz="1700">
                <a:solidFill>
                  <a:schemeClr val="dk1"/>
                </a:solidFill>
              </a:rPr>
              <a:t>log |C</a:t>
            </a:r>
            <a:r>
              <a:rPr baseline="-25000" lang="en" sz="1700">
                <a:solidFill>
                  <a:schemeClr val="dk1"/>
                </a:solidFill>
              </a:rPr>
              <a:t>i</a:t>
            </a:r>
            <a:r>
              <a:rPr lang="en" sz="1700">
                <a:solidFill>
                  <a:schemeClr val="dk1"/>
                </a:solidFill>
              </a:rPr>
              <a:t>|</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Jensen’s Inequality: ≤ w ⋅ log (n/w)</a:t>
            </a:r>
            <a:endParaRPr sz="1700">
              <a:solidFill>
                <a:schemeClr val="dk1"/>
              </a:solidFill>
            </a:endParaRPr>
          </a:p>
          <a:p>
            <a:pPr indent="0" lvl="0" marL="0" rtl="0" algn="l">
              <a:lnSpc>
                <a:spcPct val="115000"/>
              </a:lnSpc>
              <a:spcBef>
                <a:spcPts val="0"/>
              </a:spcBef>
              <a:spcAft>
                <a:spcPts val="0"/>
              </a:spcAft>
              <a:buNone/>
            </a:pPr>
            <a:r>
              <a:rPr lang="en" sz="1700">
                <a:solidFill>
                  <a:schemeClr val="dk1"/>
                </a:solidFill>
              </a:rPr>
              <a:t>Final bound: O(w⋅log(n/w))</a:t>
            </a:r>
            <a:endParaRPr sz="17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Factor of 2-Error is Asymptotically Tight</a:t>
            </a:r>
            <a:endParaRPr/>
          </a:p>
        </p:txBody>
      </p:sp>
      <p:cxnSp>
        <p:nvCxnSpPr>
          <p:cNvPr id="939" name="Google Shape;939;p65"/>
          <p:cNvCxnSpPr/>
          <p:nvPr/>
        </p:nvCxnSpPr>
        <p:spPr>
          <a:xfrm>
            <a:off x="319700" y="1164900"/>
            <a:ext cx="7800" cy="3389100"/>
          </a:xfrm>
          <a:prstGeom prst="straightConnector1">
            <a:avLst/>
          </a:prstGeom>
          <a:noFill/>
          <a:ln cap="flat" cmpd="sng" w="25250">
            <a:solidFill>
              <a:schemeClr val="dk2"/>
            </a:solidFill>
            <a:prstDash val="solid"/>
            <a:round/>
            <a:headEnd len="med" w="med" type="none"/>
            <a:tailEnd len="med" w="med" type="none"/>
          </a:ln>
        </p:spPr>
      </p:cxnSp>
      <p:cxnSp>
        <p:nvCxnSpPr>
          <p:cNvPr id="940" name="Google Shape;940;p65"/>
          <p:cNvCxnSpPr/>
          <p:nvPr/>
        </p:nvCxnSpPr>
        <p:spPr>
          <a:xfrm rot="10800000">
            <a:off x="311550" y="4568875"/>
            <a:ext cx="4015200" cy="7500"/>
          </a:xfrm>
          <a:prstGeom prst="straightConnector1">
            <a:avLst/>
          </a:prstGeom>
          <a:noFill/>
          <a:ln cap="flat" cmpd="sng" w="25250">
            <a:solidFill>
              <a:schemeClr val="dk2"/>
            </a:solidFill>
            <a:prstDash val="solid"/>
            <a:round/>
            <a:headEnd len="med" w="med" type="none"/>
            <a:tailEnd len="med" w="med" type="none"/>
          </a:ln>
        </p:spPr>
      </p:cxnSp>
      <p:sp>
        <p:nvSpPr>
          <p:cNvPr id="941" name="Google Shape;941;p65"/>
          <p:cNvSpPr/>
          <p:nvPr/>
        </p:nvSpPr>
        <p:spPr>
          <a:xfrm>
            <a:off x="489700" y="4088075"/>
            <a:ext cx="300900" cy="295800"/>
          </a:xfrm>
          <a:prstGeom prst="ellipse">
            <a:avLst/>
          </a:prstGeom>
          <a:solidFill>
            <a:srgbClr val="B6D7A8"/>
          </a:solidFill>
          <a:ln cap="flat" cmpd="sng" w="13350">
            <a:solidFill>
              <a:srgbClr val="6AA84F"/>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2" name="Google Shape;942;p65"/>
          <p:cNvSpPr/>
          <p:nvPr/>
        </p:nvSpPr>
        <p:spPr>
          <a:xfrm>
            <a:off x="1162825" y="1306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3" name="Google Shape;943;p65"/>
          <p:cNvSpPr/>
          <p:nvPr/>
        </p:nvSpPr>
        <p:spPr>
          <a:xfrm>
            <a:off x="1463725" y="1602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4" name="Google Shape;944;p65"/>
          <p:cNvSpPr/>
          <p:nvPr/>
        </p:nvSpPr>
        <p:spPr>
          <a:xfrm>
            <a:off x="1764625" y="1897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5" name="Google Shape;945;p65"/>
          <p:cNvSpPr/>
          <p:nvPr/>
        </p:nvSpPr>
        <p:spPr>
          <a:xfrm>
            <a:off x="2065525" y="2193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6" name="Google Shape;946;p65"/>
          <p:cNvSpPr/>
          <p:nvPr/>
        </p:nvSpPr>
        <p:spPr>
          <a:xfrm>
            <a:off x="2366425" y="2489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7" name="Google Shape;947;p65"/>
          <p:cNvSpPr/>
          <p:nvPr/>
        </p:nvSpPr>
        <p:spPr>
          <a:xfrm>
            <a:off x="2667325" y="2785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8" name="Google Shape;948;p65"/>
          <p:cNvSpPr/>
          <p:nvPr/>
        </p:nvSpPr>
        <p:spPr>
          <a:xfrm>
            <a:off x="2968225" y="3081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49" name="Google Shape;949;p65"/>
          <p:cNvSpPr/>
          <p:nvPr/>
        </p:nvSpPr>
        <p:spPr>
          <a:xfrm>
            <a:off x="3269125" y="3376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50" name="Google Shape;950;p65"/>
          <p:cNvSpPr/>
          <p:nvPr/>
        </p:nvSpPr>
        <p:spPr>
          <a:xfrm>
            <a:off x="3570025" y="3672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51" name="Google Shape;951;p65"/>
          <p:cNvSpPr/>
          <p:nvPr/>
        </p:nvSpPr>
        <p:spPr>
          <a:xfrm>
            <a:off x="3870925" y="3968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52" name="Google Shape;952;p65"/>
          <p:cNvSpPr/>
          <p:nvPr/>
        </p:nvSpPr>
        <p:spPr>
          <a:xfrm>
            <a:off x="3156757" y="1240225"/>
            <a:ext cx="231300" cy="231300"/>
          </a:xfrm>
          <a:prstGeom prst="ellipse">
            <a:avLst/>
          </a:prstGeom>
          <a:solidFill>
            <a:srgbClr val="B6D7A8"/>
          </a:solidFill>
          <a:ln cap="flat" cmpd="sng" w="15125">
            <a:solidFill>
              <a:srgbClr val="6AA84F"/>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953" name="Google Shape;953;p65"/>
          <p:cNvSpPr txBox="1"/>
          <p:nvPr>
            <p:ph idx="4294967295" type="subTitle"/>
          </p:nvPr>
        </p:nvSpPr>
        <p:spPr>
          <a:xfrm>
            <a:off x="3374413" y="1167950"/>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954" name="Google Shape;954;p65"/>
          <p:cNvSpPr/>
          <p:nvPr/>
        </p:nvSpPr>
        <p:spPr>
          <a:xfrm>
            <a:off x="3156757" y="1594194"/>
            <a:ext cx="231300" cy="231300"/>
          </a:xfrm>
          <a:prstGeom prst="ellipse">
            <a:avLst/>
          </a:prstGeom>
          <a:solidFill>
            <a:srgbClr val="EA9999"/>
          </a:solidFill>
          <a:ln cap="flat" cmpd="sng" w="15125">
            <a:solidFill>
              <a:srgbClr val="CC0000"/>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955" name="Google Shape;955;p65"/>
          <p:cNvSpPr txBox="1"/>
          <p:nvPr>
            <p:ph idx="4294967295" type="subTitle"/>
          </p:nvPr>
        </p:nvSpPr>
        <p:spPr>
          <a:xfrm>
            <a:off x="3374413" y="1521919"/>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956" name="Google Shape;956;p65"/>
          <p:cNvSpPr txBox="1"/>
          <p:nvPr>
            <p:ph idx="2" type="body"/>
          </p:nvPr>
        </p:nvSpPr>
        <p:spPr>
          <a:xfrm>
            <a:off x="439025" y="2487500"/>
            <a:ext cx="1927500" cy="10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rgbClr val="000000"/>
                </a:solidFill>
              </a:rPr>
              <a:t>n - 1 red points</a:t>
            </a:r>
            <a:endParaRPr i="1" sz="1300">
              <a:solidFill>
                <a:srgbClr val="000000"/>
              </a:solidFill>
            </a:endParaRPr>
          </a:p>
          <a:p>
            <a:pPr indent="0" lvl="0" marL="0" rtl="0" algn="l">
              <a:spcBef>
                <a:spcPts val="1200"/>
              </a:spcBef>
              <a:spcAft>
                <a:spcPts val="1200"/>
              </a:spcAft>
              <a:buNone/>
            </a:pPr>
            <a:r>
              <a:rPr i="1" lang="en" sz="1300">
                <a:solidFill>
                  <a:srgbClr val="000000"/>
                </a:solidFill>
              </a:rPr>
              <a:t>no point dominates any other (width w = n) </a:t>
            </a:r>
            <a:endParaRPr i="1" sz="1300">
              <a:solidFill>
                <a:srgbClr val="000000"/>
              </a:solidFill>
            </a:endParaRPr>
          </a:p>
        </p:txBody>
      </p:sp>
      <p:sp>
        <p:nvSpPr>
          <p:cNvPr id="957" name="Google Shape;957;p65"/>
          <p:cNvSpPr txBox="1"/>
          <p:nvPr>
            <p:ph idx="2" type="body"/>
          </p:nvPr>
        </p:nvSpPr>
        <p:spPr>
          <a:xfrm>
            <a:off x="4832400" y="10177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000000"/>
                </a:solidFill>
              </a:rPr>
              <a:t>Monotone classifier that maps all points to -1 misclassifies only the green point, so k* = 1.</a:t>
            </a:r>
            <a:endParaRPr sz="1500">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Factor of 2-Error is Asymptotically Tight</a:t>
            </a:r>
            <a:endParaRPr/>
          </a:p>
        </p:txBody>
      </p:sp>
      <p:cxnSp>
        <p:nvCxnSpPr>
          <p:cNvPr id="963" name="Google Shape;963;p66"/>
          <p:cNvCxnSpPr/>
          <p:nvPr/>
        </p:nvCxnSpPr>
        <p:spPr>
          <a:xfrm>
            <a:off x="319700" y="1164900"/>
            <a:ext cx="7800" cy="3389100"/>
          </a:xfrm>
          <a:prstGeom prst="straightConnector1">
            <a:avLst/>
          </a:prstGeom>
          <a:noFill/>
          <a:ln cap="flat" cmpd="sng" w="25250">
            <a:solidFill>
              <a:schemeClr val="dk2"/>
            </a:solidFill>
            <a:prstDash val="solid"/>
            <a:round/>
            <a:headEnd len="med" w="med" type="none"/>
            <a:tailEnd len="med" w="med" type="none"/>
          </a:ln>
        </p:spPr>
      </p:cxnSp>
      <p:cxnSp>
        <p:nvCxnSpPr>
          <p:cNvPr id="964" name="Google Shape;964;p66"/>
          <p:cNvCxnSpPr/>
          <p:nvPr/>
        </p:nvCxnSpPr>
        <p:spPr>
          <a:xfrm rot="10800000">
            <a:off x="311550" y="4568875"/>
            <a:ext cx="4015200" cy="7500"/>
          </a:xfrm>
          <a:prstGeom prst="straightConnector1">
            <a:avLst/>
          </a:prstGeom>
          <a:noFill/>
          <a:ln cap="flat" cmpd="sng" w="25250">
            <a:solidFill>
              <a:schemeClr val="dk2"/>
            </a:solidFill>
            <a:prstDash val="solid"/>
            <a:round/>
            <a:headEnd len="med" w="med" type="none"/>
            <a:tailEnd len="med" w="med" type="none"/>
          </a:ln>
        </p:spPr>
      </p:cxnSp>
      <p:sp>
        <p:nvSpPr>
          <p:cNvPr id="965" name="Google Shape;965;p66"/>
          <p:cNvSpPr/>
          <p:nvPr/>
        </p:nvSpPr>
        <p:spPr>
          <a:xfrm>
            <a:off x="489700" y="4088075"/>
            <a:ext cx="300900" cy="295800"/>
          </a:xfrm>
          <a:prstGeom prst="ellipse">
            <a:avLst/>
          </a:prstGeom>
          <a:solidFill>
            <a:srgbClr val="B6D7A8"/>
          </a:solidFill>
          <a:ln cap="flat" cmpd="sng" w="13350">
            <a:solidFill>
              <a:srgbClr val="6AA84F"/>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66" name="Google Shape;966;p66"/>
          <p:cNvSpPr/>
          <p:nvPr/>
        </p:nvSpPr>
        <p:spPr>
          <a:xfrm>
            <a:off x="1162825" y="1306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67" name="Google Shape;967;p66"/>
          <p:cNvSpPr/>
          <p:nvPr/>
        </p:nvSpPr>
        <p:spPr>
          <a:xfrm>
            <a:off x="1463725" y="1602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68" name="Google Shape;968;p66"/>
          <p:cNvSpPr/>
          <p:nvPr/>
        </p:nvSpPr>
        <p:spPr>
          <a:xfrm>
            <a:off x="1764625" y="1897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69" name="Google Shape;969;p66"/>
          <p:cNvSpPr/>
          <p:nvPr/>
        </p:nvSpPr>
        <p:spPr>
          <a:xfrm>
            <a:off x="2065525" y="2193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0" name="Google Shape;970;p66"/>
          <p:cNvSpPr/>
          <p:nvPr/>
        </p:nvSpPr>
        <p:spPr>
          <a:xfrm>
            <a:off x="2366425" y="2489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1" name="Google Shape;971;p66"/>
          <p:cNvSpPr/>
          <p:nvPr/>
        </p:nvSpPr>
        <p:spPr>
          <a:xfrm>
            <a:off x="2667325" y="2785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2" name="Google Shape;972;p66"/>
          <p:cNvSpPr/>
          <p:nvPr/>
        </p:nvSpPr>
        <p:spPr>
          <a:xfrm>
            <a:off x="2968225" y="3081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3" name="Google Shape;973;p66"/>
          <p:cNvSpPr/>
          <p:nvPr/>
        </p:nvSpPr>
        <p:spPr>
          <a:xfrm>
            <a:off x="3269125" y="3376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4" name="Google Shape;974;p66"/>
          <p:cNvSpPr/>
          <p:nvPr/>
        </p:nvSpPr>
        <p:spPr>
          <a:xfrm>
            <a:off x="3570025" y="3672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5" name="Google Shape;975;p66"/>
          <p:cNvSpPr/>
          <p:nvPr/>
        </p:nvSpPr>
        <p:spPr>
          <a:xfrm>
            <a:off x="3870925" y="3968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76" name="Google Shape;976;p66"/>
          <p:cNvSpPr/>
          <p:nvPr/>
        </p:nvSpPr>
        <p:spPr>
          <a:xfrm>
            <a:off x="3156757" y="1240225"/>
            <a:ext cx="231300" cy="231300"/>
          </a:xfrm>
          <a:prstGeom prst="ellipse">
            <a:avLst/>
          </a:prstGeom>
          <a:solidFill>
            <a:srgbClr val="B6D7A8"/>
          </a:solidFill>
          <a:ln cap="flat" cmpd="sng" w="15125">
            <a:solidFill>
              <a:srgbClr val="6AA84F"/>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977" name="Google Shape;977;p66"/>
          <p:cNvSpPr txBox="1"/>
          <p:nvPr>
            <p:ph idx="4294967295" type="subTitle"/>
          </p:nvPr>
        </p:nvSpPr>
        <p:spPr>
          <a:xfrm>
            <a:off x="3374413" y="1167950"/>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978" name="Google Shape;978;p66"/>
          <p:cNvSpPr/>
          <p:nvPr/>
        </p:nvSpPr>
        <p:spPr>
          <a:xfrm>
            <a:off x="3156757" y="1594194"/>
            <a:ext cx="231300" cy="231300"/>
          </a:xfrm>
          <a:prstGeom prst="ellipse">
            <a:avLst/>
          </a:prstGeom>
          <a:solidFill>
            <a:srgbClr val="EA9999"/>
          </a:solidFill>
          <a:ln cap="flat" cmpd="sng" w="15125">
            <a:solidFill>
              <a:srgbClr val="CC0000"/>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979" name="Google Shape;979;p66"/>
          <p:cNvSpPr txBox="1"/>
          <p:nvPr>
            <p:ph idx="4294967295" type="subTitle"/>
          </p:nvPr>
        </p:nvSpPr>
        <p:spPr>
          <a:xfrm>
            <a:off x="3374413" y="1521919"/>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980" name="Google Shape;980;p66"/>
          <p:cNvSpPr txBox="1"/>
          <p:nvPr>
            <p:ph idx="2" type="body"/>
          </p:nvPr>
        </p:nvSpPr>
        <p:spPr>
          <a:xfrm>
            <a:off x="439025" y="2487500"/>
            <a:ext cx="1927500" cy="10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rgbClr val="000000"/>
                </a:solidFill>
              </a:rPr>
              <a:t>n - 1 red points</a:t>
            </a:r>
            <a:endParaRPr i="1" sz="1300">
              <a:solidFill>
                <a:srgbClr val="000000"/>
              </a:solidFill>
            </a:endParaRPr>
          </a:p>
          <a:p>
            <a:pPr indent="0" lvl="0" marL="0" rtl="0" algn="l">
              <a:spcBef>
                <a:spcPts val="1200"/>
              </a:spcBef>
              <a:spcAft>
                <a:spcPts val="1200"/>
              </a:spcAft>
              <a:buNone/>
            </a:pPr>
            <a:r>
              <a:rPr i="1" lang="en" sz="1300">
                <a:solidFill>
                  <a:srgbClr val="000000"/>
                </a:solidFill>
              </a:rPr>
              <a:t>no point dominates any other (width w = n) </a:t>
            </a:r>
            <a:endParaRPr i="1" sz="1300">
              <a:solidFill>
                <a:srgbClr val="000000"/>
              </a:solidFill>
            </a:endParaRPr>
          </a:p>
        </p:txBody>
      </p:sp>
      <p:sp>
        <p:nvSpPr>
          <p:cNvPr id="981" name="Google Shape;981;p66"/>
          <p:cNvSpPr/>
          <p:nvPr/>
        </p:nvSpPr>
        <p:spPr>
          <a:xfrm>
            <a:off x="4832400" y="1018976"/>
            <a:ext cx="3999900" cy="10722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Prob. 1/n: RPE probes green point first</a:t>
            </a:r>
            <a:endParaRPr sz="1500">
              <a:solidFill>
                <a:schemeClr val="dk1"/>
              </a:solidFill>
            </a:endParaRPr>
          </a:p>
          <a:p>
            <a:pPr indent="0" lvl="0" marL="457200" rtl="0" algn="l">
              <a:lnSpc>
                <a:spcPct val="115000"/>
              </a:lnSpc>
              <a:spcBef>
                <a:spcPts val="0"/>
              </a:spcBef>
              <a:spcAft>
                <a:spcPts val="0"/>
              </a:spcAft>
              <a:buNone/>
            </a:pPr>
            <a:r>
              <a:rPr lang="en" sz="1200">
                <a:solidFill>
                  <a:schemeClr val="dk1"/>
                </a:solidFill>
              </a:rPr>
              <a:t>it dominates no other point → no eliminations → all n - 1 red points remain and get mapped to +1 </a:t>
            </a:r>
            <a:endParaRPr sz="1200">
              <a:solidFill>
                <a:schemeClr val="dk1"/>
              </a:solidFill>
            </a:endParaRPr>
          </a:p>
          <a:p>
            <a:pPr indent="0" lvl="0" marL="0" rtl="0" algn="l">
              <a:lnSpc>
                <a:spcPct val="115000"/>
              </a:lnSpc>
              <a:spcBef>
                <a:spcPts val="0"/>
              </a:spcBef>
              <a:spcAft>
                <a:spcPts val="0"/>
              </a:spcAft>
              <a:buNone/>
            </a:pPr>
            <a:r>
              <a:rPr lang="en" sz="1500">
                <a:solidFill>
                  <a:schemeClr val="dk1"/>
                </a:solidFill>
              </a:rPr>
              <a:t>Error = n - 1    </a:t>
            </a:r>
            <a:r>
              <a:rPr i="1" lang="en" sz="1200">
                <a:solidFill>
                  <a:schemeClr val="dk1"/>
                </a:solidFill>
              </a:rPr>
              <a:t>(note: this is ≥ 2k* = 2)</a:t>
            </a:r>
            <a:endParaRPr i="1" sz="120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Factor of 2-Error is Asymptotically Tight</a:t>
            </a:r>
            <a:endParaRPr/>
          </a:p>
        </p:txBody>
      </p:sp>
      <p:cxnSp>
        <p:nvCxnSpPr>
          <p:cNvPr id="987" name="Google Shape;987;p67"/>
          <p:cNvCxnSpPr/>
          <p:nvPr/>
        </p:nvCxnSpPr>
        <p:spPr>
          <a:xfrm>
            <a:off x="319700" y="1164900"/>
            <a:ext cx="7800" cy="3389100"/>
          </a:xfrm>
          <a:prstGeom prst="straightConnector1">
            <a:avLst/>
          </a:prstGeom>
          <a:noFill/>
          <a:ln cap="flat" cmpd="sng" w="25250">
            <a:solidFill>
              <a:schemeClr val="dk2"/>
            </a:solidFill>
            <a:prstDash val="solid"/>
            <a:round/>
            <a:headEnd len="med" w="med" type="none"/>
            <a:tailEnd len="med" w="med" type="none"/>
          </a:ln>
        </p:spPr>
      </p:cxnSp>
      <p:cxnSp>
        <p:nvCxnSpPr>
          <p:cNvPr id="988" name="Google Shape;988;p67"/>
          <p:cNvCxnSpPr/>
          <p:nvPr/>
        </p:nvCxnSpPr>
        <p:spPr>
          <a:xfrm rot="10800000">
            <a:off x="311550" y="4568875"/>
            <a:ext cx="4015200" cy="7500"/>
          </a:xfrm>
          <a:prstGeom prst="straightConnector1">
            <a:avLst/>
          </a:prstGeom>
          <a:noFill/>
          <a:ln cap="flat" cmpd="sng" w="25250">
            <a:solidFill>
              <a:schemeClr val="dk2"/>
            </a:solidFill>
            <a:prstDash val="solid"/>
            <a:round/>
            <a:headEnd len="med" w="med" type="none"/>
            <a:tailEnd len="med" w="med" type="none"/>
          </a:ln>
        </p:spPr>
      </p:cxnSp>
      <p:sp>
        <p:nvSpPr>
          <p:cNvPr id="989" name="Google Shape;989;p67"/>
          <p:cNvSpPr/>
          <p:nvPr/>
        </p:nvSpPr>
        <p:spPr>
          <a:xfrm>
            <a:off x="489700" y="4088075"/>
            <a:ext cx="300900" cy="295800"/>
          </a:xfrm>
          <a:prstGeom prst="ellipse">
            <a:avLst/>
          </a:prstGeom>
          <a:solidFill>
            <a:srgbClr val="B6D7A8"/>
          </a:solidFill>
          <a:ln cap="flat" cmpd="sng" w="13350">
            <a:solidFill>
              <a:srgbClr val="6AA84F"/>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0" name="Google Shape;990;p67"/>
          <p:cNvSpPr/>
          <p:nvPr/>
        </p:nvSpPr>
        <p:spPr>
          <a:xfrm>
            <a:off x="1162825" y="1306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1" name="Google Shape;991;p67"/>
          <p:cNvSpPr/>
          <p:nvPr/>
        </p:nvSpPr>
        <p:spPr>
          <a:xfrm>
            <a:off x="1463725" y="1602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2" name="Google Shape;992;p67"/>
          <p:cNvSpPr/>
          <p:nvPr/>
        </p:nvSpPr>
        <p:spPr>
          <a:xfrm>
            <a:off x="1764625" y="1897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3" name="Google Shape;993;p67"/>
          <p:cNvSpPr/>
          <p:nvPr/>
        </p:nvSpPr>
        <p:spPr>
          <a:xfrm>
            <a:off x="2065525" y="2193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4" name="Google Shape;994;p67"/>
          <p:cNvSpPr/>
          <p:nvPr/>
        </p:nvSpPr>
        <p:spPr>
          <a:xfrm>
            <a:off x="2366425" y="2489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5" name="Google Shape;995;p67"/>
          <p:cNvSpPr/>
          <p:nvPr/>
        </p:nvSpPr>
        <p:spPr>
          <a:xfrm>
            <a:off x="2667325" y="2785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6" name="Google Shape;996;p67"/>
          <p:cNvSpPr/>
          <p:nvPr/>
        </p:nvSpPr>
        <p:spPr>
          <a:xfrm>
            <a:off x="2968225" y="3081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7" name="Google Shape;997;p67"/>
          <p:cNvSpPr/>
          <p:nvPr/>
        </p:nvSpPr>
        <p:spPr>
          <a:xfrm>
            <a:off x="3269125" y="3376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8" name="Google Shape;998;p67"/>
          <p:cNvSpPr/>
          <p:nvPr/>
        </p:nvSpPr>
        <p:spPr>
          <a:xfrm>
            <a:off x="3570025" y="3672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999" name="Google Shape;999;p67"/>
          <p:cNvSpPr/>
          <p:nvPr/>
        </p:nvSpPr>
        <p:spPr>
          <a:xfrm>
            <a:off x="3870925" y="3968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00" name="Google Shape;1000;p67"/>
          <p:cNvSpPr/>
          <p:nvPr/>
        </p:nvSpPr>
        <p:spPr>
          <a:xfrm>
            <a:off x="3156757" y="1240225"/>
            <a:ext cx="231300" cy="231300"/>
          </a:xfrm>
          <a:prstGeom prst="ellipse">
            <a:avLst/>
          </a:prstGeom>
          <a:solidFill>
            <a:srgbClr val="B6D7A8"/>
          </a:solidFill>
          <a:ln cap="flat" cmpd="sng" w="15125">
            <a:solidFill>
              <a:srgbClr val="6AA84F"/>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1001" name="Google Shape;1001;p67"/>
          <p:cNvSpPr txBox="1"/>
          <p:nvPr>
            <p:ph idx="4294967295" type="subTitle"/>
          </p:nvPr>
        </p:nvSpPr>
        <p:spPr>
          <a:xfrm>
            <a:off x="3374413" y="1167950"/>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1002" name="Google Shape;1002;p67"/>
          <p:cNvSpPr/>
          <p:nvPr/>
        </p:nvSpPr>
        <p:spPr>
          <a:xfrm>
            <a:off x="3156757" y="1594194"/>
            <a:ext cx="231300" cy="231300"/>
          </a:xfrm>
          <a:prstGeom prst="ellipse">
            <a:avLst/>
          </a:prstGeom>
          <a:solidFill>
            <a:srgbClr val="EA9999"/>
          </a:solidFill>
          <a:ln cap="flat" cmpd="sng" w="15125">
            <a:solidFill>
              <a:srgbClr val="CC0000"/>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1003" name="Google Shape;1003;p67"/>
          <p:cNvSpPr txBox="1"/>
          <p:nvPr>
            <p:ph idx="4294967295" type="subTitle"/>
          </p:nvPr>
        </p:nvSpPr>
        <p:spPr>
          <a:xfrm>
            <a:off x="3374413" y="1521919"/>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1004" name="Google Shape;1004;p67"/>
          <p:cNvSpPr txBox="1"/>
          <p:nvPr>
            <p:ph idx="2" type="body"/>
          </p:nvPr>
        </p:nvSpPr>
        <p:spPr>
          <a:xfrm>
            <a:off x="439025" y="2487500"/>
            <a:ext cx="1927500" cy="10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rgbClr val="000000"/>
                </a:solidFill>
              </a:rPr>
              <a:t>n - 1 red points</a:t>
            </a:r>
            <a:endParaRPr i="1" sz="1300">
              <a:solidFill>
                <a:srgbClr val="000000"/>
              </a:solidFill>
            </a:endParaRPr>
          </a:p>
          <a:p>
            <a:pPr indent="0" lvl="0" marL="0" rtl="0" algn="l">
              <a:spcBef>
                <a:spcPts val="1200"/>
              </a:spcBef>
              <a:spcAft>
                <a:spcPts val="1200"/>
              </a:spcAft>
              <a:buNone/>
            </a:pPr>
            <a:r>
              <a:rPr i="1" lang="en" sz="1300">
                <a:solidFill>
                  <a:srgbClr val="000000"/>
                </a:solidFill>
              </a:rPr>
              <a:t>no point dominates any other (width w = n) </a:t>
            </a:r>
            <a:endParaRPr i="1" sz="1300">
              <a:solidFill>
                <a:srgbClr val="000000"/>
              </a:solidFill>
            </a:endParaRPr>
          </a:p>
        </p:txBody>
      </p:sp>
      <p:sp>
        <p:nvSpPr>
          <p:cNvPr id="1005" name="Google Shape;1005;p67"/>
          <p:cNvSpPr/>
          <p:nvPr/>
        </p:nvSpPr>
        <p:spPr>
          <a:xfrm>
            <a:off x="4832400" y="1018976"/>
            <a:ext cx="3999900" cy="10722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Prob. 1/n: RPE probes green point first</a:t>
            </a:r>
            <a:endParaRPr sz="1500">
              <a:solidFill>
                <a:schemeClr val="dk1"/>
              </a:solidFill>
            </a:endParaRPr>
          </a:p>
          <a:p>
            <a:pPr indent="0" lvl="0" marL="457200" rtl="0" algn="l">
              <a:lnSpc>
                <a:spcPct val="115000"/>
              </a:lnSpc>
              <a:spcBef>
                <a:spcPts val="0"/>
              </a:spcBef>
              <a:spcAft>
                <a:spcPts val="0"/>
              </a:spcAft>
              <a:buNone/>
            </a:pPr>
            <a:r>
              <a:rPr lang="en" sz="1200">
                <a:solidFill>
                  <a:schemeClr val="dk1"/>
                </a:solidFill>
              </a:rPr>
              <a:t>it dominates no other point → no eliminations → all n - 1 red points remain and get mapped to +1 </a:t>
            </a:r>
            <a:endParaRPr sz="1200">
              <a:solidFill>
                <a:schemeClr val="dk1"/>
              </a:solidFill>
            </a:endParaRPr>
          </a:p>
          <a:p>
            <a:pPr indent="0" lvl="0" marL="0" rtl="0" algn="l">
              <a:lnSpc>
                <a:spcPct val="115000"/>
              </a:lnSpc>
              <a:spcBef>
                <a:spcPts val="0"/>
              </a:spcBef>
              <a:spcAft>
                <a:spcPts val="0"/>
              </a:spcAft>
              <a:buNone/>
            </a:pPr>
            <a:r>
              <a:rPr lang="en" sz="1500">
                <a:solidFill>
                  <a:schemeClr val="dk1"/>
                </a:solidFill>
              </a:rPr>
              <a:t>Error = n - 1    </a:t>
            </a:r>
            <a:r>
              <a:rPr i="1" lang="en" sz="1200">
                <a:solidFill>
                  <a:schemeClr val="dk1"/>
                </a:solidFill>
              </a:rPr>
              <a:t>(note: this is ≥ 2k* = 2)</a:t>
            </a:r>
            <a:endParaRPr i="1" sz="1200">
              <a:solidFill>
                <a:schemeClr val="dk1"/>
              </a:solidFill>
            </a:endParaRPr>
          </a:p>
        </p:txBody>
      </p:sp>
      <p:sp>
        <p:nvSpPr>
          <p:cNvPr id="1006" name="Google Shape;1006;p67"/>
          <p:cNvSpPr/>
          <p:nvPr/>
        </p:nvSpPr>
        <p:spPr>
          <a:xfrm>
            <a:off x="4832400" y="2193725"/>
            <a:ext cx="3999900" cy="10722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Prob. 1 - 1/n: RPE probes a red point first</a:t>
            </a:r>
            <a:endParaRPr sz="1500">
              <a:solidFill>
                <a:schemeClr val="dk1"/>
              </a:solidFill>
            </a:endParaRPr>
          </a:p>
          <a:p>
            <a:pPr indent="0" lvl="0" marL="457200" rtl="0" algn="l">
              <a:lnSpc>
                <a:spcPct val="115000"/>
              </a:lnSpc>
              <a:spcBef>
                <a:spcPts val="0"/>
              </a:spcBef>
              <a:spcAft>
                <a:spcPts val="0"/>
              </a:spcAft>
              <a:buNone/>
            </a:pPr>
            <a:r>
              <a:rPr lang="en" sz="1200">
                <a:solidFill>
                  <a:schemeClr val="dk1"/>
                </a:solidFill>
              </a:rPr>
              <a:t>red dominates nothing → removes only itself → only green point remains and gets mapped to -1 </a:t>
            </a:r>
            <a:endParaRPr sz="1200">
              <a:solidFill>
                <a:schemeClr val="dk1"/>
              </a:solidFill>
            </a:endParaRPr>
          </a:p>
          <a:p>
            <a:pPr indent="0" lvl="0" marL="0" rtl="0" algn="l">
              <a:lnSpc>
                <a:spcPct val="115000"/>
              </a:lnSpc>
              <a:spcBef>
                <a:spcPts val="0"/>
              </a:spcBef>
              <a:spcAft>
                <a:spcPts val="0"/>
              </a:spcAft>
              <a:buNone/>
            </a:pPr>
            <a:r>
              <a:rPr lang="en" sz="1500">
                <a:solidFill>
                  <a:schemeClr val="dk1"/>
                </a:solidFill>
              </a:rPr>
              <a:t>Error = 1</a:t>
            </a:r>
            <a:endParaRPr i="1" sz="1500">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Factor of 2-Error is Asymptotically Tight</a:t>
            </a:r>
            <a:endParaRPr/>
          </a:p>
        </p:txBody>
      </p:sp>
      <p:cxnSp>
        <p:nvCxnSpPr>
          <p:cNvPr id="1012" name="Google Shape;1012;p68"/>
          <p:cNvCxnSpPr/>
          <p:nvPr/>
        </p:nvCxnSpPr>
        <p:spPr>
          <a:xfrm>
            <a:off x="319700" y="1164900"/>
            <a:ext cx="7800" cy="3389100"/>
          </a:xfrm>
          <a:prstGeom prst="straightConnector1">
            <a:avLst/>
          </a:prstGeom>
          <a:noFill/>
          <a:ln cap="flat" cmpd="sng" w="25250">
            <a:solidFill>
              <a:schemeClr val="dk2"/>
            </a:solidFill>
            <a:prstDash val="solid"/>
            <a:round/>
            <a:headEnd len="med" w="med" type="none"/>
            <a:tailEnd len="med" w="med" type="none"/>
          </a:ln>
        </p:spPr>
      </p:cxnSp>
      <p:cxnSp>
        <p:nvCxnSpPr>
          <p:cNvPr id="1013" name="Google Shape;1013;p68"/>
          <p:cNvCxnSpPr/>
          <p:nvPr/>
        </p:nvCxnSpPr>
        <p:spPr>
          <a:xfrm rot="10800000">
            <a:off x="311550" y="4568875"/>
            <a:ext cx="4015200" cy="7500"/>
          </a:xfrm>
          <a:prstGeom prst="straightConnector1">
            <a:avLst/>
          </a:prstGeom>
          <a:noFill/>
          <a:ln cap="flat" cmpd="sng" w="25250">
            <a:solidFill>
              <a:schemeClr val="dk2"/>
            </a:solidFill>
            <a:prstDash val="solid"/>
            <a:round/>
            <a:headEnd len="med" w="med" type="none"/>
            <a:tailEnd len="med" w="med" type="none"/>
          </a:ln>
        </p:spPr>
      </p:cxnSp>
      <p:sp>
        <p:nvSpPr>
          <p:cNvPr id="1014" name="Google Shape;1014;p68"/>
          <p:cNvSpPr/>
          <p:nvPr/>
        </p:nvSpPr>
        <p:spPr>
          <a:xfrm>
            <a:off x="489700" y="4088075"/>
            <a:ext cx="300900" cy="295800"/>
          </a:xfrm>
          <a:prstGeom prst="ellipse">
            <a:avLst/>
          </a:prstGeom>
          <a:solidFill>
            <a:srgbClr val="B6D7A8"/>
          </a:solidFill>
          <a:ln cap="flat" cmpd="sng" w="13350">
            <a:solidFill>
              <a:srgbClr val="6AA84F"/>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15" name="Google Shape;1015;p68"/>
          <p:cNvSpPr/>
          <p:nvPr/>
        </p:nvSpPr>
        <p:spPr>
          <a:xfrm>
            <a:off x="1162825" y="1306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16" name="Google Shape;1016;p68"/>
          <p:cNvSpPr/>
          <p:nvPr/>
        </p:nvSpPr>
        <p:spPr>
          <a:xfrm>
            <a:off x="1463725" y="1602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17" name="Google Shape;1017;p68"/>
          <p:cNvSpPr/>
          <p:nvPr/>
        </p:nvSpPr>
        <p:spPr>
          <a:xfrm>
            <a:off x="1764625" y="1897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18" name="Google Shape;1018;p68"/>
          <p:cNvSpPr/>
          <p:nvPr/>
        </p:nvSpPr>
        <p:spPr>
          <a:xfrm>
            <a:off x="2065525" y="2193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19" name="Google Shape;1019;p68"/>
          <p:cNvSpPr/>
          <p:nvPr/>
        </p:nvSpPr>
        <p:spPr>
          <a:xfrm>
            <a:off x="2366425" y="2489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0" name="Google Shape;1020;p68"/>
          <p:cNvSpPr/>
          <p:nvPr/>
        </p:nvSpPr>
        <p:spPr>
          <a:xfrm>
            <a:off x="2667325" y="27853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1" name="Google Shape;1021;p68"/>
          <p:cNvSpPr/>
          <p:nvPr/>
        </p:nvSpPr>
        <p:spPr>
          <a:xfrm>
            <a:off x="2968225" y="30811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2" name="Google Shape;1022;p68"/>
          <p:cNvSpPr/>
          <p:nvPr/>
        </p:nvSpPr>
        <p:spPr>
          <a:xfrm>
            <a:off x="3269125" y="33769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3" name="Google Shape;1023;p68"/>
          <p:cNvSpPr/>
          <p:nvPr/>
        </p:nvSpPr>
        <p:spPr>
          <a:xfrm>
            <a:off x="3570025" y="36727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4" name="Google Shape;1024;p68"/>
          <p:cNvSpPr/>
          <p:nvPr/>
        </p:nvSpPr>
        <p:spPr>
          <a:xfrm>
            <a:off x="3870925" y="3968525"/>
            <a:ext cx="300900" cy="295800"/>
          </a:xfrm>
          <a:prstGeom prst="ellipse">
            <a:avLst/>
          </a:prstGeom>
          <a:solidFill>
            <a:srgbClr val="EA9999"/>
          </a:solidFill>
          <a:ln cap="flat" cmpd="sng" w="13350">
            <a:solidFill>
              <a:srgbClr val="CC0000"/>
            </a:solidFill>
            <a:prstDash val="solid"/>
            <a:round/>
            <a:headEnd len="sm" w="sm" type="none"/>
            <a:tailEnd len="sm" w="sm" type="none"/>
          </a:ln>
        </p:spPr>
        <p:txBody>
          <a:bodyPr anchorCtr="0" anchor="ctr" bIns="67000" lIns="67000" spcFirstLastPara="1" rIns="67000" wrap="square" tIns="67000">
            <a:noAutofit/>
          </a:bodyPr>
          <a:lstStyle/>
          <a:p>
            <a:pPr indent="0" lvl="0" marL="0" rtl="0" algn="ctr">
              <a:spcBef>
                <a:spcPts val="0"/>
              </a:spcBef>
              <a:spcAft>
                <a:spcPts val="0"/>
              </a:spcAft>
              <a:buNone/>
            </a:pPr>
            <a:r>
              <a:t/>
            </a:r>
            <a:endParaRPr sz="1026"/>
          </a:p>
        </p:txBody>
      </p:sp>
      <p:sp>
        <p:nvSpPr>
          <p:cNvPr id="1025" name="Google Shape;1025;p68"/>
          <p:cNvSpPr/>
          <p:nvPr/>
        </p:nvSpPr>
        <p:spPr>
          <a:xfrm>
            <a:off x="3156757" y="1240225"/>
            <a:ext cx="231300" cy="231300"/>
          </a:xfrm>
          <a:prstGeom prst="ellipse">
            <a:avLst/>
          </a:prstGeom>
          <a:solidFill>
            <a:srgbClr val="B6D7A8"/>
          </a:solidFill>
          <a:ln cap="flat" cmpd="sng" w="15125">
            <a:solidFill>
              <a:srgbClr val="6AA84F"/>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1026" name="Google Shape;1026;p68"/>
          <p:cNvSpPr txBox="1"/>
          <p:nvPr>
            <p:ph idx="4294967295" type="subTitle"/>
          </p:nvPr>
        </p:nvSpPr>
        <p:spPr>
          <a:xfrm>
            <a:off x="3374413" y="1167950"/>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1027" name="Google Shape;1027;p68"/>
          <p:cNvSpPr/>
          <p:nvPr/>
        </p:nvSpPr>
        <p:spPr>
          <a:xfrm>
            <a:off x="3156757" y="1594194"/>
            <a:ext cx="231300" cy="231300"/>
          </a:xfrm>
          <a:prstGeom prst="ellipse">
            <a:avLst/>
          </a:prstGeom>
          <a:solidFill>
            <a:srgbClr val="EA9999"/>
          </a:solidFill>
          <a:ln cap="flat" cmpd="sng" w="15125">
            <a:solidFill>
              <a:srgbClr val="CC0000"/>
            </a:solidFill>
            <a:prstDash val="solid"/>
            <a:round/>
            <a:headEnd len="sm" w="sm" type="none"/>
            <a:tailEnd len="sm" w="sm" type="none"/>
          </a:ln>
        </p:spPr>
        <p:txBody>
          <a:bodyPr anchorCtr="0" anchor="ctr" bIns="75950" lIns="75950" spcFirstLastPara="1" rIns="75950" wrap="square" tIns="75950">
            <a:noAutofit/>
          </a:bodyPr>
          <a:lstStyle/>
          <a:p>
            <a:pPr indent="0" lvl="0" marL="0" rtl="0" algn="ctr">
              <a:spcBef>
                <a:spcPts val="0"/>
              </a:spcBef>
              <a:spcAft>
                <a:spcPts val="0"/>
              </a:spcAft>
              <a:buNone/>
            </a:pPr>
            <a:r>
              <a:t/>
            </a:r>
            <a:endParaRPr sz="1163"/>
          </a:p>
        </p:txBody>
      </p:sp>
      <p:sp>
        <p:nvSpPr>
          <p:cNvPr id="1028" name="Google Shape;1028;p68"/>
          <p:cNvSpPr txBox="1"/>
          <p:nvPr>
            <p:ph idx="4294967295" type="subTitle"/>
          </p:nvPr>
        </p:nvSpPr>
        <p:spPr>
          <a:xfrm>
            <a:off x="3374413" y="1521919"/>
            <a:ext cx="952500" cy="375900"/>
          </a:xfrm>
          <a:prstGeom prst="rect">
            <a:avLst/>
          </a:prstGeom>
        </p:spPr>
        <p:txBody>
          <a:bodyPr anchorCtr="0" anchor="t" bIns="89725" lIns="89725" spcFirstLastPara="1" rIns="89725" wrap="square" tIns="89725">
            <a:noAutofit/>
          </a:bodyPr>
          <a:lstStyle/>
          <a:p>
            <a:pPr indent="0" lvl="0" marL="0" rtl="0" algn="l">
              <a:lnSpc>
                <a:spcPct val="150000"/>
              </a:lnSpc>
              <a:spcBef>
                <a:spcPts val="0"/>
              </a:spcBef>
              <a:spcAft>
                <a:spcPts val="0"/>
              </a:spcAft>
              <a:buNone/>
            </a:pPr>
            <a:r>
              <a:rPr lang="en" sz="1178">
                <a:solidFill>
                  <a:schemeClr val="dk1"/>
                </a:solidFill>
              </a:rPr>
              <a:t>label -1</a:t>
            </a:r>
            <a:endParaRPr sz="1178">
              <a:solidFill>
                <a:schemeClr val="dk1"/>
              </a:solidFill>
            </a:endParaRPr>
          </a:p>
        </p:txBody>
      </p:sp>
      <p:sp>
        <p:nvSpPr>
          <p:cNvPr id="1029" name="Google Shape;1029;p68"/>
          <p:cNvSpPr txBox="1"/>
          <p:nvPr>
            <p:ph idx="2" type="body"/>
          </p:nvPr>
        </p:nvSpPr>
        <p:spPr>
          <a:xfrm>
            <a:off x="439025" y="2487500"/>
            <a:ext cx="1927500" cy="101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rgbClr val="000000"/>
                </a:solidFill>
              </a:rPr>
              <a:t>n - 1 red points</a:t>
            </a:r>
            <a:endParaRPr i="1" sz="1300">
              <a:solidFill>
                <a:srgbClr val="000000"/>
              </a:solidFill>
            </a:endParaRPr>
          </a:p>
          <a:p>
            <a:pPr indent="0" lvl="0" marL="0" rtl="0" algn="l">
              <a:spcBef>
                <a:spcPts val="1200"/>
              </a:spcBef>
              <a:spcAft>
                <a:spcPts val="1200"/>
              </a:spcAft>
              <a:buNone/>
            </a:pPr>
            <a:r>
              <a:rPr i="1" lang="en" sz="1300">
                <a:solidFill>
                  <a:srgbClr val="000000"/>
                </a:solidFill>
              </a:rPr>
              <a:t>no point dominates any other (width w = n) </a:t>
            </a:r>
            <a:endParaRPr i="1" sz="1300">
              <a:solidFill>
                <a:srgbClr val="000000"/>
              </a:solidFill>
            </a:endParaRPr>
          </a:p>
        </p:txBody>
      </p:sp>
      <p:sp>
        <p:nvSpPr>
          <p:cNvPr id="1030" name="Google Shape;1030;p68"/>
          <p:cNvSpPr/>
          <p:nvPr/>
        </p:nvSpPr>
        <p:spPr>
          <a:xfrm>
            <a:off x="4832400" y="1018976"/>
            <a:ext cx="3999900" cy="1072200"/>
          </a:xfrm>
          <a:prstGeom prst="rect">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Prob. 1/n: RPE probes green point first</a:t>
            </a:r>
            <a:endParaRPr sz="1500">
              <a:solidFill>
                <a:schemeClr val="dk1"/>
              </a:solidFill>
            </a:endParaRPr>
          </a:p>
          <a:p>
            <a:pPr indent="0" lvl="0" marL="457200" rtl="0" algn="l">
              <a:lnSpc>
                <a:spcPct val="115000"/>
              </a:lnSpc>
              <a:spcBef>
                <a:spcPts val="0"/>
              </a:spcBef>
              <a:spcAft>
                <a:spcPts val="0"/>
              </a:spcAft>
              <a:buNone/>
            </a:pPr>
            <a:r>
              <a:rPr lang="en" sz="1200">
                <a:solidFill>
                  <a:schemeClr val="dk1"/>
                </a:solidFill>
              </a:rPr>
              <a:t>it dominates no other point → no eliminations → all n - 1 red points remain and get mapped to +1 </a:t>
            </a:r>
            <a:endParaRPr sz="1200">
              <a:solidFill>
                <a:schemeClr val="dk1"/>
              </a:solidFill>
            </a:endParaRPr>
          </a:p>
          <a:p>
            <a:pPr indent="0" lvl="0" marL="0" rtl="0" algn="l">
              <a:lnSpc>
                <a:spcPct val="115000"/>
              </a:lnSpc>
              <a:spcBef>
                <a:spcPts val="0"/>
              </a:spcBef>
              <a:spcAft>
                <a:spcPts val="0"/>
              </a:spcAft>
              <a:buNone/>
            </a:pPr>
            <a:r>
              <a:rPr lang="en" sz="1500">
                <a:solidFill>
                  <a:schemeClr val="dk1"/>
                </a:solidFill>
              </a:rPr>
              <a:t>Error = n - 1    </a:t>
            </a:r>
            <a:r>
              <a:rPr i="1" lang="en" sz="1200">
                <a:solidFill>
                  <a:schemeClr val="dk1"/>
                </a:solidFill>
              </a:rPr>
              <a:t>(note: this is ≥ 2k* = 2)</a:t>
            </a:r>
            <a:endParaRPr i="1" sz="1200">
              <a:solidFill>
                <a:schemeClr val="dk1"/>
              </a:solidFill>
            </a:endParaRPr>
          </a:p>
        </p:txBody>
      </p:sp>
      <p:sp>
        <p:nvSpPr>
          <p:cNvPr id="1031" name="Google Shape;1031;p68"/>
          <p:cNvSpPr/>
          <p:nvPr/>
        </p:nvSpPr>
        <p:spPr>
          <a:xfrm>
            <a:off x="4832400" y="2193725"/>
            <a:ext cx="3999900" cy="10722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Prob. 1 - 1/n: RPE probes a red point first</a:t>
            </a:r>
            <a:endParaRPr sz="1500">
              <a:solidFill>
                <a:schemeClr val="dk1"/>
              </a:solidFill>
            </a:endParaRPr>
          </a:p>
          <a:p>
            <a:pPr indent="0" lvl="0" marL="457200" rtl="0" algn="l">
              <a:lnSpc>
                <a:spcPct val="115000"/>
              </a:lnSpc>
              <a:spcBef>
                <a:spcPts val="0"/>
              </a:spcBef>
              <a:spcAft>
                <a:spcPts val="0"/>
              </a:spcAft>
              <a:buNone/>
            </a:pPr>
            <a:r>
              <a:rPr lang="en" sz="1200">
                <a:solidFill>
                  <a:schemeClr val="dk1"/>
                </a:solidFill>
              </a:rPr>
              <a:t>red dominates nothing → removes only itself → only green point remains and gets mapped to -1 </a:t>
            </a:r>
            <a:endParaRPr sz="1200">
              <a:solidFill>
                <a:schemeClr val="dk1"/>
              </a:solidFill>
            </a:endParaRPr>
          </a:p>
          <a:p>
            <a:pPr indent="0" lvl="0" marL="0" rtl="0" algn="l">
              <a:lnSpc>
                <a:spcPct val="115000"/>
              </a:lnSpc>
              <a:spcBef>
                <a:spcPts val="0"/>
              </a:spcBef>
              <a:spcAft>
                <a:spcPts val="0"/>
              </a:spcAft>
              <a:buNone/>
            </a:pPr>
            <a:r>
              <a:rPr lang="en" sz="1500">
                <a:solidFill>
                  <a:schemeClr val="dk1"/>
                </a:solidFill>
              </a:rPr>
              <a:t>Error = 1</a:t>
            </a:r>
            <a:endParaRPr i="1" sz="1500">
              <a:solidFill>
                <a:schemeClr val="dk1"/>
              </a:solidFill>
            </a:endParaRPr>
          </a:p>
        </p:txBody>
      </p:sp>
      <p:sp>
        <p:nvSpPr>
          <p:cNvPr id="1032" name="Google Shape;1032;p68"/>
          <p:cNvSpPr/>
          <p:nvPr/>
        </p:nvSpPr>
        <p:spPr>
          <a:xfrm>
            <a:off x="4832400" y="3368475"/>
            <a:ext cx="3999900" cy="14925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rPr>
              <a:t>E[err(h</a:t>
            </a:r>
            <a:r>
              <a:rPr baseline="-25000" lang="en" sz="1500">
                <a:solidFill>
                  <a:schemeClr val="dk1"/>
                </a:solidFill>
              </a:rPr>
              <a:t>RPE</a:t>
            </a:r>
            <a:r>
              <a:rPr lang="en" sz="1500">
                <a:solidFill>
                  <a:schemeClr val="dk1"/>
                </a:solidFill>
              </a:rPr>
              <a:t>)] = (1/n)(n-1) + (1-1/n)(1) = 2 - 2/n</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 2 as n → ∞</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Approximation ratio → 2k*/k* = 2. Factor of 2 is </a:t>
            </a:r>
            <a:r>
              <a:rPr i="1" lang="en" sz="1500">
                <a:solidFill>
                  <a:schemeClr val="dk1"/>
                </a:solidFill>
              </a:rPr>
              <a:t>asymptotically tight</a:t>
            </a:r>
            <a:r>
              <a:rPr lang="en" sz="1500">
                <a:solidFill>
                  <a:schemeClr val="dk1"/>
                </a:solidFill>
              </a:rPr>
              <a:t> – RPE cannot do better.</a:t>
            </a:r>
            <a:endParaRPr sz="15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RPE</a:t>
            </a:r>
            <a:endParaRPr/>
          </a:p>
        </p:txBody>
      </p:sp>
      <p:sp>
        <p:nvSpPr>
          <p:cNvPr id="1038" name="Google Shape;1038;p69"/>
          <p:cNvSpPr/>
          <p:nvPr/>
        </p:nvSpPr>
        <p:spPr>
          <a:xfrm>
            <a:off x="311700" y="1152475"/>
            <a:ext cx="3999900" cy="1609800"/>
          </a:xfrm>
          <a:prstGeom prst="rect">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7F6000"/>
                </a:solidFill>
              </a:rPr>
              <a:t>Core Idea: </a:t>
            </a:r>
            <a:endParaRPr sz="1700">
              <a:solidFill>
                <a:srgbClr val="7F6000"/>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Randomly probe a few points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Use monotonicity to infer others</a:t>
            </a:r>
            <a:endParaRPr sz="1700">
              <a:solidFill>
                <a:schemeClr val="dk1"/>
              </a:solidFill>
            </a:endParaRPr>
          </a:p>
        </p:txBody>
      </p:sp>
      <p:sp>
        <p:nvSpPr>
          <p:cNvPr id="1039" name="Google Shape;1039;p69"/>
          <p:cNvSpPr/>
          <p:nvPr/>
        </p:nvSpPr>
        <p:spPr>
          <a:xfrm>
            <a:off x="311700" y="2959075"/>
            <a:ext cx="3999900" cy="1609800"/>
          </a:xfrm>
          <a:prstGeom prst="rect">
            <a:avLst/>
          </a:prstGeom>
          <a:solidFill>
            <a:srgbClr val="D9EAD3"/>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274E13"/>
                </a:solidFill>
              </a:rPr>
              <a:t>Main Advantage:</a:t>
            </a:r>
            <a:endParaRPr sz="1700">
              <a:solidFill>
                <a:srgbClr val="274E13"/>
              </a:solidFill>
            </a:endParaRPr>
          </a:p>
          <a:p>
            <a:pPr indent="0" lvl="0" marL="0" rtl="0" algn="l">
              <a:lnSpc>
                <a:spcPct val="115000"/>
              </a:lnSpc>
              <a:spcBef>
                <a:spcPts val="0"/>
              </a:spcBef>
              <a:spcAft>
                <a:spcPts val="0"/>
              </a:spcAft>
              <a:buNone/>
            </a:pPr>
            <a:r>
              <a:rPr lang="en" sz="1700">
                <a:solidFill>
                  <a:schemeClr val="dk1"/>
                </a:solidFill>
              </a:rPr>
              <a:t>No need to know k* (calculating eaxct k* is not </a:t>
            </a:r>
            <a:r>
              <a:rPr lang="en" sz="1700">
                <a:solidFill>
                  <a:schemeClr val="dk1"/>
                </a:solidFill>
              </a:rPr>
              <a:t>trivial</a:t>
            </a:r>
            <a:r>
              <a:rPr lang="en" sz="1700">
                <a:solidFill>
                  <a:schemeClr val="dk1"/>
                </a:solidFill>
              </a:rPr>
              <a:t> → requires solving a global optimization problem)</a:t>
            </a:r>
            <a:endParaRPr sz="1700">
              <a:solidFill>
                <a:schemeClr val="dk1"/>
              </a:solidFill>
            </a:endParaRPr>
          </a:p>
        </p:txBody>
      </p:sp>
      <p:sp>
        <p:nvSpPr>
          <p:cNvPr id="1040" name="Google Shape;1040;p69"/>
          <p:cNvSpPr/>
          <p:nvPr/>
        </p:nvSpPr>
        <p:spPr>
          <a:xfrm>
            <a:off x="4832400" y="1152475"/>
            <a:ext cx="3999900" cy="1609800"/>
          </a:xfrm>
          <a:prstGeom prst="rect">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073763"/>
                </a:solidFill>
              </a:rPr>
              <a:t>Performance:</a:t>
            </a:r>
            <a:endParaRPr sz="1700">
              <a:solidFill>
                <a:srgbClr val="073763"/>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E[err</a:t>
            </a:r>
            <a:r>
              <a:rPr baseline="-25000" lang="en" sz="1700">
                <a:solidFill>
                  <a:schemeClr val="dk1"/>
                </a:solidFill>
              </a:rPr>
              <a:t>P</a:t>
            </a:r>
            <a:r>
              <a:rPr lang="en" sz="1700">
                <a:solidFill>
                  <a:schemeClr val="dk1"/>
                </a:solidFill>
              </a:rPr>
              <a:t>(h</a:t>
            </a:r>
            <a:r>
              <a:rPr baseline="-25000" lang="en" sz="1700">
                <a:solidFill>
                  <a:schemeClr val="dk1"/>
                </a:solidFill>
              </a:rPr>
              <a:t>RPE</a:t>
            </a:r>
            <a:r>
              <a:rPr lang="en" sz="1700">
                <a:solidFill>
                  <a:schemeClr val="dk1"/>
                </a:solidFill>
              </a:rPr>
              <a:t>)]  ≤ 2k*</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O(w⋅log(n/w)) probes</a:t>
            </a:r>
            <a:endParaRPr sz="1700">
              <a:solidFill>
                <a:schemeClr val="dk1"/>
              </a:solidFill>
            </a:endParaRPr>
          </a:p>
        </p:txBody>
      </p:sp>
      <p:sp>
        <p:nvSpPr>
          <p:cNvPr id="1041" name="Google Shape;1041;p69"/>
          <p:cNvSpPr/>
          <p:nvPr/>
        </p:nvSpPr>
        <p:spPr>
          <a:xfrm>
            <a:off x="4832400" y="2959075"/>
            <a:ext cx="3999900" cy="1609800"/>
          </a:xfrm>
          <a:prstGeom prst="rect">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660000"/>
                </a:solidFill>
              </a:rPr>
              <a:t>Limitations:</a:t>
            </a:r>
            <a:endParaRPr sz="1700">
              <a:solidFill>
                <a:srgbClr val="660000"/>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Factor of 2-error is tight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Guarantee</a:t>
            </a:r>
            <a:r>
              <a:rPr lang="en" sz="1700">
                <a:solidFill>
                  <a:schemeClr val="dk1"/>
                </a:solidFill>
              </a:rPr>
              <a:t> is in expectation only</a:t>
            </a:r>
            <a:endParaRPr sz="17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0"/>
          <p:cNvSpPr txBox="1"/>
          <p:nvPr>
            <p:ph type="ctrTitle"/>
          </p:nvPr>
        </p:nvSpPr>
        <p:spPr>
          <a:xfrm>
            <a:off x="3149113" y="1832550"/>
            <a:ext cx="5746800" cy="1478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4500"/>
              <a:t>Relative-Comparison Coresets</a:t>
            </a:r>
            <a:endParaRPr sz="4500"/>
          </a:p>
        </p:txBody>
      </p:sp>
      <p:pic>
        <p:nvPicPr>
          <p:cNvPr id="1047" name="Google Shape;1047;p70"/>
          <p:cNvPicPr preferRelativeResize="0"/>
          <p:nvPr/>
        </p:nvPicPr>
        <p:blipFill>
          <a:blip r:embed="rId3">
            <a:alphaModFix/>
          </a:blip>
          <a:stretch>
            <a:fillRect/>
          </a:stretch>
        </p:blipFill>
        <p:spPr>
          <a:xfrm>
            <a:off x="248087" y="1224925"/>
            <a:ext cx="2693625" cy="26936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71"/>
          <p:cNvSpPr txBox="1"/>
          <p:nvPr>
            <p:ph type="title"/>
          </p:nvPr>
        </p:nvSpPr>
        <p:spPr>
          <a:xfrm>
            <a:off x="471300" y="1408325"/>
            <a:ext cx="4829100" cy="66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What’s wrong with RPE?</a:t>
            </a:r>
            <a:endParaRPr sz="3000"/>
          </a:p>
        </p:txBody>
      </p:sp>
      <p:sp>
        <p:nvSpPr>
          <p:cNvPr id="1053" name="Google Shape;1053;p71"/>
          <p:cNvSpPr/>
          <p:nvPr/>
        </p:nvSpPr>
        <p:spPr>
          <a:xfrm>
            <a:off x="545250" y="2103775"/>
            <a:ext cx="8053500" cy="1817400"/>
          </a:xfrm>
          <a:prstGeom prst="roundRect">
            <a:avLst>
              <a:gd fmla="val 8257"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spcBef>
                <a:spcPts val="0"/>
              </a:spcBef>
              <a:spcAft>
                <a:spcPts val="0"/>
              </a:spcAft>
              <a:buClr>
                <a:schemeClr val="dk1"/>
              </a:buClr>
              <a:buSzPts val="1100"/>
              <a:buFont typeface="Arial"/>
              <a:buNone/>
            </a:pPr>
            <a:r>
              <a:rPr lang="en" sz="2800">
                <a:solidFill>
                  <a:schemeClr val="dk1"/>
                </a:solidFill>
              </a:rPr>
              <a:t>RPE achieves an </a:t>
            </a:r>
            <a:r>
              <a:rPr lang="en" sz="2800">
                <a:solidFill>
                  <a:srgbClr val="E06666"/>
                </a:solidFill>
              </a:rPr>
              <a:t>expected error of at most 2k* </a:t>
            </a:r>
            <a:endParaRPr sz="2800">
              <a:solidFill>
                <a:srgbClr val="E06666"/>
              </a:solidFill>
            </a:endParaRPr>
          </a:p>
          <a:p>
            <a:pPr indent="0" lvl="0" marL="0" rtl="0" algn="l">
              <a:spcBef>
                <a:spcPts val="0"/>
              </a:spcBef>
              <a:spcAft>
                <a:spcPts val="0"/>
              </a:spcAft>
              <a:buClr>
                <a:schemeClr val="dk1"/>
              </a:buClr>
              <a:buSzPts val="1100"/>
              <a:buFont typeface="Arial"/>
              <a:buNone/>
            </a:pPr>
            <a:r>
              <a:rPr b="1" lang="en" sz="2600">
                <a:solidFill>
                  <a:schemeClr val="dk1"/>
                </a:solidFill>
              </a:rPr>
              <a:t>→</a:t>
            </a:r>
            <a:r>
              <a:rPr lang="en" sz="2600">
                <a:solidFill>
                  <a:schemeClr val="dk1"/>
                </a:solidFill>
              </a:rPr>
              <a:t> guarantee is tight, we can't do better</a:t>
            </a:r>
            <a:endParaRPr sz="2600">
              <a:solidFill>
                <a:schemeClr val="dk1"/>
              </a:solidFill>
            </a:endParaRPr>
          </a:p>
          <a:p>
            <a:pPr indent="0" lvl="0" marL="0" rtl="0" algn="l">
              <a:spcBef>
                <a:spcPts val="0"/>
              </a:spcBef>
              <a:spcAft>
                <a:spcPts val="0"/>
              </a:spcAft>
              <a:buClr>
                <a:schemeClr val="dk1"/>
              </a:buClr>
              <a:buSzPts val="1100"/>
              <a:buFont typeface="Arial"/>
              <a:buNone/>
            </a:pPr>
            <a:r>
              <a:rPr lang="en" sz="2600">
                <a:solidFill>
                  <a:schemeClr val="dk1"/>
                </a:solidFill>
              </a:rPr>
              <a:t>→ unacceptable for a production pipeline</a:t>
            </a:r>
            <a:endParaRPr sz="1500">
              <a:solidFill>
                <a:srgbClr val="660000"/>
              </a:solidFill>
            </a:endParaRPr>
          </a:p>
        </p:txBody>
      </p:sp>
      <p:sp>
        <p:nvSpPr>
          <p:cNvPr id="1054" name="Google Shape;1054;p71"/>
          <p:cNvSpPr txBox="1"/>
          <p:nvPr/>
        </p:nvSpPr>
        <p:spPr>
          <a:xfrm>
            <a:off x="7101581" y="3254023"/>
            <a:ext cx="1108200" cy="116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0">
                <a:solidFill>
                  <a:schemeClr val="dk2"/>
                </a:solidFill>
              </a:rPr>
              <a:t>😠</a:t>
            </a:r>
            <a:endParaRPr sz="8000">
              <a:solidFill>
                <a:schemeClr val="dk2"/>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72"/>
          <p:cNvSpPr txBox="1"/>
          <p:nvPr/>
        </p:nvSpPr>
        <p:spPr>
          <a:xfrm>
            <a:off x="1914175" y="1819050"/>
            <a:ext cx="6704100" cy="58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600"/>
          </a:p>
        </p:txBody>
      </p:sp>
      <p:sp>
        <p:nvSpPr>
          <p:cNvPr id="1060" name="Google Shape;1060;p72"/>
          <p:cNvSpPr/>
          <p:nvPr/>
        </p:nvSpPr>
        <p:spPr>
          <a:xfrm>
            <a:off x="1149550" y="1557900"/>
            <a:ext cx="6622800" cy="2027700"/>
          </a:xfrm>
          <a:prstGeom prst="roundRect">
            <a:avLst>
              <a:gd fmla="val 10011"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457200" lvl="0" marL="0" rtl="0" algn="l">
              <a:lnSpc>
                <a:spcPct val="115000"/>
              </a:lnSpc>
              <a:spcBef>
                <a:spcPts val="0"/>
              </a:spcBef>
              <a:spcAft>
                <a:spcPts val="0"/>
              </a:spcAft>
              <a:buNone/>
            </a:pPr>
            <a:r>
              <a:rPr lang="en" sz="2600">
                <a:solidFill>
                  <a:schemeClr val="dk1"/>
                </a:solidFill>
              </a:rPr>
              <a:t>Estimating the true error directly is </a:t>
            </a:r>
            <a:r>
              <a:rPr b="1" lang="en" sz="2600">
                <a:solidFill>
                  <a:srgbClr val="E06666"/>
                </a:solidFill>
              </a:rPr>
              <a:t>too </a:t>
            </a:r>
            <a:endParaRPr b="1" sz="2600">
              <a:solidFill>
                <a:srgbClr val="E06666"/>
              </a:solidFill>
            </a:endParaRPr>
          </a:p>
          <a:p>
            <a:pPr indent="457200" lvl="0" marL="0" rtl="0" algn="l">
              <a:lnSpc>
                <a:spcPct val="115000"/>
              </a:lnSpc>
              <a:spcBef>
                <a:spcPts val="0"/>
              </a:spcBef>
              <a:spcAft>
                <a:spcPts val="0"/>
              </a:spcAft>
              <a:buNone/>
            </a:pPr>
            <a:r>
              <a:rPr b="1" lang="en" sz="2600">
                <a:solidFill>
                  <a:srgbClr val="E06666"/>
                </a:solidFill>
              </a:rPr>
              <a:t>expensive</a:t>
            </a:r>
            <a:r>
              <a:rPr lang="en" sz="2600">
                <a:solidFill>
                  <a:srgbClr val="E06666"/>
                </a:solidFill>
              </a:rPr>
              <a:t>…</a:t>
            </a:r>
            <a:r>
              <a:rPr lang="en" sz="2600">
                <a:solidFill>
                  <a:schemeClr val="dk1"/>
                </a:solidFill>
              </a:rPr>
              <a:t> but do we actually need </a:t>
            </a:r>
            <a:endParaRPr sz="2600">
              <a:solidFill>
                <a:schemeClr val="dk1"/>
              </a:solidFill>
            </a:endParaRPr>
          </a:p>
          <a:p>
            <a:pPr indent="457200" lvl="0" marL="0" rtl="0" algn="l">
              <a:lnSpc>
                <a:spcPct val="115000"/>
              </a:lnSpc>
              <a:spcBef>
                <a:spcPts val="0"/>
              </a:spcBef>
              <a:spcAft>
                <a:spcPts val="0"/>
              </a:spcAft>
              <a:buNone/>
            </a:pPr>
            <a:r>
              <a:rPr lang="en" sz="2600">
                <a:solidFill>
                  <a:schemeClr val="dk1"/>
                </a:solidFill>
              </a:rPr>
              <a:t>the </a:t>
            </a:r>
            <a:r>
              <a:rPr i="1" lang="en" sz="2600">
                <a:solidFill>
                  <a:schemeClr val="dk1"/>
                </a:solidFill>
              </a:rPr>
              <a:t>exact</a:t>
            </a:r>
            <a:r>
              <a:rPr lang="en" sz="2600">
                <a:solidFill>
                  <a:schemeClr val="dk1"/>
                </a:solidFill>
              </a:rPr>
              <a:t> value?</a:t>
            </a:r>
            <a:endParaRPr sz="1600">
              <a:solidFill>
                <a:srgbClr val="1C4587"/>
              </a:solidFill>
            </a:endParaRPr>
          </a:p>
        </p:txBody>
      </p:sp>
      <p:sp>
        <p:nvSpPr>
          <p:cNvPr id="1061" name="Google Shape;1061;p72"/>
          <p:cNvSpPr txBox="1"/>
          <p:nvPr/>
        </p:nvSpPr>
        <p:spPr>
          <a:xfrm>
            <a:off x="525720" y="1885050"/>
            <a:ext cx="1318200" cy="137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0">
                <a:solidFill>
                  <a:schemeClr val="dk2"/>
                </a:solidFill>
              </a:rPr>
              <a:t>🤔</a:t>
            </a:r>
            <a:endParaRPr sz="80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pic>
        <p:nvPicPr>
          <p:cNvPr id="1066" name="Google Shape;1066;p73"/>
          <p:cNvPicPr preferRelativeResize="0"/>
          <p:nvPr/>
        </p:nvPicPr>
        <p:blipFill>
          <a:blip r:embed="rId3">
            <a:alphaModFix/>
          </a:blip>
          <a:stretch>
            <a:fillRect/>
          </a:stretch>
        </p:blipFill>
        <p:spPr>
          <a:xfrm>
            <a:off x="2737662" y="0"/>
            <a:ext cx="3668679" cy="5143500"/>
          </a:xfrm>
          <a:prstGeom prst="rect">
            <a:avLst/>
          </a:prstGeom>
          <a:noFill/>
          <a:ln>
            <a:noFill/>
          </a:ln>
        </p:spPr>
      </p:pic>
      <p:pic>
        <p:nvPicPr>
          <p:cNvPr id="1067" name="Google Shape;1067;p73"/>
          <p:cNvPicPr preferRelativeResize="0"/>
          <p:nvPr/>
        </p:nvPicPr>
        <p:blipFill>
          <a:blip r:embed="rId4">
            <a:alphaModFix/>
          </a:blip>
          <a:stretch>
            <a:fillRect/>
          </a:stretch>
        </p:blipFill>
        <p:spPr>
          <a:xfrm>
            <a:off x="4911313" y="3825175"/>
            <a:ext cx="1186450" cy="13183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74"/>
          <p:cNvSpPr txBox="1"/>
          <p:nvPr>
            <p:ph idx="1" type="body"/>
          </p:nvPr>
        </p:nvSpPr>
        <p:spPr>
          <a:xfrm>
            <a:off x="1303100" y="2094525"/>
            <a:ext cx="6430200" cy="829800"/>
          </a:xfrm>
          <a:prstGeom prst="rect">
            <a:avLst/>
          </a:prstGeom>
          <a:solidFill>
            <a:srgbClr val="FFF2CC"/>
          </a:solidFill>
          <a:ln cap="flat" cmpd="sng" w="9525">
            <a:solidFill>
              <a:srgbClr val="F1C23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2500">
              <a:solidFill>
                <a:schemeClr val="dk1"/>
              </a:solidFill>
            </a:endParaRPr>
          </a:p>
          <a:p>
            <a:pPr indent="0" lvl="0" marL="0" rtl="0" algn="l">
              <a:spcBef>
                <a:spcPts val="0"/>
              </a:spcBef>
              <a:spcAft>
                <a:spcPts val="0"/>
              </a:spcAft>
              <a:buNone/>
            </a:pPr>
            <a:r>
              <a:t/>
            </a:r>
            <a:endParaRPr sz="2500">
              <a:solidFill>
                <a:schemeClr val="dk1"/>
              </a:solidFill>
            </a:endParaRPr>
          </a:p>
          <a:p>
            <a:pPr indent="0" lvl="0" marL="0" rtl="0" algn="l">
              <a:lnSpc>
                <a:spcPct val="150000"/>
              </a:lnSpc>
              <a:spcBef>
                <a:spcPts val="0"/>
              </a:spcBef>
              <a:spcAft>
                <a:spcPts val="0"/>
              </a:spcAft>
              <a:buNone/>
            </a:pPr>
            <a:r>
              <a:t/>
            </a:r>
            <a:endParaRPr sz="2500">
              <a:solidFill>
                <a:schemeClr val="dk1"/>
              </a:solidFill>
            </a:endParaRPr>
          </a:p>
        </p:txBody>
      </p:sp>
      <p:sp>
        <p:nvSpPr>
          <p:cNvPr id="1073" name="Google Shape;1073;p74"/>
          <p:cNvSpPr txBox="1"/>
          <p:nvPr>
            <p:ph type="title"/>
          </p:nvPr>
        </p:nvSpPr>
        <p:spPr>
          <a:xfrm>
            <a:off x="-136875" y="1037031"/>
            <a:ext cx="9356100" cy="105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Why can’t we estimate err</a:t>
            </a:r>
            <a:r>
              <a:rPr baseline="-25000" lang="en" sz="2400"/>
              <a:t>p</a:t>
            </a:r>
            <a:r>
              <a:rPr lang="en" sz="2400"/>
              <a:t>(h) directly?</a:t>
            </a:r>
            <a:endParaRPr sz="2400"/>
          </a:p>
        </p:txBody>
      </p:sp>
      <p:sp>
        <p:nvSpPr>
          <p:cNvPr id="1074" name="Google Shape;1074;p74"/>
          <p:cNvSpPr txBox="1"/>
          <p:nvPr/>
        </p:nvSpPr>
        <p:spPr>
          <a:xfrm>
            <a:off x="1192700" y="3238525"/>
            <a:ext cx="65406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t>Even for h</a:t>
            </a:r>
            <a:r>
              <a:rPr baseline="-25000" lang="en"/>
              <a:t>pos</a:t>
            </a:r>
            <a:r>
              <a:rPr lang="en"/>
              <a:t> (all +1), finding whether a single −1 exists needs </a:t>
            </a:r>
            <a:r>
              <a:rPr b="1" lang="en">
                <a:solidFill>
                  <a:srgbClr val="E06666"/>
                </a:solidFill>
              </a:rPr>
              <a:t>Ω(n) probes.</a:t>
            </a:r>
            <a:endParaRPr b="1">
              <a:solidFill>
                <a:srgbClr val="E06666"/>
              </a:solidFill>
              <a:highlight>
                <a:srgbClr val="E06666"/>
              </a:highlight>
            </a:endParaRPr>
          </a:p>
        </p:txBody>
      </p:sp>
      <p:grpSp>
        <p:nvGrpSpPr>
          <p:cNvPr id="1075" name="Google Shape;1075;p74"/>
          <p:cNvGrpSpPr/>
          <p:nvPr/>
        </p:nvGrpSpPr>
        <p:grpSpPr>
          <a:xfrm>
            <a:off x="2503915" y="2313375"/>
            <a:ext cx="4166175" cy="392100"/>
            <a:chOff x="2059015" y="1969275"/>
            <a:chExt cx="4166175" cy="392100"/>
          </a:xfrm>
        </p:grpSpPr>
        <p:sp>
          <p:nvSpPr>
            <p:cNvPr id="1076" name="Google Shape;1076;p74"/>
            <p:cNvSpPr/>
            <p:nvPr/>
          </p:nvSpPr>
          <p:spPr>
            <a:xfrm>
              <a:off x="2059015"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sp>
          <p:nvSpPr>
            <p:cNvPr id="1077" name="Google Shape;1077;p74"/>
            <p:cNvSpPr/>
            <p:nvPr/>
          </p:nvSpPr>
          <p:spPr>
            <a:xfrm>
              <a:off x="3949802"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sp>
          <p:nvSpPr>
            <p:cNvPr id="1078" name="Google Shape;1078;p74"/>
            <p:cNvSpPr/>
            <p:nvPr/>
          </p:nvSpPr>
          <p:spPr>
            <a:xfrm>
              <a:off x="5210327" y="1969275"/>
              <a:ext cx="384600" cy="392100"/>
            </a:xfrm>
            <a:prstGeom prst="ellipse">
              <a:avLst/>
            </a:prstGeom>
            <a:solidFill>
              <a:srgbClr val="DD7E6B"/>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a:t>
              </a:r>
              <a:endParaRPr sz="1300"/>
            </a:p>
          </p:txBody>
        </p:sp>
        <p:sp>
          <p:nvSpPr>
            <p:cNvPr id="1079" name="Google Shape;1079;p74"/>
            <p:cNvSpPr/>
            <p:nvPr/>
          </p:nvSpPr>
          <p:spPr>
            <a:xfrm>
              <a:off x="2689277"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sp>
          <p:nvSpPr>
            <p:cNvPr id="1080" name="Google Shape;1080;p74"/>
            <p:cNvSpPr/>
            <p:nvPr/>
          </p:nvSpPr>
          <p:spPr>
            <a:xfrm>
              <a:off x="3319540"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sp>
          <p:nvSpPr>
            <p:cNvPr id="1081" name="Google Shape;1081;p74"/>
            <p:cNvSpPr/>
            <p:nvPr/>
          </p:nvSpPr>
          <p:spPr>
            <a:xfrm>
              <a:off x="4580065"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sp>
          <p:nvSpPr>
            <p:cNvPr id="1082" name="Google Shape;1082;p74"/>
            <p:cNvSpPr/>
            <p:nvPr/>
          </p:nvSpPr>
          <p:spPr>
            <a:xfrm>
              <a:off x="5840590" y="1969275"/>
              <a:ext cx="384600" cy="392100"/>
            </a:xfrm>
            <a:prstGeom prst="ellipse">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a:t>
              </a:r>
              <a:endParaRPr sz="1300"/>
            </a:p>
          </p:txBody>
        </p:sp>
      </p:grpSp>
      <p:sp>
        <p:nvSpPr>
          <p:cNvPr id="1083" name="Google Shape;1083;p74"/>
          <p:cNvSpPr/>
          <p:nvPr/>
        </p:nvSpPr>
        <p:spPr>
          <a:xfrm>
            <a:off x="6977450" y="2749700"/>
            <a:ext cx="1409100" cy="555600"/>
          </a:xfrm>
          <a:prstGeom prst="wedgeRoundRectCallout">
            <a:avLst>
              <a:gd fmla="val -70483" name="adj1"/>
              <a:gd fmla="val -41352"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How long would it take to find -1?</a:t>
            </a:r>
            <a:endParaRPr sz="11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75"/>
          <p:cNvSpPr txBox="1"/>
          <p:nvPr>
            <p:ph idx="4294967295" type="ctrTitle"/>
          </p:nvPr>
        </p:nvSpPr>
        <p:spPr>
          <a:xfrm>
            <a:off x="1792800" y="742700"/>
            <a:ext cx="5202000" cy="507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600"/>
              <a:t>The Goal: A Proxy Function F</a:t>
            </a:r>
            <a:endParaRPr sz="2600"/>
          </a:p>
          <a:p>
            <a:pPr indent="0" lvl="0" marL="0" rtl="0" algn="l">
              <a:lnSpc>
                <a:spcPct val="115000"/>
              </a:lnSpc>
              <a:spcBef>
                <a:spcPts val="0"/>
              </a:spcBef>
              <a:spcAft>
                <a:spcPts val="0"/>
              </a:spcAft>
              <a:buClr>
                <a:schemeClr val="dk1"/>
              </a:buClr>
              <a:buSzPct val="45833"/>
              <a:buFont typeface="Arial"/>
              <a:buNone/>
            </a:pPr>
            <a:r>
              <a:t/>
            </a:r>
            <a:endParaRPr sz="2400"/>
          </a:p>
          <a:p>
            <a:pPr indent="0" lvl="0" marL="0" rtl="0" algn="ctr">
              <a:spcBef>
                <a:spcPts val="0"/>
              </a:spcBef>
              <a:spcAft>
                <a:spcPts val="0"/>
              </a:spcAft>
              <a:buNone/>
            </a:pPr>
            <a:r>
              <a:t/>
            </a:r>
            <a:endParaRPr sz="2400"/>
          </a:p>
        </p:txBody>
      </p:sp>
      <p:sp>
        <p:nvSpPr>
          <p:cNvPr id="1089" name="Google Shape;1089;p75"/>
          <p:cNvSpPr/>
          <p:nvPr/>
        </p:nvSpPr>
        <p:spPr>
          <a:xfrm>
            <a:off x="1260600" y="1557900"/>
            <a:ext cx="6622800" cy="2027700"/>
          </a:xfrm>
          <a:prstGeom prst="roundRect">
            <a:avLst>
              <a:gd fmla="val 10011"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lnSpc>
                <a:spcPct val="115000"/>
              </a:lnSpc>
              <a:spcBef>
                <a:spcPts val="0"/>
              </a:spcBef>
              <a:spcAft>
                <a:spcPts val="0"/>
              </a:spcAft>
              <a:buNone/>
            </a:pPr>
            <a:r>
              <a:rPr lang="en" sz="1600">
                <a:solidFill>
                  <a:srgbClr val="1C4587"/>
                </a:solidFill>
              </a:rPr>
              <a:t>Find a function F : H_mon → ℝ as a </a:t>
            </a:r>
            <a:r>
              <a:rPr b="1" i="1" lang="en" sz="1600">
                <a:solidFill>
                  <a:srgbClr val="1C4587"/>
                </a:solidFill>
              </a:rPr>
              <a:t>proxy</a:t>
            </a:r>
            <a:r>
              <a:rPr lang="en" sz="1600">
                <a:solidFill>
                  <a:srgbClr val="1C4587"/>
                </a:solidFill>
              </a:rPr>
              <a:t> for true error</a:t>
            </a:r>
            <a:endParaRPr sz="1600">
              <a:solidFill>
                <a:srgbClr val="1C4587"/>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comparing F(h) vs F(h') tells us which classifier is better</a:t>
            </a:r>
            <a:endParaRPr sz="1600">
              <a:solidFill>
                <a:schemeClr val="dk1"/>
              </a:solidFill>
            </a:endParaRPr>
          </a:p>
          <a:p>
            <a:pPr indent="0" lvl="0" marL="457200" rtl="0" algn="l">
              <a:lnSpc>
                <a:spcPct val="115000"/>
              </a:lnSpc>
              <a:spcBef>
                <a:spcPts val="0"/>
              </a:spcBef>
              <a:spcAft>
                <a:spcPts val="0"/>
              </a:spcAft>
              <a:buNone/>
            </a:pPr>
            <a:r>
              <a:t/>
            </a:r>
            <a:endParaRPr sz="1600">
              <a:solidFill>
                <a:schemeClr val="dk1"/>
              </a:solidFill>
            </a:endParaRPr>
          </a:p>
          <a:p>
            <a:pPr indent="0" lvl="0" marL="0" rtl="0" algn="l">
              <a:lnSpc>
                <a:spcPct val="115000"/>
              </a:lnSpc>
              <a:spcBef>
                <a:spcPts val="0"/>
              </a:spcBef>
              <a:spcAft>
                <a:spcPts val="0"/>
              </a:spcAft>
              <a:buNone/>
            </a:pPr>
            <a:r>
              <a:rPr lang="en" sz="1600">
                <a:solidFill>
                  <a:schemeClr val="dk1"/>
                </a:solidFill>
              </a:rPr>
              <a:t>Comparison Property: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If F(h) ≤ F(h'), then err(h) ≤ (1+ɛ)·err(h')</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Since F(h) ≤ F(h*) for any optimal h*, this gives err(h) ≤ (1+ɛ)·k*</a:t>
            </a:r>
            <a:endParaRPr sz="160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76"/>
          <p:cNvSpPr txBox="1"/>
          <p:nvPr/>
        </p:nvSpPr>
        <p:spPr>
          <a:xfrm>
            <a:off x="865675" y="1606368"/>
            <a:ext cx="73092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t>Instead of estimating err(h) exactly, we find an F where all estimates are </a:t>
            </a:r>
            <a:r>
              <a:rPr lang="en" sz="2000"/>
              <a:t>shifted</a:t>
            </a:r>
            <a:r>
              <a:rPr lang="en" sz="2000"/>
              <a:t> by the same unknown Δ</a:t>
            </a:r>
            <a:endParaRPr b="1" sz="2000">
              <a:solidFill>
                <a:srgbClr val="E06666"/>
              </a:solidFill>
              <a:highlight>
                <a:srgbClr val="E06666"/>
              </a:highlight>
            </a:endParaRPr>
          </a:p>
        </p:txBody>
      </p:sp>
      <p:sp>
        <p:nvSpPr>
          <p:cNvPr id="1095" name="Google Shape;1095;p76"/>
          <p:cNvSpPr txBox="1"/>
          <p:nvPr/>
        </p:nvSpPr>
        <p:spPr>
          <a:xfrm>
            <a:off x="937625" y="3196693"/>
            <a:ext cx="7113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dk1"/>
                </a:solidFill>
              </a:rPr>
              <a:t>🔑  Key Insight:  </a:t>
            </a:r>
            <a:r>
              <a:rPr lang="en" sz="1200">
                <a:solidFill>
                  <a:schemeClr val="dk1"/>
                </a:solidFill>
              </a:rPr>
              <a:t>Δ </a:t>
            </a:r>
            <a:r>
              <a:rPr lang="en" sz="1200">
                <a:solidFill>
                  <a:schemeClr val="dk1"/>
                </a:solidFill>
              </a:rPr>
              <a:t>cancels whenever we compare two classifiers — we never need to know its value</a:t>
            </a:r>
            <a:endParaRPr sz="1200">
              <a:solidFill>
                <a:schemeClr val="dk1"/>
              </a:solidFill>
            </a:endParaRPr>
          </a:p>
        </p:txBody>
      </p:sp>
      <p:sp>
        <p:nvSpPr>
          <p:cNvPr id="1096" name="Google Shape;1096;p76"/>
          <p:cNvSpPr txBox="1"/>
          <p:nvPr>
            <p:ph type="title"/>
          </p:nvPr>
        </p:nvSpPr>
        <p:spPr>
          <a:xfrm>
            <a:off x="1622775" y="565294"/>
            <a:ext cx="5737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20"/>
              <a:t>⭐ The Unknown Delta Technique ⭐</a:t>
            </a:r>
            <a:endParaRPr sz="2420"/>
          </a:p>
        </p:txBody>
      </p:sp>
      <p:sp>
        <p:nvSpPr>
          <p:cNvPr id="1097" name="Google Shape;1097;p76"/>
          <p:cNvSpPr/>
          <p:nvPr/>
        </p:nvSpPr>
        <p:spPr>
          <a:xfrm>
            <a:off x="1015050" y="2538475"/>
            <a:ext cx="7113900" cy="572700"/>
          </a:xfrm>
          <a:prstGeom prst="roundRect">
            <a:avLst>
              <a:gd fmla="val 16121"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chemeClr val="dk1"/>
                </a:solidFill>
              </a:rPr>
              <a:t>errₚ(h)(1 − ɛ/4) + Δ  ≤  F(h)  ≤  errₚ(h)(1 + ɛ/4) + Δ   for all h ∈ H_mon</a:t>
            </a:r>
            <a:endParaRPr sz="1900">
              <a:solidFill>
                <a:srgbClr val="BF9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77"/>
          <p:cNvSpPr/>
          <p:nvPr/>
        </p:nvSpPr>
        <p:spPr>
          <a:xfrm>
            <a:off x="1015050" y="2050819"/>
            <a:ext cx="3403800" cy="2056200"/>
          </a:xfrm>
          <a:prstGeom prst="roundRect">
            <a:avLst>
              <a:gd fmla="val 8257"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lnSpc>
                <a:spcPct val="115000"/>
              </a:lnSpc>
              <a:spcBef>
                <a:spcPts val="0"/>
              </a:spcBef>
              <a:spcAft>
                <a:spcPts val="0"/>
              </a:spcAft>
              <a:buNone/>
            </a:pPr>
            <a:r>
              <a:rPr lang="en" sz="1500">
                <a:solidFill>
                  <a:srgbClr val="660000"/>
                </a:solidFill>
              </a:rPr>
              <a:t>Proof of Comparison Property</a:t>
            </a:r>
            <a:endParaRPr sz="1500">
              <a:solidFill>
                <a:srgbClr val="660000"/>
              </a:solidFill>
            </a:endParaRPr>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300"/>
              <a:t>Suppose F(h) ≤ F(h').</a:t>
            </a:r>
            <a:endParaRPr sz="1300"/>
          </a:p>
          <a:p>
            <a:pPr indent="-311150" lvl="0" marL="457200" rtl="0" algn="l">
              <a:lnSpc>
                <a:spcPct val="115000"/>
              </a:lnSpc>
              <a:spcBef>
                <a:spcPts val="0"/>
              </a:spcBef>
              <a:spcAft>
                <a:spcPts val="0"/>
              </a:spcAft>
              <a:buSzPts val="1300"/>
              <a:buAutoNum type="arabicPeriod"/>
            </a:pPr>
            <a:r>
              <a:rPr lang="en" sz="1300"/>
              <a:t>errₚ(h)(1−ɛ/4) + Δ</a:t>
            </a:r>
            <a:r>
              <a:rPr lang="en" sz="1300"/>
              <a:t> </a:t>
            </a:r>
            <a:r>
              <a:rPr lang="en" sz="1300"/>
              <a:t>≤ F(h)</a:t>
            </a:r>
            <a:endParaRPr sz="1300"/>
          </a:p>
          <a:p>
            <a:pPr indent="-311150" lvl="0" marL="457200" rtl="0" algn="l">
              <a:lnSpc>
                <a:spcPct val="115000"/>
              </a:lnSpc>
              <a:spcBef>
                <a:spcPts val="0"/>
              </a:spcBef>
              <a:spcAft>
                <a:spcPts val="0"/>
              </a:spcAft>
              <a:buSzPts val="1300"/>
              <a:buAutoNum type="arabicPeriod"/>
            </a:pPr>
            <a:r>
              <a:rPr lang="en" sz="1300"/>
              <a:t>F(h') ≤ errₚ(h')(1+</a:t>
            </a:r>
            <a:r>
              <a:rPr lang="en" sz="1300"/>
              <a:t>ɛ</a:t>
            </a:r>
            <a:r>
              <a:rPr lang="en" sz="1300"/>
              <a:t>/4) + Δ </a:t>
            </a:r>
            <a:endParaRPr sz="1300"/>
          </a:p>
          <a:p>
            <a:pPr indent="0" lvl="0" marL="0" rtl="0" algn="l">
              <a:lnSpc>
                <a:spcPct val="115000"/>
              </a:lnSpc>
              <a:spcBef>
                <a:spcPts val="0"/>
              </a:spcBef>
              <a:spcAft>
                <a:spcPts val="0"/>
              </a:spcAft>
              <a:buNone/>
            </a:pPr>
            <a:r>
              <a:t/>
            </a:r>
            <a:endParaRPr sz="1300"/>
          </a:p>
          <a:p>
            <a:pPr indent="0" lvl="0" marL="0" rtl="0" algn="l">
              <a:lnSpc>
                <a:spcPct val="115000"/>
              </a:lnSpc>
              <a:spcBef>
                <a:spcPts val="0"/>
              </a:spcBef>
              <a:spcAft>
                <a:spcPts val="0"/>
              </a:spcAft>
              <a:buNone/>
            </a:pPr>
            <a:r>
              <a:rPr lang="en" sz="1300"/>
              <a:t>Cancel Δ → errₚ(h) ≤ (1+</a:t>
            </a:r>
            <a:r>
              <a:rPr lang="en" sz="1300"/>
              <a:t>ɛ</a:t>
            </a:r>
            <a:r>
              <a:rPr lang="en" sz="1300"/>
              <a:t>)·errₚ(h')</a:t>
            </a:r>
            <a:endParaRPr sz="1300"/>
          </a:p>
          <a:p>
            <a:pPr indent="0" lvl="0" marL="0" rtl="0" algn="l">
              <a:lnSpc>
                <a:spcPct val="115000"/>
              </a:lnSpc>
              <a:spcBef>
                <a:spcPts val="0"/>
              </a:spcBef>
              <a:spcAft>
                <a:spcPts val="0"/>
              </a:spcAft>
              <a:buNone/>
            </a:pPr>
            <a:r>
              <a:t/>
            </a:r>
            <a:endParaRPr sz="1200"/>
          </a:p>
        </p:txBody>
      </p:sp>
      <p:sp>
        <p:nvSpPr>
          <p:cNvPr id="1103" name="Google Shape;1103;p77"/>
          <p:cNvSpPr/>
          <p:nvPr/>
        </p:nvSpPr>
        <p:spPr>
          <a:xfrm>
            <a:off x="4725150" y="2050819"/>
            <a:ext cx="3403800" cy="2056200"/>
          </a:xfrm>
          <a:prstGeom prst="roundRect">
            <a:avLst>
              <a:gd fmla="val 8219"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rgbClr val="274E13"/>
                </a:solidFill>
              </a:rPr>
              <a:t>Why Δ Doesn't Matter</a:t>
            </a:r>
            <a:endParaRPr sz="1500">
              <a:solidFill>
                <a:srgbClr val="274E13"/>
              </a:solidFill>
            </a:endParaRPr>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300"/>
              <a:t>Δ is the same constant in F(h) and F(h').</a:t>
            </a:r>
            <a:endParaRPr sz="1300"/>
          </a:p>
          <a:p>
            <a:pPr indent="0" lvl="0" marL="0" rtl="0" algn="l">
              <a:lnSpc>
                <a:spcPct val="115000"/>
              </a:lnSpc>
              <a:spcBef>
                <a:spcPts val="0"/>
              </a:spcBef>
              <a:spcAft>
                <a:spcPts val="0"/>
              </a:spcAft>
              <a:buNone/>
            </a:pPr>
            <a:r>
              <a:rPr lang="en" sz="1300"/>
              <a:t>Subtracting them eliminates Δ entirely.</a:t>
            </a:r>
            <a:endParaRPr sz="1300"/>
          </a:p>
          <a:p>
            <a:pPr indent="0" lvl="0" marL="0" rtl="0" algn="l">
              <a:lnSpc>
                <a:spcPct val="115000"/>
              </a:lnSpc>
              <a:spcBef>
                <a:spcPts val="0"/>
              </a:spcBef>
              <a:spcAft>
                <a:spcPts val="0"/>
              </a:spcAft>
              <a:buNone/>
            </a:pPr>
            <a:r>
              <a:t/>
            </a:r>
            <a:endParaRPr sz="1300"/>
          </a:p>
          <a:p>
            <a:pPr indent="0" lvl="0" marL="0" rtl="0" algn="l">
              <a:lnSpc>
                <a:spcPct val="115000"/>
              </a:lnSpc>
              <a:spcBef>
                <a:spcPts val="0"/>
              </a:spcBef>
              <a:spcAft>
                <a:spcPts val="0"/>
              </a:spcAft>
              <a:buNone/>
            </a:pPr>
            <a:r>
              <a:rPr lang="en" sz="1300"/>
              <a:t>We only compare</a:t>
            </a:r>
            <a:r>
              <a:rPr lang="en" sz="1300"/>
              <a:t> and </a:t>
            </a:r>
            <a:r>
              <a:rPr lang="en" sz="1300"/>
              <a:t>never compute</a:t>
            </a:r>
            <a:endParaRPr sz="1300"/>
          </a:p>
          <a:p>
            <a:pPr indent="0" lvl="0" marL="0" rtl="0" algn="l">
              <a:lnSpc>
                <a:spcPct val="115000"/>
              </a:lnSpc>
              <a:spcBef>
                <a:spcPts val="0"/>
              </a:spcBef>
              <a:spcAft>
                <a:spcPts val="0"/>
              </a:spcAft>
              <a:buNone/>
            </a:pPr>
            <a:r>
              <a:rPr lang="en" sz="1300"/>
              <a:t>an absolute error. That's the trick.</a:t>
            </a:r>
            <a:endParaRPr sz="1300"/>
          </a:p>
          <a:p>
            <a:pPr indent="0" lvl="0" marL="0" rtl="0" algn="l">
              <a:lnSpc>
                <a:spcPct val="115000"/>
              </a:lnSpc>
              <a:spcBef>
                <a:spcPts val="0"/>
              </a:spcBef>
              <a:spcAft>
                <a:spcPts val="0"/>
              </a:spcAft>
              <a:buNone/>
            </a:pPr>
            <a:r>
              <a:t/>
            </a:r>
            <a:endParaRPr sz="1300"/>
          </a:p>
        </p:txBody>
      </p:sp>
      <p:sp>
        <p:nvSpPr>
          <p:cNvPr id="1104" name="Google Shape;1104;p77"/>
          <p:cNvSpPr txBox="1"/>
          <p:nvPr>
            <p:ph type="title"/>
          </p:nvPr>
        </p:nvSpPr>
        <p:spPr>
          <a:xfrm>
            <a:off x="1622775" y="565294"/>
            <a:ext cx="5737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20"/>
              <a:t>⭐ The Unknown Delta Technique ⭐</a:t>
            </a:r>
            <a:endParaRPr sz="2420"/>
          </a:p>
        </p:txBody>
      </p:sp>
      <p:sp>
        <p:nvSpPr>
          <p:cNvPr id="1105" name="Google Shape;1105;p77"/>
          <p:cNvSpPr/>
          <p:nvPr/>
        </p:nvSpPr>
        <p:spPr>
          <a:xfrm>
            <a:off x="1015050" y="1241525"/>
            <a:ext cx="7113900" cy="572700"/>
          </a:xfrm>
          <a:prstGeom prst="roundRect">
            <a:avLst>
              <a:gd fmla="val 16121"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700">
                <a:solidFill>
                  <a:schemeClr val="dk1"/>
                </a:solidFill>
              </a:rPr>
              <a:t>errₚ(h)(1 − ɛ/4) + Δ  ≤  F(h)  ≤  errₚ(h)(1 + ɛ/4) + Δ   for all h ∈ H_mon</a:t>
            </a:r>
            <a:endParaRPr sz="1900">
              <a:solidFill>
                <a:srgbClr val="BF9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78"/>
          <p:cNvSpPr txBox="1"/>
          <p:nvPr>
            <p:ph type="title"/>
          </p:nvPr>
        </p:nvSpPr>
        <p:spPr>
          <a:xfrm>
            <a:off x="1743950" y="451025"/>
            <a:ext cx="5621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20"/>
              <a:t>Relative-Comparison Coreset (RCC)</a:t>
            </a:r>
            <a:endParaRPr sz="2420"/>
          </a:p>
        </p:txBody>
      </p:sp>
      <p:sp>
        <p:nvSpPr>
          <p:cNvPr id="1111" name="Google Shape;1111;p78"/>
          <p:cNvSpPr/>
          <p:nvPr/>
        </p:nvSpPr>
        <p:spPr>
          <a:xfrm>
            <a:off x="977000" y="1176700"/>
            <a:ext cx="7155000" cy="3505500"/>
          </a:xfrm>
          <a:prstGeom prst="ellipse">
            <a:avLst/>
          </a:prstGeom>
          <a:solidFill>
            <a:srgbClr val="FFF2CC">
              <a:alpha val="50000"/>
            </a:srgbClr>
          </a:solidFill>
          <a:ln cap="flat" cmpd="sng" w="11350">
            <a:solidFill>
              <a:srgbClr val="F1C232"/>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112" name="Google Shape;1112;p78"/>
          <p:cNvSpPr txBox="1"/>
          <p:nvPr/>
        </p:nvSpPr>
        <p:spPr>
          <a:xfrm>
            <a:off x="2524326" y="1454450"/>
            <a:ext cx="21285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BF9000"/>
                </a:solidFill>
              </a:rPr>
              <a:t>Full Dataset P</a:t>
            </a:r>
            <a:endParaRPr sz="2000">
              <a:solidFill>
                <a:srgbClr val="BF9000"/>
              </a:solidFill>
            </a:endParaRPr>
          </a:p>
        </p:txBody>
      </p:sp>
      <p:sp>
        <p:nvSpPr>
          <p:cNvPr id="1113" name="Google Shape;1113;p78"/>
          <p:cNvSpPr txBox="1"/>
          <p:nvPr/>
        </p:nvSpPr>
        <p:spPr>
          <a:xfrm>
            <a:off x="2529469" y="1752276"/>
            <a:ext cx="2740200" cy="7164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1500"/>
              <a:t>All n points</a:t>
            </a:r>
            <a:endParaRPr sz="1500"/>
          </a:p>
          <a:p>
            <a:pPr indent="0" lvl="0" marL="0" rtl="0" algn="l">
              <a:lnSpc>
                <a:spcPct val="115000"/>
              </a:lnSpc>
              <a:spcBef>
                <a:spcPts val="0"/>
              </a:spcBef>
              <a:spcAft>
                <a:spcPts val="0"/>
              </a:spcAft>
              <a:buNone/>
            </a:pPr>
            <a:r>
              <a:rPr lang="en" sz="1500"/>
              <a:t>Labels: unknown until probed</a:t>
            </a:r>
            <a:endParaRPr sz="1500"/>
          </a:p>
        </p:txBody>
      </p:sp>
      <p:sp>
        <p:nvSpPr>
          <p:cNvPr id="1114" name="Google Shape;1114;p78"/>
          <p:cNvSpPr/>
          <p:nvPr/>
        </p:nvSpPr>
        <p:spPr>
          <a:xfrm>
            <a:off x="2472438" y="25717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115" name="Google Shape;1115;p78"/>
          <p:cNvSpPr txBox="1"/>
          <p:nvPr/>
        </p:nvSpPr>
        <p:spPr>
          <a:xfrm>
            <a:off x="3110978" y="2899398"/>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116" name="Google Shape;1116;p78"/>
          <p:cNvSpPr txBox="1"/>
          <p:nvPr/>
        </p:nvSpPr>
        <p:spPr>
          <a:xfrm>
            <a:off x="3115524" y="3197213"/>
            <a:ext cx="2917500" cy="9819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1500"/>
              <a:t>Small weighted subset of P</a:t>
            </a:r>
            <a:endParaRPr sz="1500"/>
          </a:p>
          <a:p>
            <a:pPr indent="0" lvl="0" marL="0" rtl="0" algn="l">
              <a:lnSpc>
                <a:spcPct val="115000"/>
              </a:lnSpc>
              <a:spcBef>
                <a:spcPts val="0"/>
              </a:spcBef>
              <a:spcAft>
                <a:spcPts val="0"/>
              </a:spcAft>
              <a:buNone/>
            </a:pPr>
            <a:r>
              <a:rPr lang="en" sz="1500"/>
              <a:t>Labels revealed, weights &gt; 0</a:t>
            </a:r>
            <a:endParaRPr sz="1500"/>
          </a:p>
          <a:p>
            <a:pPr indent="0" lvl="0" marL="0" rtl="0" algn="l">
              <a:lnSpc>
                <a:spcPct val="115000"/>
              </a:lnSpc>
              <a:spcBef>
                <a:spcPts val="0"/>
              </a:spcBef>
              <a:spcAft>
                <a:spcPts val="0"/>
              </a:spcAft>
              <a:buNone/>
            </a:pPr>
            <a:r>
              <a:rPr lang="en" sz="1500"/>
              <a:t>w-err</a:t>
            </a:r>
            <a:r>
              <a:rPr baseline="-25000" lang="en" sz="1500"/>
              <a:t>Z</a:t>
            </a:r>
            <a:r>
              <a:rPr lang="en" sz="1500"/>
              <a:t>(h) = Σ weight(z)</a:t>
            </a:r>
            <a:endParaRPr sz="15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79"/>
          <p:cNvSpPr/>
          <p:nvPr/>
        </p:nvSpPr>
        <p:spPr>
          <a:xfrm>
            <a:off x="982400" y="1664518"/>
            <a:ext cx="7150800" cy="2027700"/>
          </a:xfrm>
          <a:prstGeom prst="roundRect">
            <a:avLst>
              <a:gd fmla="val 10364"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ctr">
              <a:lnSpc>
                <a:spcPct val="115000"/>
              </a:lnSpc>
              <a:spcBef>
                <a:spcPts val="0"/>
              </a:spcBef>
              <a:spcAft>
                <a:spcPts val="0"/>
              </a:spcAft>
              <a:buNone/>
            </a:pPr>
            <a:r>
              <a:rPr lang="en" sz="1500">
                <a:solidFill>
                  <a:schemeClr val="dk1"/>
                </a:solidFill>
              </a:rPr>
              <a:t>With O(w/ε² · log(nw/δ) · log n)  probes, obtain coreset Z of the same size w.h.p., such that every h ∈ H_mon satisfies:</a:t>
            </a:r>
            <a:endParaRPr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ctr">
              <a:lnSpc>
                <a:spcPct val="115000"/>
              </a:lnSpc>
              <a:spcBef>
                <a:spcPts val="0"/>
              </a:spcBef>
              <a:spcAft>
                <a:spcPts val="0"/>
              </a:spcAft>
              <a:buNone/>
            </a:pPr>
            <a:r>
              <a:rPr b="1" lang="en" sz="1500">
                <a:solidFill>
                  <a:schemeClr val="dk1"/>
                </a:solidFill>
              </a:rPr>
              <a:t>errₚ(h)(1−ε/4) + Δ  ≤  w-err</a:t>
            </a:r>
            <a:r>
              <a:rPr b="1" baseline="-25000" lang="en" sz="1500">
                <a:solidFill>
                  <a:schemeClr val="dk1"/>
                </a:solidFill>
              </a:rPr>
              <a:t>Z</a:t>
            </a:r>
            <a:r>
              <a:rPr b="1" lang="en" sz="1500">
                <a:solidFill>
                  <a:schemeClr val="dk1"/>
                </a:solidFill>
              </a:rPr>
              <a:t>(h)  ≤  errₚ(h)(1+ε/4) + Δ</a:t>
            </a:r>
            <a:endParaRPr b="1" sz="1500">
              <a:solidFill>
                <a:schemeClr val="dk1"/>
              </a:solidFill>
            </a:endParaRPr>
          </a:p>
          <a:p>
            <a:pPr indent="0" lvl="0" marL="0" rtl="0" algn="ctr">
              <a:lnSpc>
                <a:spcPct val="115000"/>
              </a:lnSpc>
              <a:spcBef>
                <a:spcPts val="0"/>
              </a:spcBef>
              <a:spcAft>
                <a:spcPts val="0"/>
              </a:spcAft>
              <a:buNone/>
            </a:pPr>
            <a:r>
              <a:t/>
            </a:r>
            <a:endParaRPr sz="1500">
              <a:solidFill>
                <a:schemeClr val="dk1"/>
              </a:solidFill>
            </a:endParaRPr>
          </a:p>
          <a:p>
            <a:pPr indent="0" lvl="0" marL="0" rtl="0" algn="ctr">
              <a:lnSpc>
                <a:spcPct val="115000"/>
              </a:lnSpc>
              <a:spcBef>
                <a:spcPts val="0"/>
              </a:spcBef>
              <a:spcAft>
                <a:spcPts val="0"/>
              </a:spcAft>
              <a:buNone/>
            </a:pPr>
            <a:r>
              <a:rPr lang="en" sz="1500">
                <a:solidFill>
                  <a:schemeClr val="dk1"/>
                </a:solidFill>
              </a:rPr>
              <a:t>for some unknown Δ.</a:t>
            </a:r>
            <a:endParaRPr sz="1500">
              <a:solidFill>
                <a:srgbClr val="1C4587"/>
              </a:solidFill>
            </a:endParaRPr>
          </a:p>
        </p:txBody>
      </p:sp>
      <p:sp>
        <p:nvSpPr>
          <p:cNvPr id="1122" name="Google Shape;1122;p79"/>
          <p:cNvSpPr txBox="1"/>
          <p:nvPr/>
        </p:nvSpPr>
        <p:spPr>
          <a:xfrm>
            <a:off x="776250" y="3866893"/>
            <a:ext cx="75915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500">
                <a:solidFill>
                  <a:srgbClr val="0B5394"/>
                </a:solidFill>
              </a:rPr>
              <a:t>w-errZ(h) satisfies the relative ε-comparison property &amp; serves as the desired function F</a:t>
            </a:r>
            <a:endParaRPr sz="1500">
              <a:solidFill>
                <a:srgbClr val="0B5394"/>
              </a:solidFill>
            </a:endParaRPr>
          </a:p>
        </p:txBody>
      </p:sp>
      <p:sp>
        <p:nvSpPr>
          <p:cNvPr id="1123" name="Google Shape;1123;p79"/>
          <p:cNvSpPr txBox="1"/>
          <p:nvPr>
            <p:ph type="title"/>
          </p:nvPr>
        </p:nvSpPr>
        <p:spPr>
          <a:xfrm>
            <a:off x="1743950" y="451025"/>
            <a:ext cx="56211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420"/>
              <a:t>Relative-Comparison Coreset (RCC)</a:t>
            </a:r>
            <a:endParaRPr sz="242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80"/>
          <p:cNvSpPr txBox="1"/>
          <p:nvPr>
            <p:ph type="title"/>
          </p:nvPr>
        </p:nvSpPr>
        <p:spPr>
          <a:xfrm>
            <a:off x="1537212" y="464150"/>
            <a:ext cx="6069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What We're About to Prove</a:t>
            </a:r>
            <a:endParaRPr sz="2420"/>
          </a:p>
        </p:txBody>
      </p:sp>
      <p:sp>
        <p:nvSpPr>
          <p:cNvPr id="1129" name="Google Shape;1129;p80"/>
          <p:cNvSpPr/>
          <p:nvPr/>
        </p:nvSpPr>
        <p:spPr>
          <a:xfrm>
            <a:off x="4459975" y="1666738"/>
            <a:ext cx="4365000" cy="936600"/>
          </a:xfrm>
          <a:prstGeom prst="roundRect">
            <a:avLst>
              <a:gd fmla="val 12457"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lnSpc>
                <a:spcPct val="115000"/>
              </a:lnSpc>
              <a:spcBef>
                <a:spcPts val="0"/>
              </a:spcBef>
              <a:spcAft>
                <a:spcPts val="0"/>
              </a:spcAft>
              <a:buNone/>
            </a:pPr>
            <a:r>
              <a:t/>
            </a:r>
            <a:endParaRPr sz="1300"/>
          </a:p>
          <a:p>
            <a:pPr indent="0" lvl="0" marL="0" rtl="0" algn="l">
              <a:lnSpc>
                <a:spcPct val="115000"/>
              </a:lnSpc>
              <a:spcBef>
                <a:spcPts val="0"/>
              </a:spcBef>
              <a:spcAft>
                <a:spcPts val="0"/>
              </a:spcAft>
              <a:buNone/>
            </a:pPr>
            <a:r>
              <a:rPr lang="en" sz="1300"/>
              <a:t>Establishing its correctness for d = 1 by at least 1- δ by </a:t>
            </a:r>
            <a:r>
              <a:rPr lang="en" sz="1300"/>
              <a:t>probing</a:t>
            </a:r>
            <a:r>
              <a:rPr lang="en" sz="1300"/>
              <a:t> O(w/ε2 · Log (n/w) · log (n/δ)) elements</a:t>
            </a:r>
            <a:endParaRPr sz="1300"/>
          </a:p>
          <a:p>
            <a:pPr indent="0" lvl="0" marL="0" rtl="0" algn="l">
              <a:lnSpc>
                <a:spcPct val="115000"/>
              </a:lnSpc>
              <a:spcBef>
                <a:spcPts val="0"/>
              </a:spcBef>
              <a:spcAft>
                <a:spcPts val="0"/>
              </a:spcAft>
              <a:buNone/>
            </a:pPr>
            <a:r>
              <a:t/>
            </a:r>
            <a:endParaRPr sz="1200"/>
          </a:p>
        </p:txBody>
      </p:sp>
      <p:sp>
        <p:nvSpPr>
          <p:cNvPr id="1130" name="Google Shape;1130;p80"/>
          <p:cNvSpPr/>
          <p:nvPr/>
        </p:nvSpPr>
        <p:spPr>
          <a:xfrm>
            <a:off x="4459975" y="2764906"/>
            <a:ext cx="4365000" cy="936600"/>
          </a:xfrm>
          <a:prstGeom prst="roundRect">
            <a:avLst>
              <a:gd fmla="val 13285"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t>Utilising solution to build a relative-comparison coreset that meets the requirements of Theorem 6 for d=1.</a:t>
            </a:r>
            <a:endParaRPr sz="1300"/>
          </a:p>
        </p:txBody>
      </p:sp>
      <p:sp>
        <p:nvSpPr>
          <p:cNvPr id="1131" name="Google Shape;1131;p80"/>
          <p:cNvSpPr/>
          <p:nvPr/>
        </p:nvSpPr>
        <p:spPr>
          <a:xfrm>
            <a:off x="4459975" y="3863075"/>
            <a:ext cx="4365000" cy="738000"/>
          </a:xfrm>
          <a:prstGeom prst="roundRect">
            <a:avLst>
              <a:gd fmla="val 14759"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lnSpc>
                <a:spcPct val="115000"/>
              </a:lnSpc>
              <a:spcBef>
                <a:spcPts val="0"/>
              </a:spcBef>
              <a:spcAft>
                <a:spcPts val="0"/>
              </a:spcAft>
              <a:buNone/>
            </a:pPr>
            <a:r>
              <a:rPr lang="en" sz="1300">
                <a:solidFill>
                  <a:schemeClr val="dk1"/>
                </a:solidFill>
              </a:rPr>
              <a:t>Extending the </a:t>
            </a:r>
            <a:r>
              <a:rPr lang="en" sz="1300">
                <a:solidFill>
                  <a:schemeClr val="dk1"/>
                </a:solidFill>
              </a:rPr>
              <a:t>discussion</a:t>
            </a:r>
            <a:r>
              <a:rPr lang="en" sz="1300">
                <a:solidFill>
                  <a:schemeClr val="dk1"/>
                </a:solidFill>
              </a:rPr>
              <a:t> for d&gt;1</a:t>
            </a:r>
            <a:endParaRPr sz="1300">
              <a:solidFill>
                <a:srgbClr val="1C4587"/>
              </a:solidFill>
            </a:endParaRPr>
          </a:p>
        </p:txBody>
      </p:sp>
      <p:sp>
        <p:nvSpPr>
          <p:cNvPr id="1132" name="Google Shape;1132;p80"/>
          <p:cNvSpPr/>
          <p:nvPr/>
        </p:nvSpPr>
        <p:spPr>
          <a:xfrm rot="5400000">
            <a:off x="6480475" y="2600063"/>
            <a:ext cx="324000" cy="18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3" name="Google Shape;1133;p80"/>
          <p:cNvSpPr/>
          <p:nvPr/>
        </p:nvSpPr>
        <p:spPr>
          <a:xfrm rot="5400000">
            <a:off x="6480475" y="3673225"/>
            <a:ext cx="324000" cy="18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4" name="Google Shape;1134;p80"/>
          <p:cNvCxnSpPr/>
          <p:nvPr/>
        </p:nvCxnSpPr>
        <p:spPr>
          <a:xfrm>
            <a:off x="4227150" y="1427375"/>
            <a:ext cx="8100" cy="3167100"/>
          </a:xfrm>
          <a:prstGeom prst="straightConnector1">
            <a:avLst/>
          </a:prstGeom>
          <a:noFill/>
          <a:ln cap="flat" cmpd="sng" w="9525">
            <a:solidFill>
              <a:schemeClr val="dk2"/>
            </a:solidFill>
            <a:prstDash val="solid"/>
            <a:round/>
            <a:headEnd len="med" w="med" type="none"/>
            <a:tailEnd len="med" w="med" type="none"/>
          </a:ln>
        </p:spPr>
      </p:cxnSp>
      <p:sp>
        <p:nvSpPr>
          <p:cNvPr id="1135" name="Google Shape;1135;p80"/>
          <p:cNvSpPr txBox="1"/>
          <p:nvPr>
            <p:ph type="title"/>
          </p:nvPr>
        </p:nvSpPr>
        <p:spPr>
          <a:xfrm>
            <a:off x="4711831" y="1283212"/>
            <a:ext cx="38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The rest of the section proves Theorem 6 by</a:t>
            </a:r>
            <a:endParaRPr sz="1200"/>
          </a:p>
        </p:txBody>
      </p:sp>
      <p:sp>
        <p:nvSpPr>
          <p:cNvPr id="1136" name="Google Shape;1136;p80"/>
          <p:cNvSpPr/>
          <p:nvPr/>
        </p:nvSpPr>
        <p:spPr>
          <a:xfrm>
            <a:off x="319025" y="1427375"/>
            <a:ext cx="3683400" cy="3167100"/>
          </a:xfrm>
          <a:prstGeom prst="roundRect">
            <a:avLst>
              <a:gd fmla="val 7287"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600">
                <a:solidFill>
                  <a:schemeClr val="dk1"/>
                </a:solidFill>
              </a:rPr>
              <a:t>Theorem 6</a:t>
            </a:r>
            <a:endParaRPr b="1" sz="16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en">
                <a:solidFill>
                  <a:schemeClr val="dk1"/>
                </a:solidFill>
              </a:rPr>
              <a:t>Let n and w be the size and width of the input P to Problem 1. </a:t>
            </a:r>
            <a:endParaRPr>
              <a:solidFill>
                <a:schemeClr val="dk1"/>
              </a:solidFill>
            </a:endParaRPr>
          </a:p>
          <a:p>
            <a:pPr indent="0" lvl="0" marL="0" rtl="0" algn="ctr">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en">
                <a:solidFill>
                  <a:schemeClr val="dk1"/>
                </a:solidFill>
              </a:rPr>
              <a:t>In O(w/ε</a:t>
            </a:r>
            <a:r>
              <a:rPr baseline="30000" lang="en">
                <a:solidFill>
                  <a:schemeClr val="dk1"/>
                </a:solidFill>
              </a:rPr>
              <a:t>2</a:t>
            </a:r>
            <a:r>
              <a:rPr lang="en">
                <a:solidFill>
                  <a:schemeClr val="dk1"/>
                </a:solidFill>
              </a:rPr>
              <a:t> · Log (n/w) · log (n/δ)) probes, we can obtain with probability at least 1-δ a relative comparison coreset Z of P with size |Z| = O(w/ε</a:t>
            </a:r>
            <a:r>
              <a:rPr baseline="30000" lang="en">
                <a:solidFill>
                  <a:schemeClr val="dk1"/>
                </a:solidFill>
              </a:rPr>
              <a:t>2</a:t>
            </a:r>
            <a:r>
              <a:rPr lang="en">
                <a:solidFill>
                  <a:schemeClr val="dk1"/>
                </a:solidFill>
              </a:rPr>
              <a:t> · Log (n/w) · log (n/δ)).</a:t>
            </a:r>
            <a:endParaRPr>
              <a:solidFill>
                <a:schemeClr val="dk1"/>
              </a:solidFill>
            </a:endParaRPr>
          </a:p>
          <a:p>
            <a:pPr indent="0" lvl="0" marL="0" rtl="0" algn="ctr">
              <a:lnSpc>
                <a:spcPct val="115000"/>
              </a:lnSpc>
              <a:spcBef>
                <a:spcPts val="0"/>
              </a:spcBef>
              <a:spcAft>
                <a:spcPts val="0"/>
              </a:spcAft>
              <a:buNone/>
            </a:pPr>
            <a:r>
              <a:t/>
            </a:r>
            <a:endParaRPr sz="2000">
              <a:solidFill>
                <a:srgbClr val="BF9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81"/>
          <p:cNvSpPr txBox="1"/>
          <p:nvPr>
            <p:ph type="title"/>
          </p:nvPr>
        </p:nvSpPr>
        <p:spPr>
          <a:xfrm>
            <a:off x="1537212" y="464150"/>
            <a:ext cx="6069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The 1D Function Approximation</a:t>
            </a:r>
            <a:endParaRPr sz="2420"/>
          </a:p>
        </p:txBody>
      </p:sp>
      <p:sp>
        <p:nvSpPr>
          <p:cNvPr id="1142" name="Google Shape;1142;p81"/>
          <p:cNvSpPr txBox="1"/>
          <p:nvPr/>
        </p:nvSpPr>
        <p:spPr>
          <a:xfrm>
            <a:off x="944550" y="1723550"/>
            <a:ext cx="7017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p>
        </p:txBody>
      </p:sp>
      <p:sp>
        <p:nvSpPr>
          <p:cNvPr id="1143" name="Google Shape;1143;p81"/>
          <p:cNvSpPr/>
          <p:nvPr/>
        </p:nvSpPr>
        <p:spPr>
          <a:xfrm>
            <a:off x="1337400" y="1390725"/>
            <a:ext cx="6469200" cy="2100900"/>
          </a:xfrm>
          <a:prstGeom prst="roundRect">
            <a:avLst>
              <a:gd fmla="val 7850"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Let P be a multiset of 1D labeled points and ε ∈ (0,1].  Find F : H</a:t>
            </a:r>
            <a:r>
              <a:rPr baseline="-25000" lang="en">
                <a:solidFill>
                  <a:schemeClr val="dk1"/>
                </a:solidFill>
              </a:rPr>
              <a:t>mon</a:t>
            </a:r>
            <a:r>
              <a:rPr lang="en">
                <a:solidFill>
                  <a:schemeClr val="dk1"/>
                </a:solidFill>
              </a:rPr>
              <a:t> → ℝ such that every h ∈ H</a:t>
            </a:r>
            <a:r>
              <a:rPr baseline="-25000" lang="en">
                <a:solidFill>
                  <a:schemeClr val="dk1"/>
                </a:solidFill>
              </a:rPr>
              <a:t>mon</a:t>
            </a:r>
            <a:r>
              <a:rPr lang="en">
                <a:solidFill>
                  <a:schemeClr val="dk1"/>
                </a:solidFill>
              </a:rPr>
              <a:t> satisfies simultaneously:</a:t>
            </a:r>
            <a:endParaRPr>
              <a:solidFill>
                <a:schemeClr val="dk1"/>
              </a:solidFill>
            </a:endParaRPr>
          </a:p>
          <a:p>
            <a:pPr indent="0" lvl="0" marL="0" rtl="0" algn="ctr">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                            </a:t>
            </a:r>
            <a:r>
              <a:rPr lang="en" sz="1300">
                <a:solidFill>
                  <a:schemeClr val="dk1"/>
                </a:solidFill>
              </a:rPr>
              <a:t>|F(h) − errₚ(h)| ≤ ε|P| / 64</a:t>
            </a:r>
            <a:endParaRPr sz="1300">
              <a:solidFill>
                <a:schemeClr val="dk1"/>
              </a:solidFill>
            </a:endParaRPr>
          </a:p>
          <a:p>
            <a:pPr indent="0" lvl="0" marL="1371600" rtl="0" algn="l">
              <a:lnSpc>
                <a:spcPct val="115000"/>
              </a:lnSpc>
              <a:spcBef>
                <a:spcPts val="0"/>
              </a:spcBef>
              <a:spcAft>
                <a:spcPts val="0"/>
              </a:spcAft>
              <a:buNone/>
            </a:pPr>
            <a:r>
              <a:rPr lang="en" sz="1300">
                <a:solidFill>
                  <a:schemeClr val="dk1"/>
                </a:solidFill>
              </a:rPr>
              <a:t>errₚ(h)(1 − ε/4) + Δ  ≤  F(h)  ≤  errₚ(h)(1 + ε/4) + Δ</a:t>
            </a:r>
            <a:endParaRPr sz="1300">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for some (possibly unknown) Δ  with  |Δ| ≤ ε|P| / 64</a:t>
            </a:r>
            <a:endParaRPr sz="1300"/>
          </a:p>
        </p:txBody>
      </p:sp>
      <p:sp>
        <p:nvSpPr>
          <p:cNvPr id="1144" name="Google Shape;1144;p81"/>
          <p:cNvSpPr txBox="1"/>
          <p:nvPr/>
        </p:nvSpPr>
        <p:spPr>
          <a:xfrm>
            <a:off x="2233350" y="3729975"/>
            <a:ext cx="4677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p>
        </p:txBody>
      </p:sp>
      <p:sp>
        <p:nvSpPr>
          <p:cNvPr id="1145" name="Google Shape;1145;p81"/>
          <p:cNvSpPr txBox="1"/>
          <p:nvPr/>
        </p:nvSpPr>
        <p:spPr>
          <a:xfrm>
            <a:off x="944550" y="3723275"/>
            <a:ext cx="72549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chemeClr val="dk1"/>
                </a:solidFill>
              </a:rPr>
              <a:t>The 1D construction works by solving the following problem at every level of recursion. The coreset is built by the algorithm </a:t>
            </a:r>
            <a:r>
              <a:rPr i="1" lang="en">
                <a:solidFill>
                  <a:schemeClr val="dk1"/>
                </a:solidFill>
              </a:rPr>
              <a:t>BuildCoreset</a:t>
            </a:r>
            <a:r>
              <a:rPr lang="en">
                <a:solidFill>
                  <a:schemeClr val="dk1"/>
                </a:solidFill>
              </a:rPr>
              <a:t>, which solves the problem recursively.</a:t>
            </a:r>
            <a:endParaRPr sz="1500">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82"/>
          <p:cNvSpPr txBox="1"/>
          <p:nvPr/>
        </p:nvSpPr>
        <p:spPr>
          <a:xfrm>
            <a:off x="387586" y="512988"/>
            <a:ext cx="5184000" cy="41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rPr>
              <a:t>BuildCoreset(P)</a:t>
            </a:r>
            <a:endParaRPr b="1">
              <a:solidFill>
                <a:schemeClr val="dk1"/>
              </a:solidFill>
            </a:endParaRPr>
          </a:p>
          <a:p>
            <a:pPr indent="0" lvl="0" marL="0" rtl="0" algn="l">
              <a:lnSpc>
                <a:spcPct val="115000"/>
              </a:lnSpc>
              <a:spcBef>
                <a:spcPts val="0"/>
              </a:spcBef>
              <a:spcAft>
                <a:spcPts val="0"/>
              </a:spcAft>
              <a:buNone/>
            </a:pPr>
            <a:r>
              <a:rPr lang="en">
                <a:solidFill>
                  <a:schemeClr val="dk1"/>
                </a:solidFill>
              </a:rPr>
              <a:t>Z ← ∅</a:t>
            </a:r>
            <a:endParaRPr>
              <a:solidFill>
                <a:schemeClr val="dk1"/>
              </a:solidFill>
            </a:endParaRPr>
          </a:p>
          <a:p>
            <a:pPr indent="0" lvl="0" marL="0" rtl="0" algn="l">
              <a:lnSpc>
                <a:spcPct val="115000"/>
              </a:lnSpc>
              <a:spcBef>
                <a:spcPts val="0"/>
              </a:spcBef>
              <a:spcAft>
                <a:spcPts val="0"/>
              </a:spcAft>
              <a:buNone/>
            </a:pPr>
            <a:r>
              <a:rPr lang="en">
                <a:solidFill>
                  <a:schemeClr val="dk2"/>
                </a:solidFill>
              </a:rPr>
              <a:t>If |P| = 1:</a:t>
            </a:r>
            <a:endParaRPr>
              <a:solidFill>
                <a:schemeClr val="dk2"/>
              </a:solidFill>
            </a:endParaRPr>
          </a:p>
          <a:p>
            <a:pPr indent="457200" lvl="0" marL="0" rtl="0" algn="l">
              <a:lnSpc>
                <a:spcPct val="115000"/>
              </a:lnSpc>
              <a:spcBef>
                <a:spcPts val="0"/>
              </a:spcBef>
              <a:spcAft>
                <a:spcPts val="0"/>
              </a:spcAft>
              <a:buNone/>
            </a:pPr>
            <a:r>
              <a:rPr lang="en">
                <a:solidFill>
                  <a:schemeClr val="dk2"/>
                </a:solidFill>
              </a:rPr>
              <a:t>Probe the single element p</a:t>
            </a:r>
            <a:endParaRPr>
              <a:solidFill>
                <a:schemeClr val="dk2"/>
              </a:solidFill>
            </a:endParaRPr>
          </a:p>
          <a:p>
            <a:pPr indent="0" lvl="0" marL="457200" rtl="0" algn="l">
              <a:lnSpc>
                <a:spcPct val="115000"/>
              </a:lnSpc>
              <a:spcBef>
                <a:spcPts val="0"/>
              </a:spcBef>
              <a:spcAft>
                <a:spcPts val="0"/>
              </a:spcAft>
              <a:buNone/>
            </a:pPr>
            <a:r>
              <a:rPr lang="en">
                <a:solidFill>
                  <a:schemeClr val="dk2"/>
                </a:solidFill>
              </a:rPr>
              <a:t>Z ← {p}  with weight(p) = 1</a:t>
            </a:r>
            <a:endParaRPr>
              <a:solidFill>
                <a:schemeClr val="dk2"/>
              </a:solidFill>
            </a:endParaRPr>
          </a:p>
          <a:p>
            <a:pPr indent="0" lvl="0" marL="0" rtl="0" algn="l">
              <a:lnSpc>
                <a:spcPct val="115000"/>
              </a:lnSpc>
              <a:spcBef>
                <a:spcPts val="0"/>
              </a:spcBef>
              <a:spcAft>
                <a:spcPts val="0"/>
              </a:spcAft>
              <a:buNone/>
            </a:pPr>
            <a:r>
              <a:rPr lang="en">
                <a:solidFill>
                  <a:schemeClr val="dk1"/>
                </a:solidFill>
              </a:rPr>
              <a:t>Else:</a:t>
            </a:r>
            <a:endParaRPr>
              <a:solidFill>
                <a:schemeClr val="dk1"/>
              </a:solidFill>
            </a:endParaRPr>
          </a:p>
          <a:p>
            <a:pPr indent="0" lvl="0" marL="457200" rtl="0" algn="l">
              <a:lnSpc>
                <a:spcPct val="115000"/>
              </a:lnSpc>
              <a:spcBef>
                <a:spcPts val="0"/>
              </a:spcBef>
              <a:spcAft>
                <a:spcPts val="0"/>
              </a:spcAft>
              <a:buNone/>
            </a:pPr>
            <a:r>
              <a:rPr lang="en">
                <a:solidFill>
                  <a:srgbClr val="E06666"/>
                </a:solidFill>
              </a:rPr>
              <a:t>Probe sample S₁ of size O(1/ɛ² · log( (|P| ℓ) / δ), </a:t>
            </a:r>
            <a:endParaRPr>
              <a:solidFill>
                <a:srgbClr val="E06666"/>
              </a:solidFill>
            </a:endParaRPr>
          </a:p>
          <a:p>
            <a:pPr indent="0" lvl="0" marL="457200" rtl="0" algn="l">
              <a:lnSpc>
                <a:spcPct val="115000"/>
              </a:lnSpc>
              <a:spcBef>
                <a:spcPts val="0"/>
              </a:spcBef>
              <a:spcAft>
                <a:spcPts val="0"/>
              </a:spcAft>
              <a:buNone/>
            </a:pPr>
            <a:r>
              <a:rPr lang="en">
                <a:solidFill>
                  <a:srgbClr val="E06666"/>
                </a:solidFill>
              </a:rPr>
              <a:t>where ℓ = log(n)</a:t>
            </a:r>
            <a:endParaRPr>
              <a:solidFill>
                <a:srgbClr val="E06666"/>
              </a:solidFill>
            </a:endParaRPr>
          </a:p>
          <a:p>
            <a:pPr indent="0" lvl="0" marL="457200" rtl="0" algn="l">
              <a:lnSpc>
                <a:spcPct val="115000"/>
              </a:lnSpc>
              <a:spcBef>
                <a:spcPts val="0"/>
              </a:spcBef>
              <a:spcAft>
                <a:spcPts val="0"/>
              </a:spcAft>
              <a:buNone/>
            </a:pPr>
            <a:r>
              <a:rPr lang="en">
                <a:solidFill>
                  <a:srgbClr val="F1C232"/>
                </a:solidFill>
              </a:rPr>
              <a:t>Use G₁ to find </a:t>
            </a:r>
            <a:r>
              <a:rPr lang="en">
                <a:solidFill>
                  <a:srgbClr val="F1C232"/>
                </a:solidFill>
              </a:rPr>
              <a:t>α, β</a:t>
            </a:r>
            <a:r>
              <a:rPr lang="en">
                <a:solidFill>
                  <a:srgbClr val="F1C232"/>
                </a:solidFill>
              </a:rPr>
              <a:t> → split </a:t>
            </a:r>
            <a:r>
              <a:rPr lang="en">
                <a:solidFill>
                  <a:srgbClr val="F1C232"/>
                </a:solidFill>
              </a:rPr>
              <a:t>P</a:t>
            </a:r>
            <a:r>
              <a:rPr baseline="-25000" lang="en">
                <a:solidFill>
                  <a:srgbClr val="F1C232"/>
                </a:solidFill>
              </a:rPr>
              <a:t>α</a:t>
            </a:r>
            <a:r>
              <a:rPr lang="en">
                <a:solidFill>
                  <a:srgbClr val="F1C232"/>
                </a:solidFill>
              </a:rPr>
              <a:t>, P</a:t>
            </a:r>
            <a:r>
              <a:rPr baseline="-25000" lang="en">
                <a:solidFill>
                  <a:srgbClr val="F1C232"/>
                </a:solidFill>
              </a:rPr>
              <a:t>mid</a:t>
            </a:r>
            <a:r>
              <a:rPr lang="en">
                <a:solidFill>
                  <a:srgbClr val="F1C232"/>
                </a:solidFill>
              </a:rPr>
              <a:t>, P</a:t>
            </a:r>
            <a:r>
              <a:rPr baseline="-25000" lang="en">
                <a:solidFill>
                  <a:srgbClr val="F1C232"/>
                </a:solidFill>
              </a:rPr>
              <a:t>rest</a:t>
            </a:r>
            <a:endParaRPr>
              <a:solidFill>
                <a:srgbClr val="F1C232"/>
              </a:solidFill>
            </a:endParaRPr>
          </a:p>
          <a:p>
            <a:pPr indent="0" lvl="0" marL="457200" rtl="0" algn="l">
              <a:lnSpc>
                <a:spcPct val="115000"/>
              </a:lnSpc>
              <a:spcBef>
                <a:spcPts val="0"/>
              </a:spcBef>
              <a:spcAft>
                <a:spcPts val="0"/>
              </a:spcAft>
              <a:buNone/>
            </a:pPr>
            <a:r>
              <a:rPr lang="en">
                <a:solidFill>
                  <a:srgbClr val="0B5394"/>
                </a:solidFill>
              </a:rPr>
              <a:t>if P</a:t>
            </a:r>
            <a:r>
              <a:rPr baseline="-25000" lang="en">
                <a:solidFill>
                  <a:srgbClr val="0B5394"/>
                </a:solidFill>
              </a:rPr>
              <a:t>rest</a:t>
            </a:r>
            <a:r>
              <a:rPr lang="en">
                <a:solidFill>
                  <a:srgbClr val="0B5394"/>
                </a:solidFill>
              </a:rPr>
              <a:t> ≠ ∅:</a:t>
            </a:r>
            <a:endParaRPr>
              <a:solidFill>
                <a:srgbClr val="0B5394"/>
              </a:solidFill>
            </a:endParaRPr>
          </a:p>
          <a:p>
            <a:pPr indent="0" lvl="0" marL="914400" rtl="0" algn="l">
              <a:lnSpc>
                <a:spcPct val="115000"/>
              </a:lnSpc>
              <a:spcBef>
                <a:spcPts val="0"/>
              </a:spcBef>
              <a:spcAft>
                <a:spcPts val="0"/>
              </a:spcAft>
              <a:buNone/>
            </a:pPr>
            <a:r>
              <a:rPr lang="en">
                <a:solidFill>
                  <a:srgbClr val="0B5394"/>
                </a:solidFill>
              </a:rPr>
              <a:t>Probe S₂ from P</a:t>
            </a:r>
            <a:r>
              <a:rPr baseline="-25000" lang="en">
                <a:solidFill>
                  <a:srgbClr val="0B5394"/>
                </a:solidFill>
              </a:rPr>
              <a:t>rest</a:t>
            </a:r>
            <a:r>
              <a:rPr lang="en">
                <a:solidFill>
                  <a:srgbClr val="0B5394"/>
                </a:solidFill>
              </a:rPr>
              <a:t>; add to Z with weight |P</a:t>
            </a:r>
            <a:r>
              <a:rPr baseline="-25000" lang="en">
                <a:solidFill>
                  <a:srgbClr val="0B5394"/>
                </a:solidFill>
              </a:rPr>
              <a:t>rest</a:t>
            </a:r>
            <a:r>
              <a:rPr lang="en">
                <a:solidFill>
                  <a:srgbClr val="0B5394"/>
                </a:solidFill>
              </a:rPr>
              <a:t>| / |S₂|</a:t>
            </a:r>
            <a:endParaRPr>
              <a:solidFill>
                <a:srgbClr val="0B5394"/>
              </a:solidFill>
            </a:endParaRPr>
          </a:p>
          <a:p>
            <a:pPr indent="0" lvl="0" marL="457200" rtl="0" algn="l">
              <a:lnSpc>
                <a:spcPct val="115000"/>
              </a:lnSpc>
              <a:spcBef>
                <a:spcPts val="0"/>
              </a:spcBef>
              <a:spcAft>
                <a:spcPts val="0"/>
              </a:spcAft>
              <a:buNone/>
            </a:pPr>
            <a:r>
              <a:rPr lang="en">
                <a:solidFill>
                  <a:srgbClr val="0B5394"/>
                </a:solidFill>
              </a:rPr>
              <a:t>if P</a:t>
            </a:r>
            <a:r>
              <a:rPr baseline="-25000" lang="en">
                <a:solidFill>
                  <a:srgbClr val="0B5394"/>
                </a:solidFill>
              </a:rPr>
              <a:t>α</a:t>
            </a:r>
            <a:r>
              <a:rPr lang="en">
                <a:solidFill>
                  <a:srgbClr val="0B5394"/>
                </a:solidFill>
              </a:rPr>
              <a:t> ≠ ∅:</a:t>
            </a:r>
            <a:endParaRPr>
              <a:solidFill>
                <a:srgbClr val="0B5394"/>
              </a:solidFill>
            </a:endParaRPr>
          </a:p>
          <a:p>
            <a:pPr indent="0" lvl="0" marL="914400" rtl="0" algn="l">
              <a:lnSpc>
                <a:spcPct val="115000"/>
              </a:lnSpc>
              <a:spcBef>
                <a:spcPts val="0"/>
              </a:spcBef>
              <a:spcAft>
                <a:spcPts val="0"/>
              </a:spcAft>
              <a:buNone/>
            </a:pPr>
            <a:r>
              <a:rPr lang="en">
                <a:solidFill>
                  <a:srgbClr val="0B5394"/>
                </a:solidFill>
              </a:rPr>
              <a:t>Probe S</a:t>
            </a:r>
            <a:r>
              <a:rPr baseline="-25000" lang="en">
                <a:solidFill>
                  <a:srgbClr val="0B5394"/>
                </a:solidFill>
              </a:rPr>
              <a:t>α</a:t>
            </a:r>
            <a:r>
              <a:rPr lang="en">
                <a:solidFill>
                  <a:srgbClr val="0B5394"/>
                </a:solidFill>
              </a:rPr>
              <a:t> from P</a:t>
            </a:r>
            <a:r>
              <a:rPr baseline="-25000" lang="en">
                <a:solidFill>
                  <a:srgbClr val="0B5394"/>
                </a:solidFill>
              </a:rPr>
              <a:t>α</a:t>
            </a:r>
            <a:r>
              <a:rPr lang="en">
                <a:solidFill>
                  <a:srgbClr val="0B5394"/>
                </a:solidFill>
              </a:rPr>
              <a:t>;  add to Z with weight |P</a:t>
            </a:r>
            <a:r>
              <a:rPr baseline="-25000" lang="en">
                <a:solidFill>
                  <a:srgbClr val="0B5394"/>
                </a:solidFill>
              </a:rPr>
              <a:t>α</a:t>
            </a:r>
            <a:r>
              <a:rPr lang="en">
                <a:solidFill>
                  <a:srgbClr val="0B5394"/>
                </a:solidFill>
              </a:rPr>
              <a:t>| / |S</a:t>
            </a:r>
            <a:r>
              <a:rPr baseline="-25000" lang="en">
                <a:solidFill>
                  <a:srgbClr val="0B5394"/>
                </a:solidFill>
              </a:rPr>
              <a:t>α</a:t>
            </a:r>
            <a:r>
              <a:rPr lang="en">
                <a:solidFill>
                  <a:srgbClr val="0B5394"/>
                </a:solidFill>
              </a:rPr>
              <a:t>|</a:t>
            </a:r>
            <a:endParaRPr>
              <a:solidFill>
                <a:srgbClr val="0B5394"/>
              </a:solidFill>
            </a:endParaRPr>
          </a:p>
          <a:p>
            <a:pPr indent="457200" lvl="0" marL="0" rtl="0" algn="l">
              <a:lnSpc>
                <a:spcPct val="115000"/>
              </a:lnSpc>
              <a:spcBef>
                <a:spcPts val="0"/>
              </a:spcBef>
              <a:spcAft>
                <a:spcPts val="0"/>
              </a:spcAft>
              <a:buNone/>
            </a:pPr>
            <a:r>
              <a:rPr lang="en">
                <a:solidFill>
                  <a:srgbClr val="6AA84F"/>
                </a:solidFill>
              </a:rPr>
              <a:t>Z</a:t>
            </a:r>
            <a:r>
              <a:rPr baseline="-25000" lang="en">
                <a:solidFill>
                  <a:srgbClr val="6AA84F"/>
                </a:solidFill>
              </a:rPr>
              <a:t>mid</a:t>
            </a:r>
            <a:r>
              <a:rPr lang="en">
                <a:solidFill>
                  <a:srgbClr val="6AA84F"/>
                </a:solidFill>
              </a:rPr>
              <a:t> ← BuildCoreset(P</a:t>
            </a:r>
            <a:r>
              <a:rPr baseline="-25000" lang="en">
                <a:solidFill>
                  <a:srgbClr val="6AA84F"/>
                </a:solidFill>
              </a:rPr>
              <a:t>mid</a:t>
            </a:r>
            <a:r>
              <a:rPr lang="en">
                <a:solidFill>
                  <a:srgbClr val="6AA84F"/>
                </a:solidFill>
              </a:rPr>
              <a:t>)</a:t>
            </a:r>
            <a:endParaRPr>
              <a:solidFill>
                <a:srgbClr val="6AA84F"/>
              </a:solidFill>
            </a:endParaRPr>
          </a:p>
          <a:p>
            <a:pPr indent="0" lvl="0" marL="457200" rtl="0" algn="l">
              <a:lnSpc>
                <a:spcPct val="115000"/>
              </a:lnSpc>
              <a:spcBef>
                <a:spcPts val="0"/>
              </a:spcBef>
              <a:spcAft>
                <a:spcPts val="0"/>
              </a:spcAft>
              <a:buNone/>
            </a:pPr>
            <a:r>
              <a:rPr lang="en">
                <a:solidFill>
                  <a:srgbClr val="6AA84F"/>
                </a:solidFill>
              </a:rPr>
              <a:t>Add Z</a:t>
            </a:r>
            <a:r>
              <a:rPr baseline="-25000" lang="en">
                <a:solidFill>
                  <a:srgbClr val="6AA84F"/>
                </a:solidFill>
              </a:rPr>
              <a:t>mid</a:t>
            </a:r>
            <a:r>
              <a:rPr lang="en">
                <a:solidFill>
                  <a:srgbClr val="6AA84F"/>
                </a:solidFill>
              </a:rPr>
              <a:t> to Z</a:t>
            </a:r>
            <a:endParaRPr>
              <a:solidFill>
                <a:srgbClr val="6AA84F"/>
              </a:solidFill>
            </a:endParaRPr>
          </a:p>
          <a:p>
            <a:pPr indent="0" lvl="0" marL="0" rtl="0" algn="l">
              <a:lnSpc>
                <a:spcPct val="115000"/>
              </a:lnSpc>
              <a:spcBef>
                <a:spcPts val="0"/>
              </a:spcBef>
              <a:spcAft>
                <a:spcPts val="0"/>
              </a:spcAft>
              <a:buNone/>
            </a:pPr>
            <a:r>
              <a:rPr lang="en">
                <a:solidFill>
                  <a:schemeClr val="dk1"/>
                </a:solidFill>
              </a:rPr>
              <a:t>Return Z</a:t>
            </a:r>
            <a:endParaRPr>
              <a:solidFill>
                <a:schemeClr val="dk1"/>
              </a:solidFill>
            </a:endParaRPr>
          </a:p>
        </p:txBody>
      </p:sp>
      <p:sp>
        <p:nvSpPr>
          <p:cNvPr id="1151" name="Google Shape;1151;p82"/>
          <p:cNvSpPr/>
          <p:nvPr/>
        </p:nvSpPr>
        <p:spPr>
          <a:xfrm>
            <a:off x="5713188" y="404125"/>
            <a:ext cx="2997300" cy="911100"/>
          </a:xfrm>
          <a:prstGeom prst="roundRect">
            <a:avLst>
              <a:gd fmla="val 11910" name="adj"/>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990000"/>
                </a:solidFill>
              </a:rPr>
              <a:t>Sample &amp; Estimate</a:t>
            </a:r>
            <a:endParaRPr baseline="-25000" sz="1000">
              <a:solidFill>
                <a:schemeClr val="dk1"/>
              </a:solidFill>
            </a:endParaRPr>
          </a:p>
        </p:txBody>
      </p:sp>
      <p:sp>
        <p:nvSpPr>
          <p:cNvPr id="1152" name="Google Shape;1152;p82"/>
          <p:cNvSpPr/>
          <p:nvPr/>
        </p:nvSpPr>
        <p:spPr>
          <a:xfrm>
            <a:off x="5713175" y="1558513"/>
            <a:ext cx="2997300" cy="911100"/>
          </a:xfrm>
          <a:prstGeom prst="roundRect">
            <a:avLst>
              <a:gd fmla="val 11326"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BF9000"/>
                </a:solidFill>
              </a:rPr>
              <a:t>Split into Three Parts</a:t>
            </a:r>
            <a:endParaRPr sz="1000">
              <a:solidFill>
                <a:schemeClr val="dk1"/>
              </a:solidFill>
            </a:endParaRPr>
          </a:p>
        </p:txBody>
      </p:sp>
      <p:sp>
        <p:nvSpPr>
          <p:cNvPr id="1153" name="Google Shape;1153;p82"/>
          <p:cNvSpPr/>
          <p:nvPr/>
        </p:nvSpPr>
        <p:spPr>
          <a:xfrm>
            <a:off x="5713188" y="2712900"/>
            <a:ext cx="2997300" cy="891600"/>
          </a:xfrm>
          <a:prstGeom prst="roundRect">
            <a:avLst>
              <a:gd fmla="val 10737" name="adj"/>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0B5394"/>
                </a:solidFill>
              </a:rPr>
              <a:t>Assemble the Coreset</a:t>
            </a:r>
            <a:endParaRPr sz="1000">
              <a:solidFill>
                <a:schemeClr val="dk1"/>
              </a:solidFill>
            </a:endParaRPr>
          </a:p>
        </p:txBody>
      </p:sp>
      <p:sp>
        <p:nvSpPr>
          <p:cNvPr id="1154" name="Google Shape;1154;p82"/>
          <p:cNvSpPr/>
          <p:nvPr/>
        </p:nvSpPr>
        <p:spPr>
          <a:xfrm>
            <a:off x="5713188" y="3847775"/>
            <a:ext cx="2997300" cy="8916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38761D"/>
                </a:solidFill>
              </a:rPr>
              <a:t>Recursion</a:t>
            </a:r>
            <a:endParaRPr sz="1000">
              <a:solidFill>
                <a:srgbClr val="38761D"/>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83"/>
          <p:cNvSpPr/>
          <p:nvPr/>
        </p:nvSpPr>
        <p:spPr>
          <a:xfrm>
            <a:off x="2234400" y="3880050"/>
            <a:ext cx="4675200" cy="5280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38761D"/>
                </a:solidFill>
              </a:rPr>
              <a:t>F(h) = G₂(h) + F</a:t>
            </a:r>
            <a:r>
              <a:rPr baseline="-25000" lang="en" sz="2000">
                <a:solidFill>
                  <a:srgbClr val="38761D"/>
                </a:solidFill>
              </a:rPr>
              <a:t>α</a:t>
            </a:r>
            <a:r>
              <a:rPr lang="en" sz="2000">
                <a:solidFill>
                  <a:srgbClr val="38761D"/>
                </a:solidFill>
              </a:rPr>
              <a:t>(h) + F</a:t>
            </a:r>
            <a:r>
              <a:rPr baseline="-25000" lang="en" sz="2000">
                <a:solidFill>
                  <a:srgbClr val="38761D"/>
                </a:solidFill>
              </a:rPr>
              <a:t>mid</a:t>
            </a:r>
            <a:r>
              <a:rPr lang="en" sz="2000">
                <a:solidFill>
                  <a:srgbClr val="38761D"/>
                </a:solidFill>
              </a:rPr>
              <a:t>(h)</a:t>
            </a:r>
            <a:endParaRPr sz="2000">
              <a:solidFill>
                <a:srgbClr val="38761D"/>
              </a:solidFill>
            </a:endParaRPr>
          </a:p>
        </p:txBody>
      </p:sp>
      <p:sp>
        <p:nvSpPr>
          <p:cNvPr id="1160" name="Google Shape;1160;p83"/>
          <p:cNvSpPr txBox="1"/>
          <p:nvPr>
            <p:ph type="title"/>
          </p:nvPr>
        </p:nvSpPr>
        <p:spPr>
          <a:xfrm>
            <a:off x="2022013" y="292275"/>
            <a:ext cx="51000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a:t>Step 1: Sampling &amp; Estimation</a:t>
            </a:r>
            <a:endParaRPr/>
          </a:p>
        </p:txBody>
      </p:sp>
      <p:sp>
        <p:nvSpPr>
          <p:cNvPr id="1161" name="Google Shape;1161;p83"/>
          <p:cNvSpPr/>
          <p:nvPr/>
        </p:nvSpPr>
        <p:spPr>
          <a:xfrm>
            <a:off x="218738" y="1497450"/>
            <a:ext cx="2705100" cy="21486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990000"/>
                </a:solidFill>
              </a:rPr>
              <a:t>G₁ </a:t>
            </a:r>
            <a:endParaRPr sz="1500">
              <a:solidFill>
                <a:srgbClr val="990000"/>
              </a:solidFill>
            </a:endParaRPr>
          </a:p>
          <a:p>
            <a:pPr indent="0" lvl="0" marL="0" rtl="0" algn="l">
              <a:lnSpc>
                <a:spcPct val="115000"/>
              </a:lnSpc>
              <a:spcBef>
                <a:spcPts val="0"/>
              </a:spcBef>
              <a:spcAft>
                <a:spcPts val="0"/>
              </a:spcAft>
              <a:buNone/>
            </a:pPr>
            <a:r>
              <a:rPr b="1" lang="en" sz="1300">
                <a:solidFill>
                  <a:schemeClr val="dk1"/>
                </a:solidFill>
              </a:rPr>
              <a:t>Source:</a:t>
            </a:r>
            <a:r>
              <a:rPr lang="en" sz="1300">
                <a:solidFill>
                  <a:schemeClr val="dk1"/>
                </a:solidFill>
              </a:rPr>
              <a:t> Full P</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a:solidFill>
                  <a:schemeClr val="dk1"/>
                </a:solidFill>
              </a:rPr>
              <a:t>Locates split points α and β</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u="sng">
                <a:solidFill>
                  <a:schemeClr val="dk1"/>
                </a:solidFill>
              </a:rPr>
              <a:t>Does NOT enter coreset</a:t>
            </a:r>
            <a:endParaRPr sz="1500" u="sng">
              <a:solidFill>
                <a:srgbClr val="990000"/>
              </a:solidFill>
            </a:endParaRPr>
          </a:p>
        </p:txBody>
      </p:sp>
      <p:sp>
        <p:nvSpPr>
          <p:cNvPr id="1162" name="Google Shape;1162;p83"/>
          <p:cNvSpPr/>
          <p:nvPr/>
        </p:nvSpPr>
        <p:spPr>
          <a:xfrm>
            <a:off x="3219450" y="1497450"/>
            <a:ext cx="2705100" cy="21486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F1C232"/>
                </a:solidFill>
              </a:rPr>
              <a:t>G</a:t>
            </a:r>
            <a:r>
              <a:rPr b="1" baseline="-25000" lang="en" sz="2000">
                <a:solidFill>
                  <a:srgbClr val="F1C232"/>
                </a:solidFill>
              </a:rPr>
              <a:t>2</a:t>
            </a:r>
            <a:r>
              <a:rPr lang="en" sz="1500">
                <a:solidFill>
                  <a:srgbClr val="F1C232"/>
                </a:solidFill>
              </a:rPr>
              <a:t> </a:t>
            </a:r>
            <a:endParaRPr sz="1500">
              <a:solidFill>
                <a:srgbClr val="F1C232"/>
              </a:solidFill>
            </a:endParaRPr>
          </a:p>
          <a:p>
            <a:pPr indent="0" lvl="0" marL="0" rtl="0" algn="l">
              <a:lnSpc>
                <a:spcPct val="115000"/>
              </a:lnSpc>
              <a:spcBef>
                <a:spcPts val="0"/>
              </a:spcBef>
              <a:spcAft>
                <a:spcPts val="0"/>
              </a:spcAft>
              <a:buNone/>
            </a:pPr>
            <a:r>
              <a:rPr b="1" lang="en" sz="1300">
                <a:solidFill>
                  <a:schemeClr val="dk1"/>
                </a:solidFill>
              </a:rPr>
              <a:t>Source:</a:t>
            </a:r>
            <a:r>
              <a:rPr lang="en" sz="1300">
                <a:solidFill>
                  <a:schemeClr val="dk1"/>
                </a:solidFill>
              </a:rPr>
              <a:t> </a:t>
            </a:r>
            <a:r>
              <a:rPr lang="en">
                <a:solidFill>
                  <a:schemeClr val="dk1"/>
                </a:solidFill>
              </a:rPr>
              <a:t>P</a:t>
            </a:r>
            <a:r>
              <a:rPr baseline="-25000" lang="en">
                <a:solidFill>
                  <a:schemeClr val="dk1"/>
                </a:solidFill>
              </a:rPr>
              <a:t>rest</a:t>
            </a:r>
            <a:br>
              <a:rPr lang="en" sz="1300">
                <a:solidFill>
                  <a:schemeClr val="dk1"/>
                </a:solidFill>
              </a:rPr>
            </a:br>
            <a:br>
              <a:rPr lang="en" sz="1300">
                <a:solidFill>
                  <a:schemeClr val="dk1"/>
                </a:solidFill>
              </a:rPr>
            </a:br>
            <a:r>
              <a:rPr lang="en" sz="1300">
                <a:solidFill>
                  <a:schemeClr val="dk1"/>
                </a:solidFill>
              </a:rPr>
              <a:t>Approximates err</a:t>
            </a:r>
            <a:r>
              <a:rPr lang="en">
                <a:solidFill>
                  <a:schemeClr val="dk1"/>
                </a:solidFill>
              </a:rPr>
              <a:t>P</a:t>
            </a:r>
            <a:r>
              <a:rPr baseline="-25000" lang="en">
                <a:solidFill>
                  <a:schemeClr val="dk1"/>
                </a:solidFill>
              </a:rPr>
              <a:t>rest</a:t>
            </a:r>
            <a:r>
              <a:rPr lang="en" sz="1300">
                <a:solidFill>
                  <a:schemeClr val="dk1"/>
                </a:solidFill>
              </a:rPr>
              <a:t>(h)</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a:solidFill>
                  <a:schemeClr val="dk1"/>
                </a:solidFill>
              </a:rPr>
              <a:t>Sample S₂</a:t>
            </a:r>
            <a:r>
              <a:rPr lang="en" sz="1300">
                <a:solidFill>
                  <a:schemeClr val="dk1"/>
                </a:solidFill>
              </a:rPr>
              <a:t> </a:t>
            </a:r>
            <a:r>
              <a:rPr lang="en" sz="1300">
                <a:solidFill>
                  <a:schemeClr val="dk1"/>
                </a:solidFill>
              </a:rPr>
              <a:t>enters Z with weight |</a:t>
            </a:r>
            <a:r>
              <a:rPr lang="en">
                <a:solidFill>
                  <a:schemeClr val="dk1"/>
                </a:solidFill>
              </a:rPr>
              <a:t>P</a:t>
            </a:r>
            <a:r>
              <a:rPr baseline="-25000" lang="en">
                <a:solidFill>
                  <a:schemeClr val="dk1"/>
                </a:solidFill>
              </a:rPr>
              <a:t>rest</a:t>
            </a:r>
            <a:r>
              <a:rPr lang="en" sz="1300">
                <a:solidFill>
                  <a:schemeClr val="dk1"/>
                </a:solidFill>
              </a:rPr>
              <a:t>| / |S₂|</a:t>
            </a:r>
            <a:endParaRPr sz="1500">
              <a:solidFill>
                <a:srgbClr val="F1C232"/>
              </a:solidFill>
            </a:endParaRPr>
          </a:p>
        </p:txBody>
      </p:sp>
      <p:sp>
        <p:nvSpPr>
          <p:cNvPr id="1163" name="Google Shape;1163;p83"/>
          <p:cNvSpPr/>
          <p:nvPr/>
        </p:nvSpPr>
        <p:spPr>
          <a:xfrm>
            <a:off x="6220163" y="1497450"/>
            <a:ext cx="2705100" cy="2148600"/>
          </a:xfrm>
          <a:prstGeom prst="roundRect">
            <a:avLst>
              <a:gd fmla="val 10737"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3D85C6"/>
                </a:solidFill>
              </a:rPr>
              <a:t>F</a:t>
            </a:r>
            <a:r>
              <a:rPr b="1" baseline="-25000" lang="en" sz="2000">
                <a:solidFill>
                  <a:srgbClr val="3D85C6"/>
                </a:solidFill>
              </a:rPr>
              <a:t>α</a:t>
            </a:r>
            <a:r>
              <a:rPr lang="en" sz="1500">
                <a:solidFill>
                  <a:srgbClr val="3D85C6"/>
                </a:solidFill>
              </a:rPr>
              <a:t> </a:t>
            </a:r>
            <a:endParaRPr sz="1500">
              <a:solidFill>
                <a:srgbClr val="3D85C6"/>
              </a:solidFill>
            </a:endParaRPr>
          </a:p>
          <a:p>
            <a:pPr indent="0" lvl="0" marL="0" rtl="0" algn="l">
              <a:lnSpc>
                <a:spcPct val="115000"/>
              </a:lnSpc>
              <a:spcBef>
                <a:spcPts val="0"/>
              </a:spcBef>
              <a:spcAft>
                <a:spcPts val="0"/>
              </a:spcAft>
              <a:buNone/>
            </a:pPr>
            <a:r>
              <a:rPr b="1" lang="en" sz="1300"/>
              <a:t>Source:</a:t>
            </a:r>
            <a:r>
              <a:rPr lang="en" sz="1300"/>
              <a:t> </a:t>
            </a:r>
            <a:r>
              <a:rPr lang="en" sz="1300"/>
              <a:t>P</a:t>
            </a:r>
            <a:r>
              <a:rPr baseline="-25000" lang="en" sz="1300"/>
              <a:t>α</a:t>
            </a:r>
            <a:endParaRPr sz="1300"/>
          </a:p>
          <a:p>
            <a:pPr indent="0" lvl="0" marL="0" rtl="0" algn="ctr">
              <a:lnSpc>
                <a:spcPct val="115000"/>
              </a:lnSpc>
              <a:spcBef>
                <a:spcPts val="0"/>
              </a:spcBef>
              <a:spcAft>
                <a:spcPts val="0"/>
              </a:spcAft>
              <a:buNone/>
            </a:pPr>
            <a:r>
              <a:t/>
            </a:r>
            <a:endParaRPr sz="1300"/>
          </a:p>
          <a:p>
            <a:pPr indent="0" lvl="0" marL="0" rtl="0" algn="l">
              <a:lnSpc>
                <a:spcPct val="115000"/>
              </a:lnSpc>
              <a:spcBef>
                <a:spcPts val="0"/>
              </a:spcBef>
              <a:spcAft>
                <a:spcPts val="0"/>
              </a:spcAft>
              <a:buNone/>
            </a:pPr>
            <a:r>
              <a:rPr lang="en" sz="1300"/>
              <a:t>Approximates errP</a:t>
            </a:r>
            <a:r>
              <a:rPr baseline="-25000" lang="en" sz="1300"/>
              <a:t>α</a:t>
            </a:r>
            <a:r>
              <a:rPr lang="en" sz="1300"/>
              <a:t>(h)</a:t>
            </a:r>
            <a:endParaRPr sz="1300"/>
          </a:p>
          <a:p>
            <a:pPr indent="0" lvl="0" marL="0" rtl="0" algn="l">
              <a:lnSpc>
                <a:spcPct val="115000"/>
              </a:lnSpc>
              <a:spcBef>
                <a:spcPts val="0"/>
              </a:spcBef>
              <a:spcAft>
                <a:spcPts val="0"/>
              </a:spcAft>
              <a:buNone/>
            </a:pPr>
            <a:r>
              <a:t/>
            </a:r>
            <a:endParaRPr sz="1300"/>
          </a:p>
          <a:p>
            <a:pPr indent="0" lvl="0" marL="0" rtl="0" algn="l">
              <a:lnSpc>
                <a:spcPct val="115000"/>
              </a:lnSpc>
              <a:spcBef>
                <a:spcPts val="0"/>
              </a:spcBef>
              <a:spcAft>
                <a:spcPts val="0"/>
              </a:spcAft>
              <a:buClr>
                <a:schemeClr val="dk1"/>
              </a:buClr>
              <a:buSzPts val="1100"/>
              <a:buFont typeface="Arial"/>
              <a:buNone/>
            </a:pPr>
            <a:r>
              <a:rPr lang="en" sz="1300"/>
              <a:t>Sample S</a:t>
            </a:r>
            <a:r>
              <a:rPr baseline="-25000" lang="en" sz="1300"/>
              <a:t>α</a:t>
            </a:r>
            <a:r>
              <a:rPr lang="en" sz="1300"/>
              <a:t> enters Z with weight |P</a:t>
            </a:r>
            <a:r>
              <a:rPr baseline="-25000" lang="en" sz="1300"/>
              <a:t>α</a:t>
            </a:r>
            <a:r>
              <a:rPr lang="en" sz="1300"/>
              <a:t>| / |S</a:t>
            </a:r>
            <a:r>
              <a:rPr baseline="-25000" lang="en" sz="1300"/>
              <a:t>α</a:t>
            </a:r>
            <a:r>
              <a:rPr lang="en" sz="1300"/>
              <a:t>|</a:t>
            </a:r>
            <a:endParaRPr sz="1300">
              <a:solidFill>
                <a:srgbClr val="3D85C6"/>
              </a:solidFill>
            </a:endParaRPr>
          </a:p>
          <a:p>
            <a:pPr indent="0" lvl="0" marL="0" rtl="0" algn="ctr">
              <a:lnSpc>
                <a:spcPct val="115000"/>
              </a:lnSpc>
              <a:spcBef>
                <a:spcPts val="0"/>
              </a:spcBef>
              <a:spcAft>
                <a:spcPts val="0"/>
              </a:spcAft>
              <a:buNone/>
            </a:pPr>
            <a:r>
              <a:t/>
            </a:r>
            <a:endParaRPr sz="1500">
              <a:solidFill>
                <a:srgbClr val="3D85C6"/>
              </a:solidFill>
            </a:endParaRPr>
          </a:p>
        </p:txBody>
      </p:sp>
      <p:sp>
        <p:nvSpPr>
          <p:cNvPr id="1164" name="Google Shape;1164;p83"/>
          <p:cNvSpPr txBox="1"/>
          <p:nvPr/>
        </p:nvSpPr>
        <p:spPr>
          <a:xfrm>
            <a:off x="2234425" y="4408050"/>
            <a:ext cx="46752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dk1"/>
                </a:solidFill>
              </a:rPr>
              <a:t>F</a:t>
            </a:r>
            <a:r>
              <a:rPr baseline="-25000" lang="en" sz="1200">
                <a:solidFill>
                  <a:schemeClr val="dk1"/>
                </a:solidFill>
              </a:rPr>
              <a:t>mid</a:t>
            </a:r>
            <a:r>
              <a:rPr lang="en" sz="1200">
                <a:solidFill>
                  <a:schemeClr val="dk1"/>
                </a:solidFill>
              </a:rPr>
              <a:t> comes from recursion on </a:t>
            </a:r>
            <a:r>
              <a:rPr lang="en" sz="1200">
                <a:solidFill>
                  <a:schemeClr val="dk1"/>
                </a:solidFill>
              </a:rPr>
              <a:t>P</a:t>
            </a:r>
            <a:r>
              <a:rPr baseline="-25000" lang="en" sz="1200">
                <a:solidFill>
                  <a:schemeClr val="dk1"/>
                </a:solidFill>
              </a:rPr>
              <a:t>mid</a:t>
            </a:r>
            <a:endParaRPr sz="1200">
              <a:solidFill>
                <a:schemeClr val="dk1"/>
              </a:solidFill>
            </a:endParaRPr>
          </a:p>
          <a:p>
            <a:pPr indent="0" lvl="0" marL="0" rtl="0" algn="ctr">
              <a:lnSpc>
                <a:spcPct val="115000"/>
              </a:lnSpc>
              <a:spcBef>
                <a:spcPts val="0"/>
              </a:spcBef>
              <a:spcAft>
                <a:spcPts val="0"/>
              </a:spcAft>
              <a:buNone/>
            </a:pPr>
            <a:r>
              <a:rPr lang="en" sz="1200">
                <a:solidFill>
                  <a:schemeClr val="dk1"/>
                </a:solidFill>
              </a:rPr>
              <a:t>If α = β= null, then F</a:t>
            </a:r>
            <a:r>
              <a:rPr baseline="-25000" lang="en" sz="1200">
                <a:solidFill>
                  <a:schemeClr val="dk1"/>
                </a:solidFill>
              </a:rPr>
              <a:t>α</a:t>
            </a:r>
            <a:r>
              <a:rPr lang="en" sz="1200">
                <a:solidFill>
                  <a:schemeClr val="dk1"/>
                </a:solidFill>
              </a:rPr>
              <a:t>(h) = F</a:t>
            </a:r>
            <a:r>
              <a:rPr baseline="-25000" lang="en" sz="1200">
                <a:solidFill>
                  <a:schemeClr val="dk1"/>
                </a:solidFill>
              </a:rPr>
              <a:t>mid</a:t>
            </a:r>
            <a:r>
              <a:rPr lang="en" sz="1200">
                <a:solidFill>
                  <a:schemeClr val="dk1"/>
                </a:solidFill>
              </a:rPr>
              <a:t>(h) = 0, leaving F(h) = G</a:t>
            </a:r>
            <a:r>
              <a:rPr baseline="-25000" lang="en" sz="1200">
                <a:solidFill>
                  <a:schemeClr val="dk1"/>
                </a:solidFill>
              </a:rPr>
              <a:t>2</a:t>
            </a:r>
            <a:r>
              <a:rPr lang="en" sz="1200">
                <a:solidFill>
                  <a:schemeClr val="dk1"/>
                </a:solidFill>
              </a:rPr>
              <a:t>(h).</a:t>
            </a:r>
            <a:endParaRPr sz="1200">
              <a:solidFill>
                <a:schemeClr val="dk1"/>
              </a:solidFill>
            </a:endParaRPr>
          </a:p>
        </p:txBody>
      </p:sp>
      <p:sp>
        <p:nvSpPr>
          <p:cNvPr id="1165" name="Google Shape;1165;p83"/>
          <p:cNvSpPr/>
          <p:nvPr/>
        </p:nvSpPr>
        <p:spPr>
          <a:xfrm>
            <a:off x="2333850" y="3987150"/>
            <a:ext cx="321600" cy="3138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6" name="Google Shape;1166;p83"/>
          <p:cNvSpPr txBox="1"/>
          <p:nvPr/>
        </p:nvSpPr>
        <p:spPr>
          <a:xfrm>
            <a:off x="2187600" y="747016"/>
            <a:ext cx="4768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chemeClr val="dk1"/>
                </a:solidFill>
              </a:rPr>
              <a:t>Draw uniform sample S from Q. </a:t>
            </a:r>
            <a:endParaRPr>
              <a:solidFill>
                <a:schemeClr val="dk1"/>
              </a:solidFill>
            </a:endParaRPr>
          </a:p>
          <a:p>
            <a:pPr indent="0" lvl="0" marL="0" rtl="0" algn="ctr">
              <a:lnSpc>
                <a:spcPct val="115000"/>
              </a:lnSpc>
              <a:spcBef>
                <a:spcPts val="0"/>
              </a:spcBef>
              <a:spcAft>
                <a:spcPts val="0"/>
              </a:spcAft>
              <a:buNone/>
            </a:pPr>
            <a:r>
              <a:rPr b="1" lang="en">
                <a:solidFill>
                  <a:schemeClr val="dk1"/>
                </a:solidFill>
              </a:rPr>
              <a:t>For each h in H</a:t>
            </a:r>
            <a:r>
              <a:rPr b="1" baseline="-25000" lang="en">
                <a:solidFill>
                  <a:schemeClr val="dk1"/>
                </a:solidFill>
              </a:rPr>
              <a:t>mon,</a:t>
            </a:r>
            <a:r>
              <a:rPr baseline="-25000" lang="en">
                <a:solidFill>
                  <a:schemeClr val="dk1"/>
                </a:solidFill>
              </a:rPr>
              <a:t> </a:t>
            </a:r>
            <a:r>
              <a:rPr lang="en">
                <a:solidFill>
                  <a:schemeClr val="dk1"/>
                </a:solidFill>
              </a:rPr>
              <a:t>we define </a:t>
            </a:r>
            <a:r>
              <a:rPr lang="en">
                <a:solidFill>
                  <a:schemeClr val="dk1"/>
                </a:solidFill>
              </a:rPr>
              <a:t>G(h) = ( |Q| / |S| ) · err</a:t>
            </a:r>
            <a:r>
              <a:rPr baseline="-25000" lang="en">
                <a:solidFill>
                  <a:schemeClr val="dk1"/>
                </a:solidFill>
              </a:rPr>
              <a:t>S</a:t>
            </a:r>
            <a:r>
              <a:rPr lang="en">
                <a:solidFill>
                  <a:schemeClr val="dk1"/>
                </a:solidFill>
              </a:rPr>
              <a:t>(h).</a:t>
            </a:r>
            <a:endParaRPr>
              <a:solidFill>
                <a:schemeClr val="dk1"/>
              </a:solidFill>
            </a:endParaRPr>
          </a:p>
        </p:txBody>
      </p:sp>
      <p:sp>
        <p:nvSpPr>
          <p:cNvPr id="1167" name="Google Shape;1167;p83"/>
          <p:cNvSpPr txBox="1"/>
          <p:nvPr/>
        </p:nvSpPr>
        <p:spPr>
          <a:xfrm>
            <a:off x="1794000" y="4889475"/>
            <a:ext cx="62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84"/>
          <p:cNvSpPr/>
          <p:nvPr/>
        </p:nvSpPr>
        <p:spPr>
          <a:xfrm>
            <a:off x="2234400" y="3880050"/>
            <a:ext cx="4675200" cy="5280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38761D"/>
                </a:solidFill>
              </a:rPr>
              <a:t>F(h) = G₂(h) + F</a:t>
            </a:r>
            <a:r>
              <a:rPr baseline="-25000" lang="en" sz="2000">
                <a:solidFill>
                  <a:srgbClr val="38761D"/>
                </a:solidFill>
              </a:rPr>
              <a:t>α</a:t>
            </a:r>
            <a:r>
              <a:rPr lang="en" sz="2000">
                <a:solidFill>
                  <a:srgbClr val="38761D"/>
                </a:solidFill>
              </a:rPr>
              <a:t>(h) + F</a:t>
            </a:r>
            <a:r>
              <a:rPr baseline="-25000" lang="en" sz="2000">
                <a:solidFill>
                  <a:srgbClr val="38761D"/>
                </a:solidFill>
              </a:rPr>
              <a:t>mid</a:t>
            </a:r>
            <a:r>
              <a:rPr lang="en" sz="2000">
                <a:solidFill>
                  <a:srgbClr val="38761D"/>
                </a:solidFill>
              </a:rPr>
              <a:t>(h)</a:t>
            </a:r>
            <a:endParaRPr sz="2000">
              <a:solidFill>
                <a:srgbClr val="38761D"/>
              </a:solidFill>
            </a:endParaRPr>
          </a:p>
        </p:txBody>
      </p:sp>
      <p:sp>
        <p:nvSpPr>
          <p:cNvPr id="1173" name="Google Shape;1173;p84"/>
          <p:cNvSpPr txBox="1"/>
          <p:nvPr>
            <p:ph type="title"/>
          </p:nvPr>
        </p:nvSpPr>
        <p:spPr>
          <a:xfrm>
            <a:off x="2022013" y="292275"/>
            <a:ext cx="51000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a:t>Step 1: Sampling &amp; Estimation</a:t>
            </a:r>
            <a:endParaRPr/>
          </a:p>
        </p:txBody>
      </p:sp>
      <p:sp>
        <p:nvSpPr>
          <p:cNvPr id="1174" name="Google Shape;1174;p84"/>
          <p:cNvSpPr/>
          <p:nvPr/>
        </p:nvSpPr>
        <p:spPr>
          <a:xfrm>
            <a:off x="218738" y="1497450"/>
            <a:ext cx="2705100" cy="21486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990000"/>
                </a:solidFill>
              </a:rPr>
              <a:t>G₁ </a:t>
            </a:r>
            <a:endParaRPr sz="1500">
              <a:solidFill>
                <a:srgbClr val="990000"/>
              </a:solidFill>
            </a:endParaRPr>
          </a:p>
          <a:p>
            <a:pPr indent="0" lvl="0" marL="0" rtl="0" algn="l">
              <a:lnSpc>
                <a:spcPct val="115000"/>
              </a:lnSpc>
              <a:spcBef>
                <a:spcPts val="0"/>
              </a:spcBef>
              <a:spcAft>
                <a:spcPts val="0"/>
              </a:spcAft>
              <a:buNone/>
            </a:pPr>
            <a:r>
              <a:rPr b="1" lang="en" sz="1300">
                <a:solidFill>
                  <a:schemeClr val="dk1"/>
                </a:solidFill>
              </a:rPr>
              <a:t>Source:</a:t>
            </a:r>
            <a:r>
              <a:rPr lang="en" sz="1300">
                <a:solidFill>
                  <a:schemeClr val="dk1"/>
                </a:solidFill>
              </a:rPr>
              <a:t> Full P</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a:solidFill>
                  <a:schemeClr val="dk1"/>
                </a:solidFill>
              </a:rPr>
              <a:t>Locates split points α and β</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u="sng">
                <a:solidFill>
                  <a:schemeClr val="dk1"/>
                </a:solidFill>
              </a:rPr>
              <a:t>Does NOT enter coreset</a:t>
            </a:r>
            <a:endParaRPr sz="1500" u="sng">
              <a:solidFill>
                <a:srgbClr val="990000"/>
              </a:solidFill>
            </a:endParaRPr>
          </a:p>
        </p:txBody>
      </p:sp>
      <p:sp>
        <p:nvSpPr>
          <p:cNvPr id="1175" name="Google Shape;1175;p84"/>
          <p:cNvSpPr/>
          <p:nvPr/>
        </p:nvSpPr>
        <p:spPr>
          <a:xfrm>
            <a:off x="3219450" y="1497450"/>
            <a:ext cx="2705100" cy="21486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F1C232"/>
                </a:solidFill>
              </a:rPr>
              <a:t>G</a:t>
            </a:r>
            <a:r>
              <a:rPr b="1" baseline="-25000" lang="en" sz="2000">
                <a:solidFill>
                  <a:srgbClr val="F1C232"/>
                </a:solidFill>
              </a:rPr>
              <a:t>2</a:t>
            </a:r>
            <a:r>
              <a:rPr lang="en" sz="1500">
                <a:solidFill>
                  <a:srgbClr val="F1C232"/>
                </a:solidFill>
              </a:rPr>
              <a:t> </a:t>
            </a:r>
            <a:endParaRPr sz="1500">
              <a:solidFill>
                <a:srgbClr val="F1C232"/>
              </a:solidFill>
            </a:endParaRPr>
          </a:p>
          <a:p>
            <a:pPr indent="0" lvl="0" marL="0" rtl="0" algn="l">
              <a:lnSpc>
                <a:spcPct val="115000"/>
              </a:lnSpc>
              <a:spcBef>
                <a:spcPts val="0"/>
              </a:spcBef>
              <a:spcAft>
                <a:spcPts val="0"/>
              </a:spcAft>
              <a:buNone/>
            </a:pPr>
            <a:r>
              <a:rPr b="1" lang="en" sz="1300">
                <a:solidFill>
                  <a:schemeClr val="dk1"/>
                </a:solidFill>
              </a:rPr>
              <a:t>Source:</a:t>
            </a:r>
            <a:r>
              <a:rPr lang="en" sz="1300">
                <a:solidFill>
                  <a:schemeClr val="dk1"/>
                </a:solidFill>
              </a:rPr>
              <a:t> </a:t>
            </a:r>
            <a:r>
              <a:rPr lang="en">
                <a:solidFill>
                  <a:schemeClr val="dk1"/>
                </a:solidFill>
              </a:rPr>
              <a:t>P</a:t>
            </a:r>
            <a:r>
              <a:rPr baseline="-25000" lang="en">
                <a:solidFill>
                  <a:schemeClr val="dk1"/>
                </a:solidFill>
              </a:rPr>
              <a:t>rest</a:t>
            </a:r>
            <a:br>
              <a:rPr lang="en" sz="1300">
                <a:solidFill>
                  <a:schemeClr val="dk1"/>
                </a:solidFill>
              </a:rPr>
            </a:br>
            <a:br>
              <a:rPr lang="en" sz="1300">
                <a:solidFill>
                  <a:schemeClr val="dk1"/>
                </a:solidFill>
              </a:rPr>
            </a:br>
            <a:r>
              <a:rPr lang="en" sz="1300">
                <a:solidFill>
                  <a:schemeClr val="dk1"/>
                </a:solidFill>
              </a:rPr>
              <a:t>Approximates err</a:t>
            </a:r>
            <a:r>
              <a:rPr lang="en">
                <a:solidFill>
                  <a:schemeClr val="dk1"/>
                </a:solidFill>
              </a:rPr>
              <a:t>P</a:t>
            </a:r>
            <a:r>
              <a:rPr baseline="-25000" lang="en">
                <a:solidFill>
                  <a:schemeClr val="dk1"/>
                </a:solidFill>
              </a:rPr>
              <a:t>rest</a:t>
            </a:r>
            <a:r>
              <a:rPr lang="en" sz="1300">
                <a:solidFill>
                  <a:schemeClr val="dk1"/>
                </a:solidFill>
              </a:rPr>
              <a:t>(h)</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 sz="1300">
                <a:solidFill>
                  <a:schemeClr val="dk1"/>
                </a:solidFill>
              </a:rPr>
              <a:t>Sample S₂ enters Z with weight |</a:t>
            </a:r>
            <a:r>
              <a:rPr lang="en">
                <a:solidFill>
                  <a:schemeClr val="dk1"/>
                </a:solidFill>
              </a:rPr>
              <a:t>P</a:t>
            </a:r>
            <a:r>
              <a:rPr baseline="-25000" lang="en">
                <a:solidFill>
                  <a:schemeClr val="dk1"/>
                </a:solidFill>
              </a:rPr>
              <a:t>rest</a:t>
            </a:r>
            <a:r>
              <a:rPr lang="en" sz="1300">
                <a:solidFill>
                  <a:schemeClr val="dk1"/>
                </a:solidFill>
              </a:rPr>
              <a:t>| / |S₂|</a:t>
            </a:r>
            <a:endParaRPr sz="1500">
              <a:solidFill>
                <a:srgbClr val="F1C232"/>
              </a:solidFill>
            </a:endParaRPr>
          </a:p>
        </p:txBody>
      </p:sp>
      <p:sp>
        <p:nvSpPr>
          <p:cNvPr id="1176" name="Google Shape;1176;p84"/>
          <p:cNvSpPr/>
          <p:nvPr/>
        </p:nvSpPr>
        <p:spPr>
          <a:xfrm>
            <a:off x="6220163" y="1497450"/>
            <a:ext cx="2705100" cy="2148600"/>
          </a:xfrm>
          <a:prstGeom prst="roundRect">
            <a:avLst>
              <a:gd fmla="val 10737"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a:solidFill>
                  <a:srgbClr val="3D85C6"/>
                </a:solidFill>
              </a:rPr>
              <a:t>F</a:t>
            </a:r>
            <a:r>
              <a:rPr b="1" baseline="-25000" lang="en" sz="2000">
                <a:solidFill>
                  <a:srgbClr val="3D85C6"/>
                </a:solidFill>
              </a:rPr>
              <a:t>α</a:t>
            </a:r>
            <a:r>
              <a:rPr lang="en" sz="1500">
                <a:solidFill>
                  <a:srgbClr val="3D85C6"/>
                </a:solidFill>
              </a:rPr>
              <a:t> </a:t>
            </a:r>
            <a:endParaRPr sz="1500">
              <a:solidFill>
                <a:srgbClr val="3D85C6"/>
              </a:solidFill>
            </a:endParaRPr>
          </a:p>
          <a:p>
            <a:pPr indent="0" lvl="0" marL="0" rtl="0" algn="l">
              <a:lnSpc>
                <a:spcPct val="115000"/>
              </a:lnSpc>
              <a:spcBef>
                <a:spcPts val="0"/>
              </a:spcBef>
              <a:spcAft>
                <a:spcPts val="0"/>
              </a:spcAft>
              <a:buNone/>
            </a:pPr>
            <a:r>
              <a:rPr b="1" lang="en" sz="1300"/>
              <a:t>Source:</a:t>
            </a:r>
            <a:r>
              <a:rPr lang="en" sz="1300"/>
              <a:t> P</a:t>
            </a:r>
            <a:r>
              <a:rPr baseline="-25000" lang="en" sz="1300"/>
              <a:t>α</a:t>
            </a:r>
            <a:endParaRPr sz="1300"/>
          </a:p>
          <a:p>
            <a:pPr indent="0" lvl="0" marL="0" rtl="0" algn="ctr">
              <a:lnSpc>
                <a:spcPct val="115000"/>
              </a:lnSpc>
              <a:spcBef>
                <a:spcPts val="0"/>
              </a:spcBef>
              <a:spcAft>
                <a:spcPts val="0"/>
              </a:spcAft>
              <a:buNone/>
            </a:pPr>
            <a:r>
              <a:t/>
            </a:r>
            <a:endParaRPr sz="1300"/>
          </a:p>
          <a:p>
            <a:pPr indent="0" lvl="0" marL="0" rtl="0" algn="l">
              <a:lnSpc>
                <a:spcPct val="115000"/>
              </a:lnSpc>
              <a:spcBef>
                <a:spcPts val="0"/>
              </a:spcBef>
              <a:spcAft>
                <a:spcPts val="0"/>
              </a:spcAft>
              <a:buNone/>
            </a:pPr>
            <a:r>
              <a:rPr lang="en" sz="1300"/>
              <a:t>Approximates errP</a:t>
            </a:r>
            <a:r>
              <a:rPr baseline="-25000" lang="en" sz="1300"/>
              <a:t>α</a:t>
            </a:r>
            <a:r>
              <a:rPr lang="en" sz="1300"/>
              <a:t>(h)</a:t>
            </a:r>
            <a:endParaRPr sz="1300"/>
          </a:p>
          <a:p>
            <a:pPr indent="0" lvl="0" marL="0" rtl="0" algn="l">
              <a:lnSpc>
                <a:spcPct val="115000"/>
              </a:lnSpc>
              <a:spcBef>
                <a:spcPts val="0"/>
              </a:spcBef>
              <a:spcAft>
                <a:spcPts val="0"/>
              </a:spcAft>
              <a:buNone/>
            </a:pPr>
            <a:r>
              <a:t/>
            </a:r>
            <a:endParaRPr sz="1300"/>
          </a:p>
          <a:p>
            <a:pPr indent="0" lvl="0" marL="0" rtl="0" algn="l">
              <a:lnSpc>
                <a:spcPct val="115000"/>
              </a:lnSpc>
              <a:spcBef>
                <a:spcPts val="0"/>
              </a:spcBef>
              <a:spcAft>
                <a:spcPts val="0"/>
              </a:spcAft>
              <a:buClr>
                <a:schemeClr val="dk1"/>
              </a:buClr>
              <a:buSzPts val="1100"/>
              <a:buFont typeface="Arial"/>
              <a:buNone/>
            </a:pPr>
            <a:r>
              <a:rPr lang="en" sz="1300"/>
              <a:t>Sample S</a:t>
            </a:r>
            <a:r>
              <a:rPr baseline="-25000" lang="en" sz="1300"/>
              <a:t>α</a:t>
            </a:r>
            <a:r>
              <a:rPr lang="en" sz="1300"/>
              <a:t> enters Z with weight |P</a:t>
            </a:r>
            <a:r>
              <a:rPr baseline="-25000" lang="en" sz="1300"/>
              <a:t>α</a:t>
            </a:r>
            <a:r>
              <a:rPr lang="en" sz="1300"/>
              <a:t>| / |S</a:t>
            </a:r>
            <a:r>
              <a:rPr baseline="-25000" lang="en" sz="1300"/>
              <a:t>α</a:t>
            </a:r>
            <a:r>
              <a:rPr lang="en" sz="1300"/>
              <a:t>|</a:t>
            </a:r>
            <a:endParaRPr sz="1300">
              <a:solidFill>
                <a:srgbClr val="3D85C6"/>
              </a:solidFill>
            </a:endParaRPr>
          </a:p>
          <a:p>
            <a:pPr indent="0" lvl="0" marL="0" rtl="0" algn="ctr">
              <a:lnSpc>
                <a:spcPct val="115000"/>
              </a:lnSpc>
              <a:spcBef>
                <a:spcPts val="0"/>
              </a:spcBef>
              <a:spcAft>
                <a:spcPts val="0"/>
              </a:spcAft>
              <a:buNone/>
            </a:pPr>
            <a:r>
              <a:t/>
            </a:r>
            <a:endParaRPr sz="1500">
              <a:solidFill>
                <a:srgbClr val="3D85C6"/>
              </a:solidFill>
            </a:endParaRPr>
          </a:p>
        </p:txBody>
      </p:sp>
      <p:sp>
        <p:nvSpPr>
          <p:cNvPr id="1177" name="Google Shape;1177;p84"/>
          <p:cNvSpPr txBox="1"/>
          <p:nvPr/>
        </p:nvSpPr>
        <p:spPr>
          <a:xfrm>
            <a:off x="2234425" y="4408050"/>
            <a:ext cx="4675200" cy="58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chemeClr val="dk1"/>
                </a:solidFill>
              </a:rPr>
              <a:t>F</a:t>
            </a:r>
            <a:r>
              <a:rPr baseline="-25000" lang="en" sz="1200">
                <a:solidFill>
                  <a:schemeClr val="dk1"/>
                </a:solidFill>
              </a:rPr>
              <a:t>mid</a:t>
            </a:r>
            <a:r>
              <a:rPr lang="en" sz="1200">
                <a:solidFill>
                  <a:schemeClr val="dk1"/>
                </a:solidFill>
              </a:rPr>
              <a:t> comes from recursion on P</a:t>
            </a:r>
            <a:r>
              <a:rPr baseline="-25000" lang="en" sz="1200">
                <a:solidFill>
                  <a:schemeClr val="dk1"/>
                </a:solidFill>
              </a:rPr>
              <a:t>mid</a:t>
            </a:r>
            <a:endParaRPr sz="1200">
              <a:solidFill>
                <a:schemeClr val="dk1"/>
              </a:solidFill>
            </a:endParaRPr>
          </a:p>
          <a:p>
            <a:pPr indent="0" lvl="0" marL="0" rtl="0" algn="ctr">
              <a:lnSpc>
                <a:spcPct val="115000"/>
              </a:lnSpc>
              <a:spcBef>
                <a:spcPts val="0"/>
              </a:spcBef>
              <a:spcAft>
                <a:spcPts val="0"/>
              </a:spcAft>
              <a:buNone/>
            </a:pPr>
            <a:r>
              <a:rPr lang="en" sz="1200">
                <a:solidFill>
                  <a:schemeClr val="dk1"/>
                </a:solidFill>
              </a:rPr>
              <a:t>If α = β= null, then F</a:t>
            </a:r>
            <a:r>
              <a:rPr baseline="-25000" lang="en" sz="1200">
                <a:solidFill>
                  <a:schemeClr val="dk1"/>
                </a:solidFill>
              </a:rPr>
              <a:t>α</a:t>
            </a:r>
            <a:r>
              <a:rPr lang="en" sz="1200">
                <a:solidFill>
                  <a:schemeClr val="dk1"/>
                </a:solidFill>
              </a:rPr>
              <a:t>(h) = F</a:t>
            </a:r>
            <a:r>
              <a:rPr baseline="-25000" lang="en" sz="1200">
                <a:solidFill>
                  <a:schemeClr val="dk1"/>
                </a:solidFill>
              </a:rPr>
              <a:t>mid</a:t>
            </a:r>
            <a:r>
              <a:rPr lang="en" sz="1200">
                <a:solidFill>
                  <a:schemeClr val="dk1"/>
                </a:solidFill>
              </a:rPr>
              <a:t>(h) = 0, leaving F(h) = G</a:t>
            </a:r>
            <a:r>
              <a:rPr baseline="-25000" lang="en" sz="1200">
                <a:solidFill>
                  <a:schemeClr val="dk1"/>
                </a:solidFill>
              </a:rPr>
              <a:t>2</a:t>
            </a:r>
            <a:r>
              <a:rPr lang="en" sz="1200">
                <a:solidFill>
                  <a:schemeClr val="dk1"/>
                </a:solidFill>
              </a:rPr>
              <a:t>(h).</a:t>
            </a:r>
            <a:endParaRPr sz="1200">
              <a:solidFill>
                <a:schemeClr val="dk1"/>
              </a:solidFill>
            </a:endParaRPr>
          </a:p>
        </p:txBody>
      </p:sp>
      <p:sp>
        <p:nvSpPr>
          <p:cNvPr id="1178" name="Google Shape;1178;p84"/>
          <p:cNvSpPr/>
          <p:nvPr/>
        </p:nvSpPr>
        <p:spPr>
          <a:xfrm>
            <a:off x="2333850" y="3987150"/>
            <a:ext cx="321600" cy="3138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84"/>
          <p:cNvSpPr txBox="1"/>
          <p:nvPr/>
        </p:nvSpPr>
        <p:spPr>
          <a:xfrm>
            <a:off x="2187600" y="747016"/>
            <a:ext cx="4768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chemeClr val="dk1"/>
                </a:solidFill>
              </a:rPr>
              <a:t>Draw uniform sample S from Q. </a:t>
            </a:r>
            <a:endParaRPr>
              <a:solidFill>
                <a:schemeClr val="dk1"/>
              </a:solidFill>
            </a:endParaRPr>
          </a:p>
          <a:p>
            <a:pPr indent="0" lvl="0" marL="0" rtl="0" algn="ctr">
              <a:lnSpc>
                <a:spcPct val="115000"/>
              </a:lnSpc>
              <a:spcBef>
                <a:spcPts val="0"/>
              </a:spcBef>
              <a:spcAft>
                <a:spcPts val="0"/>
              </a:spcAft>
              <a:buNone/>
            </a:pPr>
            <a:r>
              <a:rPr b="1" lang="en">
                <a:solidFill>
                  <a:schemeClr val="dk1"/>
                </a:solidFill>
              </a:rPr>
              <a:t>For each h in H</a:t>
            </a:r>
            <a:r>
              <a:rPr b="1" baseline="-25000" lang="en">
                <a:solidFill>
                  <a:schemeClr val="dk1"/>
                </a:solidFill>
              </a:rPr>
              <a:t>mon,</a:t>
            </a:r>
            <a:r>
              <a:rPr baseline="-25000" lang="en">
                <a:solidFill>
                  <a:schemeClr val="dk1"/>
                </a:solidFill>
              </a:rPr>
              <a:t> </a:t>
            </a:r>
            <a:r>
              <a:rPr lang="en">
                <a:solidFill>
                  <a:schemeClr val="dk1"/>
                </a:solidFill>
              </a:rPr>
              <a:t>we define G(h) = ( |Q| / |S| ) · err</a:t>
            </a:r>
            <a:r>
              <a:rPr baseline="-25000" lang="en">
                <a:solidFill>
                  <a:schemeClr val="dk1"/>
                </a:solidFill>
              </a:rPr>
              <a:t>S</a:t>
            </a:r>
            <a:r>
              <a:rPr lang="en">
                <a:solidFill>
                  <a:schemeClr val="dk1"/>
                </a:solidFill>
              </a:rPr>
              <a:t>(h).</a:t>
            </a:r>
            <a:endParaRPr>
              <a:solidFill>
                <a:schemeClr val="dk1"/>
              </a:solidFill>
            </a:endParaRPr>
          </a:p>
        </p:txBody>
      </p:sp>
      <p:sp>
        <p:nvSpPr>
          <p:cNvPr id="1180" name="Google Shape;1180;p84"/>
          <p:cNvSpPr txBox="1"/>
          <p:nvPr/>
        </p:nvSpPr>
        <p:spPr>
          <a:xfrm>
            <a:off x="1794000" y="4889475"/>
            <a:ext cx="62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81" name="Google Shape;1181;p84"/>
          <p:cNvSpPr/>
          <p:nvPr/>
        </p:nvSpPr>
        <p:spPr>
          <a:xfrm>
            <a:off x="-99225" y="-51550"/>
            <a:ext cx="9492600" cy="5330400"/>
          </a:xfrm>
          <a:prstGeom prst="roundRect">
            <a:avLst>
              <a:gd fmla="val 0" name="adj"/>
            </a:avLst>
          </a:prstGeom>
          <a:solidFill>
            <a:srgbClr val="CCCCCC">
              <a:alpha val="8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182" name="Google Shape;1182;p84"/>
          <p:cNvSpPr/>
          <p:nvPr/>
        </p:nvSpPr>
        <p:spPr>
          <a:xfrm>
            <a:off x="2158800" y="1274200"/>
            <a:ext cx="5474700" cy="2660700"/>
          </a:xfrm>
          <a:prstGeom prst="roundRect">
            <a:avLst>
              <a:gd fmla="val 5479" name="adj"/>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Problem: </a:t>
            </a:r>
            <a:r>
              <a:rPr lang="en" sz="1200">
                <a:solidFill>
                  <a:schemeClr val="dk1"/>
                </a:solidFill>
              </a:rPr>
              <a:t>G₁ and G₂ need to satisfy their conditions for all h ∈ H</a:t>
            </a:r>
            <a:r>
              <a:rPr baseline="-25000" lang="en" sz="1200">
                <a:solidFill>
                  <a:schemeClr val="dk1"/>
                </a:solidFill>
              </a:rPr>
              <a:t>mon</a:t>
            </a:r>
            <a:r>
              <a:rPr lang="en" sz="1200">
                <a:solidFill>
                  <a:schemeClr val="dk1"/>
                </a:solidFill>
              </a:rPr>
              <a:t>, but H</a:t>
            </a:r>
            <a:r>
              <a:rPr baseline="-25000" lang="en" sz="1200">
                <a:solidFill>
                  <a:schemeClr val="dk1"/>
                </a:solidFill>
              </a:rPr>
              <a:t>mon</a:t>
            </a:r>
            <a:r>
              <a:rPr lang="en" sz="1200">
                <a:solidFill>
                  <a:schemeClr val="dk1"/>
                </a:solidFill>
              </a:rPr>
              <a:t> is infinite, so a union bound over all classifiers seems impossible.</a:t>
            </a:r>
            <a:endParaRPr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b="1" lang="en" sz="1200">
                <a:solidFill>
                  <a:schemeClr val="dk1"/>
                </a:solidFill>
              </a:rPr>
              <a:t>Solution: </a:t>
            </a:r>
            <a:r>
              <a:rPr lang="en" sz="1200">
                <a:solidFill>
                  <a:schemeClr val="dk1"/>
                </a:solidFill>
              </a:rPr>
              <a:t>use</a:t>
            </a:r>
            <a:r>
              <a:rPr b="1" lang="en" sz="1200">
                <a:solidFill>
                  <a:schemeClr val="dk1"/>
                </a:solidFill>
              </a:rPr>
              <a:t> </a:t>
            </a:r>
            <a:r>
              <a:rPr lang="en" sz="1200">
                <a:solidFill>
                  <a:schemeClr val="dk1"/>
                </a:solidFill>
              </a:rPr>
              <a:t>H</a:t>
            </a:r>
            <a:r>
              <a:rPr baseline="30000" lang="en" sz="1200">
                <a:solidFill>
                  <a:schemeClr val="dk1"/>
                </a:solidFill>
              </a:rPr>
              <a:t>P</a:t>
            </a:r>
            <a:r>
              <a:rPr baseline="-25000" lang="en" sz="1200">
                <a:solidFill>
                  <a:schemeClr val="dk1"/>
                </a:solidFill>
              </a:rPr>
              <a:t>mon </a:t>
            </a:r>
            <a:r>
              <a:rPr lang="en" sz="1200">
                <a:solidFill>
                  <a:schemeClr val="dk1"/>
                </a:solidFill>
              </a:rPr>
              <a:t>as the finite stand in for H</a:t>
            </a:r>
            <a:r>
              <a:rPr baseline="-25000" lang="en" sz="1200">
                <a:solidFill>
                  <a:schemeClr val="dk1"/>
                </a:solidFill>
              </a:rPr>
              <a:t>mon</a:t>
            </a:r>
            <a:endParaRPr baseline="-25000" sz="1200">
              <a:solidFill>
                <a:schemeClr val="dk1"/>
              </a:solidFill>
            </a:endParaRPr>
          </a:p>
          <a:p>
            <a:pPr indent="0" lvl="0" marL="0" rtl="0" algn="l">
              <a:spcBef>
                <a:spcPts val="0"/>
              </a:spcBef>
              <a:spcAft>
                <a:spcPts val="0"/>
              </a:spcAft>
              <a:buNone/>
            </a:pPr>
            <a:r>
              <a:t/>
            </a:r>
            <a:endParaRPr b="1" baseline="-25000"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a:t>
            </a:r>
            <a:r>
              <a:rPr b="1" baseline="-25000" lang="en" sz="1200">
                <a:solidFill>
                  <a:schemeClr val="dk1"/>
                </a:solidFill>
              </a:rPr>
              <a:t>mon</a:t>
            </a:r>
            <a:r>
              <a:rPr lang="en" sz="1200">
                <a:solidFill>
                  <a:schemeClr val="dk1"/>
                </a:solidFill>
              </a:rPr>
              <a:t> contains infinitely many threshold classifiers. </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a:t>
            </a:r>
            <a:r>
              <a:rPr baseline="30000" lang="en" sz="1200">
                <a:solidFill>
                  <a:schemeClr val="dk1"/>
                </a:solidFill>
              </a:rPr>
              <a:t>P</a:t>
            </a:r>
            <a:r>
              <a:rPr b="1" baseline="-25000" lang="en" sz="1200">
                <a:solidFill>
                  <a:schemeClr val="dk1"/>
                </a:solidFill>
              </a:rPr>
              <a:t>mon</a:t>
            </a:r>
            <a:r>
              <a:rPr lang="en" sz="1200">
                <a:solidFill>
                  <a:schemeClr val="dk1"/>
                </a:solidFill>
              </a:rPr>
              <a:t> keeps only at most |P|+1 thresholds that actually land on or below a point in P, since all others behave identically on P.</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a:t>
            </a:r>
            <a:r>
              <a:rPr baseline="30000" lang="en" sz="1200">
                <a:solidFill>
                  <a:schemeClr val="dk1"/>
                </a:solidFill>
              </a:rPr>
              <a:t>P</a:t>
            </a:r>
            <a:r>
              <a:rPr b="1" baseline="-25000" lang="en" sz="1200">
                <a:solidFill>
                  <a:schemeClr val="dk1"/>
                </a:solidFill>
              </a:rPr>
              <a:t>mon</a:t>
            </a:r>
            <a:r>
              <a:rPr lang="en" sz="1200">
                <a:solidFill>
                  <a:schemeClr val="dk1"/>
                </a:solidFill>
              </a:rPr>
              <a:t>| ≤ |P|+1, so a union bound over classifiers now costs a log(|P|) factor, which is where the log|P| in O(1/ε² · log(|P|·ℓ/δ)) comes from.</a:t>
            </a:r>
            <a:endParaRPr sz="1200">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cxnSp>
        <p:nvCxnSpPr>
          <p:cNvPr id="1187" name="Google Shape;1187;p85"/>
          <p:cNvCxnSpPr/>
          <p:nvPr/>
        </p:nvCxnSpPr>
        <p:spPr>
          <a:xfrm>
            <a:off x="1093338" y="2632803"/>
            <a:ext cx="6957300" cy="27600"/>
          </a:xfrm>
          <a:prstGeom prst="straightConnector1">
            <a:avLst/>
          </a:prstGeom>
          <a:noFill/>
          <a:ln cap="flat" cmpd="sng" w="38100">
            <a:solidFill>
              <a:schemeClr val="dk1"/>
            </a:solidFill>
            <a:prstDash val="solid"/>
            <a:round/>
            <a:headEnd len="med" w="med" type="none"/>
            <a:tailEnd len="med" w="med" type="none"/>
          </a:ln>
        </p:spPr>
      </p:cxnSp>
      <p:sp>
        <p:nvSpPr>
          <p:cNvPr id="1188" name="Google Shape;1188;p85"/>
          <p:cNvSpPr txBox="1"/>
          <p:nvPr>
            <p:ph type="title"/>
          </p:nvPr>
        </p:nvSpPr>
        <p:spPr>
          <a:xfrm>
            <a:off x="2641350" y="508752"/>
            <a:ext cx="3861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Example</a:t>
            </a:r>
            <a:endParaRPr sz="2420"/>
          </a:p>
        </p:txBody>
      </p:sp>
      <p:sp>
        <p:nvSpPr>
          <p:cNvPr id="1189" name="Google Shape;1189;p85"/>
          <p:cNvSpPr txBox="1"/>
          <p:nvPr>
            <p:ph type="title"/>
          </p:nvPr>
        </p:nvSpPr>
        <p:spPr>
          <a:xfrm>
            <a:off x="2625131" y="2996165"/>
            <a:ext cx="38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x-coordinate (1D, points sorted left to right)</a:t>
            </a:r>
            <a:endParaRPr sz="1200"/>
          </a:p>
        </p:txBody>
      </p:sp>
      <p:sp>
        <p:nvSpPr>
          <p:cNvPr id="1190" name="Google Shape;1190;p85"/>
          <p:cNvSpPr/>
          <p:nvPr/>
        </p:nvSpPr>
        <p:spPr>
          <a:xfrm>
            <a:off x="6502650" y="3854075"/>
            <a:ext cx="2364900" cy="960300"/>
          </a:xfrm>
          <a:prstGeom prst="roundRect">
            <a:avLst>
              <a:gd fmla="val 14662"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l">
              <a:lnSpc>
                <a:spcPct val="115000"/>
              </a:lnSpc>
              <a:spcBef>
                <a:spcPts val="0"/>
              </a:spcBef>
              <a:spcAft>
                <a:spcPts val="0"/>
              </a:spcAft>
              <a:buNone/>
            </a:pPr>
            <a:r>
              <a:rPr lang="en">
                <a:solidFill>
                  <a:srgbClr val="1C4587"/>
                </a:solidFill>
              </a:rPr>
              <a:t>Optimal Classifier:</a:t>
            </a:r>
            <a:endParaRPr>
              <a:solidFill>
                <a:srgbClr val="1C4587"/>
              </a:solidFill>
            </a:endParaRPr>
          </a:p>
          <a:p>
            <a:pPr indent="0" lvl="0" marL="0" rtl="0" algn="l">
              <a:lnSpc>
                <a:spcPct val="115000"/>
              </a:lnSpc>
              <a:spcBef>
                <a:spcPts val="0"/>
              </a:spcBef>
              <a:spcAft>
                <a:spcPts val="0"/>
              </a:spcAft>
              <a:buNone/>
            </a:pPr>
            <a:r>
              <a:rPr lang="en">
                <a:solidFill>
                  <a:schemeClr val="dk1"/>
                </a:solidFill>
              </a:rPr>
              <a:t>h₄: classify +1 if p &gt; 4</a:t>
            </a:r>
            <a:endParaRPr>
              <a:solidFill>
                <a:schemeClr val="dk1"/>
              </a:solidFill>
            </a:endParaRPr>
          </a:p>
          <a:p>
            <a:pPr indent="0" lvl="0" marL="0" rtl="0" algn="l">
              <a:lnSpc>
                <a:spcPct val="115000"/>
              </a:lnSpc>
              <a:spcBef>
                <a:spcPts val="0"/>
              </a:spcBef>
              <a:spcAft>
                <a:spcPts val="0"/>
              </a:spcAft>
              <a:buNone/>
            </a:pPr>
            <a:r>
              <a:rPr lang="en">
                <a:solidFill>
                  <a:schemeClr val="dk1"/>
                </a:solidFill>
              </a:rPr>
              <a:t>k* = 0</a:t>
            </a:r>
            <a:endParaRPr sz="1600">
              <a:solidFill>
                <a:schemeClr val="dk1"/>
              </a:solidFill>
            </a:endParaRPr>
          </a:p>
        </p:txBody>
      </p:sp>
      <p:grpSp>
        <p:nvGrpSpPr>
          <p:cNvPr id="1191" name="Google Shape;1191;p85"/>
          <p:cNvGrpSpPr/>
          <p:nvPr/>
        </p:nvGrpSpPr>
        <p:grpSpPr>
          <a:xfrm>
            <a:off x="1091213" y="2029782"/>
            <a:ext cx="616988" cy="429007"/>
            <a:chOff x="2284375" y="2496337"/>
            <a:chExt cx="397800" cy="276600"/>
          </a:xfrm>
        </p:grpSpPr>
        <p:sp>
          <p:nvSpPr>
            <p:cNvPr id="1192" name="Google Shape;1192;p85"/>
            <p:cNvSpPr/>
            <p:nvPr/>
          </p:nvSpPr>
          <p:spPr>
            <a:xfrm>
              <a:off x="2341219"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193" name="Google Shape;1193;p85"/>
            <p:cNvSpPr txBox="1"/>
            <p:nvPr/>
          </p:nvSpPr>
          <p:spPr>
            <a:xfrm>
              <a:off x="2284375"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grpSp>
      <p:grpSp>
        <p:nvGrpSpPr>
          <p:cNvPr id="1194" name="Google Shape;1194;p85"/>
          <p:cNvGrpSpPr/>
          <p:nvPr/>
        </p:nvGrpSpPr>
        <p:grpSpPr>
          <a:xfrm>
            <a:off x="1997576" y="2029782"/>
            <a:ext cx="616988" cy="429007"/>
            <a:chOff x="2888900" y="2496337"/>
            <a:chExt cx="397800" cy="276600"/>
          </a:xfrm>
        </p:grpSpPr>
        <p:sp>
          <p:nvSpPr>
            <p:cNvPr id="1195" name="Google Shape;1195;p85"/>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196" name="Google Shape;1196;p85"/>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grpSp>
      <p:grpSp>
        <p:nvGrpSpPr>
          <p:cNvPr id="1197" name="Google Shape;1197;p85"/>
          <p:cNvGrpSpPr/>
          <p:nvPr/>
        </p:nvGrpSpPr>
        <p:grpSpPr>
          <a:xfrm>
            <a:off x="2903948" y="2029782"/>
            <a:ext cx="616988" cy="429007"/>
            <a:chOff x="2888900" y="2496337"/>
            <a:chExt cx="397800" cy="276600"/>
          </a:xfrm>
        </p:grpSpPr>
        <p:sp>
          <p:nvSpPr>
            <p:cNvPr id="1198" name="Google Shape;1198;p85"/>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199" name="Google Shape;1199;p85"/>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grpSp>
      <p:grpSp>
        <p:nvGrpSpPr>
          <p:cNvPr id="1200" name="Google Shape;1200;p85"/>
          <p:cNvGrpSpPr/>
          <p:nvPr/>
        </p:nvGrpSpPr>
        <p:grpSpPr>
          <a:xfrm>
            <a:off x="3810321" y="2029782"/>
            <a:ext cx="616988" cy="429007"/>
            <a:chOff x="2888900" y="2496337"/>
            <a:chExt cx="397800" cy="276600"/>
          </a:xfrm>
        </p:grpSpPr>
        <p:sp>
          <p:nvSpPr>
            <p:cNvPr id="1201" name="Google Shape;1201;p85"/>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02" name="Google Shape;1202;p85"/>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grpSp>
      <p:grpSp>
        <p:nvGrpSpPr>
          <p:cNvPr id="1203" name="Google Shape;1203;p85"/>
          <p:cNvGrpSpPr/>
          <p:nvPr/>
        </p:nvGrpSpPr>
        <p:grpSpPr>
          <a:xfrm>
            <a:off x="4716707" y="2029801"/>
            <a:ext cx="616988" cy="429007"/>
            <a:chOff x="2106375" y="1621737"/>
            <a:chExt cx="397800" cy="276600"/>
          </a:xfrm>
        </p:grpSpPr>
        <p:sp>
          <p:nvSpPr>
            <p:cNvPr id="1204" name="Google Shape;1204;p85"/>
            <p:cNvSpPr/>
            <p:nvPr/>
          </p:nvSpPr>
          <p:spPr>
            <a:xfrm>
              <a:off x="2163219"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05" name="Google Shape;1205;p85"/>
            <p:cNvSpPr txBox="1"/>
            <p:nvPr/>
          </p:nvSpPr>
          <p:spPr>
            <a:xfrm>
              <a:off x="2106375"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grpSp>
      <p:grpSp>
        <p:nvGrpSpPr>
          <p:cNvPr id="1206" name="Google Shape;1206;p85"/>
          <p:cNvGrpSpPr/>
          <p:nvPr/>
        </p:nvGrpSpPr>
        <p:grpSpPr>
          <a:xfrm>
            <a:off x="5623070" y="2029801"/>
            <a:ext cx="616988" cy="429007"/>
            <a:chOff x="2710900" y="1621737"/>
            <a:chExt cx="397800" cy="276600"/>
          </a:xfrm>
        </p:grpSpPr>
        <p:sp>
          <p:nvSpPr>
            <p:cNvPr id="1207" name="Google Shape;1207;p85"/>
            <p:cNvSpPr/>
            <p:nvPr/>
          </p:nvSpPr>
          <p:spPr>
            <a:xfrm>
              <a:off x="2767744"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08" name="Google Shape;1208;p85"/>
            <p:cNvSpPr txBox="1"/>
            <p:nvPr/>
          </p:nvSpPr>
          <p:spPr>
            <a:xfrm>
              <a:off x="2710900"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grpSp>
      <p:grpSp>
        <p:nvGrpSpPr>
          <p:cNvPr id="1209" name="Google Shape;1209;p85"/>
          <p:cNvGrpSpPr/>
          <p:nvPr/>
        </p:nvGrpSpPr>
        <p:grpSpPr>
          <a:xfrm>
            <a:off x="6529434" y="2029801"/>
            <a:ext cx="616988" cy="429007"/>
            <a:chOff x="3206925" y="1604737"/>
            <a:chExt cx="397800" cy="276600"/>
          </a:xfrm>
        </p:grpSpPr>
        <p:sp>
          <p:nvSpPr>
            <p:cNvPr id="1210" name="Google Shape;1210;p85"/>
            <p:cNvSpPr/>
            <p:nvPr/>
          </p:nvSpPr>
          <p:spPr>
            <a:xfrm>
              <a:off x="3263769" y="1604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11" name="Google Shape;1211;p85"/>
            <p:cNvSpPr txBox="1"/>
            <p:nvPr/>
          </p:nvSpPr>
          <p:spPr>
            <a:xfrm>
              <a:off x="3206925" y="1643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grpSp>
      <p:grpSp>
        <p:nvGrpSpPr>
          <p:cNvPr id="1212" name="Google Shape;1212;p85"/>
          <p:cNvGrpSpPr/>
          <p:nvPr/>
        </p:nvGrpSpPr>
        <p:grpSpPr>
          <a:xfrm>
            <a:off x="7435799" y="2029801"/>
            <a:ext cx="616988" cy="429007"/>
            <a:chOff x="3671413" y="1621737"/>
            <a:chExt cx="397800" cy="276600"/>
          </a:xfrm>
        </p:grpSpPr>
        <p:sp>
          <p:nvSpPr>
            <p:cNvPr id="1213" name="Google Shape;1213;p85"/>
            <p:cNvSpPr/>
            <p:nvPr/>
          </p:nvSpPr>
          <p:spPr>
            <a:xfrm>
              <a:off x="3728256"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14" name="Google Shape;1214;p85"/>
            <p:cNvSpPr txBox="1"/>
            <p:nvPr/>
          </p:nvSpPr>
          <p:spPr>
            <a:xfrm>
              <a:off x="3671413"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grpSp>
      <p:sp>
        <p:nvSpPr>
          <p:cNvPr id="1215" name="Google Shape;1215;p85"/>
          <p:cNvSpPr txBox="1"/>
          <p:nvPr>
            <p:ph type="title"/>
          </p:nvPr>
        </p:nvSpPr>
        <p:spPr>
          <a:xfrm>
            <a:off x="1093356" y="1104552"/>
            <a:ext cx="3861300" cy="36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P = {1, 2, 3, 4, 5, 6, 7, 8}, ɛ = 1/2</a:t>
            </a:r>
            <a:endParaRPr sz="1200"/>
          </a:p>
        </p:txBody>
      </p:sp>
      <p:cxnSp>
        <p:nvCxnSpPr>
          <p:cNvPr id="1216" name="Google Shape;1216;p85"/>
          <p:cNvCxnSpPr/>
          <p:nvPr/>
        </p:nvCxnSpPr>
        <p:spPr>
          <a:xfrm flipH="1">
            <a:off x="4370450" y="1723081"/>
            <a:ext cx="13800" cy="1159500"/>
          </a:xfrm>
          <a:prstGeom prst="straightConnector1">
            <a:avLst/>
          </a:prstGeom>
          <a:noFill/>
          <a:ln cap="flat" cmpd="sng" w="19050">
            <a:solidFill>
              <a:srgbClr val="F1C232"/>
            </a:solidFill>
            <a:prstDash val="dash"/>
            <a:round/>
            <a:headEnd len="med" w="med" type="none"/>
            <a:tailEnd len="med" w="med" type="none"/>
          </a:ln>
        </p:spPr>
      </p:cxnSp>
      <p:sp>
        <p:nvSpPr>
          <p:cNvPr id="1217" name="Google Shape;1217;p85"/>
          <p:cNvSpPr txBox="1"/>
          <p:nvPr>
            <p:ph type="title"/>
          </p:nvPr>
        </p:nvSpPr>
        <p:spPr>
          <a:xfrm>
            <a:off x="3874055" y="1383531"/>
            <a:ext cx="10167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F1C232"/>
                </a:solidFill>
              </a:rPr>
              <a:t>h* = </a:t>
            </a:r>
            <a:r>
              <a:rPr b="1" lang="en" sz="1200">
                <a:solidFill>
                  <a:srgbClr val="F1C232"/>
                </a:solidFill>
              </a:rPr>
              <a:t>h₄</a:t>
            </a:r>
            <a:endParaRPr b="1" sz="1200">
              <a:solidFill>
                <a:srgbClr val="F1C232"/>
              </a:solidFill>
            </a:endParaRPr>
          </a:p>
        </p:txBody>
      </p:sp>
      <p:sp>
        <p:nvSpPr>
          <p:cNvPr id="1218" name="Google Shape;1218;p85"/>
          <p:cNvSpPr txBox="1"/>
          <p:nvPr>
            <p:ph type="title"/>
          </p:nvPr>
        </p:nvSpPr>
        <p:spPr>
          <a:xfrm>
            <a:off x="1191968"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19" name="Google Shape;1219;p85"/>
          <p:cNvSpPr txBox="1"/>
          <p:nvPr>
            <p:ph type="title"/>
          </p:nvPr>
        </p:nvSpPr>
        <p:spPr>
          <a:xfrm>
            <a:off x="2098333"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20" name="Google Shape;1220;p85"/>
          <p:cNvSpPr txBox="1"/>
          <p:nvPr>
            <p:ph type="title"/>
          </p:nvPr>
        </p:nvSpPr>
        <p:spPr>
          <a:xfrm>
            <a:off x="300469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21" name="Google Shape;1221;p85"/>
          <p:cNvSpPr txBox="1"/>
          <p:nvPr>
            <p:ph type="title"/>
          </p:nvPr>
        </p:nvSpPr>
        <p:spPr>
          <a:xfrm>
            <a:off x="391106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22" name="Google Shape;1222;p85"/>
          <p:cNvSpPr txBox="1"/>
          <p:nvPr>
            <p:ph type="title"/>
          </p:nvPr>
        </p:nvSpPr>
        <p:spPr>
          <a:xfrm>
            <a:off x="481742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a:t>
            </a:r>
            <a:r>
              <a:rPr b="1" lang="en" sz="1200"/>
              <a:t>1</a:t>
            </a:r>
            <a:endParaRPr b="1" sz="1200"/>
          </a:p>
        </p:txBody>
      </p:sp>
      <p:sp>
        <p:nvSpPr>
          <p:cNvPr id="1223" name="Google Shape;1223;p85"/>
          <p:cNvSpPr txBox="1"/>
          <p:nvPr>
            <p:ph type="title"/>
          </p:nvPr>
        </p:nvSpPr>
        <p:spPr>
          <a:xfrm>
            <a:off x="572379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24" name="Google Shape;1224;p85"/>
          <p:cNvSpPr txBox="1"/>
          <p:nvPr>
            <p:ph type="title"/>
          </p:nvPr>
        </p:nvSpPr>
        <p:spPr>
          <a:xfrm>
            <a:off x="6630160"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25" name="Google Shape;1225;p85"/>
          <p:cNvSpPr txBox="1"/>
          <p:nvPr>
            <p:ph type="title"/>
          </p:nvPr>
        </p:nvSpPr>
        <p:spPr>
          <a:xfrm>
            <a:off x="7536525"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cxnSp>
        <p:nvCxnSpPr>
          <p:cNvPr id="1230" name="Google Shape;1230;p86"/>
          <p:cNvCxnSpPr/>
          <p:nvPr/>
        </p:nvCxnSpPr>
        <p:spPr>
          <a:xfrm>
            <a:off x="1093338" y="2632803"/>
            <a:ext cx="6957300" cy="27600"/>
          </a:xfrm>
          <a:prstGeom prst="straightConnector1">
            <a:avLst/>
          </a:prstGeom>
          <a:noFill/>
          <a:ln cap="flat" cmpd="sng" w="38100">
            <a:solidFill>
              <a:schemeClr val="dk1"/>
            </a:solidFill>
            <a:prstDash val="solid"/>
            <a:round/>
            <a:headEnd len="med" w="med" type="none"/>
            <a:tailEnd len="med" w="med" type="none"/>
          </a:ln>
        </p:spPr>
      </p:cxnSp>
      <p:sp>
        <p:nvSpPr>
          <p:cNvPr id="1231" name="Google Shape;1231;p86"/>
          <p:cNvSpPr txBox="1"/>
          <p:nvPr>
            <p:ph type="title"/>
          </p:nvPr>
        </p:nvSpPr>
        <p:spPr>
          <a:xfrm>
            <a:off x="2625131" y="2996165"/>
            <a:ext cx="38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x-coordinate (1D, points sorted left to right)</a:t>
            </a:r>
            <a:endParaRPr sz="1200"/>
          </a:p>
        </p:txBody>
      </p:sp>
      <p:sp>
        <p:nvSpPr>
          <p:cNvPr id="1232" name="Google Shape;1232;p86"/>
          <p:cNvSpPr/>
          <p:nvPr/>
        </p:nvSpPr>
        <p:spPr>
          <a:xfrm>
            <a:off x="1179377" y="2029782"/>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33" name="Google Shape;1233;p86"/>
          <p:cNvSpPr txBox="1"/>
          <p:nvPr/>
        </p:nvSpPr>
        <p:spPr>
          <a:xfrm>
            <a:off x="1091213" y="2090020"/>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234" name="Google Shape;1234;p86"/>
          <p:cNvSpPr/>
          <p:nvPr/>
        </p:nvSpPr>
        <p:spPr>
          <a:xfrm>
            <a:off x="2085740" y="2029782"/>
            <a:ext cx="440639" cy="429007"/>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35" name="Google Shape;1235;p86"/>
          <p:cNvSpPr txBox="1"/>
          <p:nvPr/>
        </p:nvSpPr>
        <p:spPr>
          <a:xfrm>
            <a:off x="1997576" y="2090020"/>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236" name="Google Shape;1236;p86"/>
          <p:cNvSpPr/>
          <p:nvPr/>
        </p:nvSpPr>
        <p:spPr>
          <a:xfrm>
            <a:off x="2992113" y="2029782"/>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37" name="Google Shape;1237;p86"/>
          <p:cNvSpPr txBox="1"/>
          <p:nvPr/>
        </p:nvSpPr>
        <p:spPr>
          <a:xfrm>
            <a:off x="2903948" y="2090020"/>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238" name="Google Shape;1238;p86"/>
          <p:cNvSpPr/>
          <p:nvPr/>
        </p:nvSpPr>
        <p:spPr>
          <a:xfrm>
            <a:off x="3898486" y="2029782"/>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39" name="Google Shape;1239;p86"/>
          <p:cNvSpPr txBox="1"/>
          <p:nvPr/>
        </p:nvSpPr>
        <p:spPr>
          <a:xfrm>
            <a:off x="3810321" y="2090020"/>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240" name="Google Shape;1240;p86"/>
          <p:cNvSpPr/>
          <p:nvPr/>
        </p:nvSpPr>
        <p:spPr>
          <a:xfrm>
            <a:off x="4804872" y="2029801"/>
            <a:ext cx="440639" cy="429007"/>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41" name="Google Shape;1241;p86"/>
          <p:cNvSpPr txBox="1"/>
          <p:nvPr/>
        </p:nvSpPr>
        <p:spPr>
          <a:xfrm>
            <a:off x="4716707" y="2090039"/>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242" name="Google Shape;1242;p86"/>
          <p:cNvSpPr/>
          <p:nvPr/>
        </p:nvSpPr>
        <p:spPr>
          <a:xfrm>
            <a:off x="5711234" y="2029801"/>
            <a:ext cx="440639" cy="429007"/>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43" name="Google Shape;1243;p86"/>
          <p:cNvSpPr txBox="1"/>
          <p:nvPr/>
        </p:nvSpPr>
        <p:spPr>
          <a:xfrm>
            <a:off x="5623070" y="2090039"/>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244" name="Google Shape;1244;p86"/>
          <p:cNvSpPr/>
          <p:nvPr/>
        </p:nvSpPr>
        <p:spPr>
          <a:xfrm>
            <a:off x="6617599" y="2029801"/>
            <a:ext cx="440639" cy="429007"/>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45" name="Google Shape;1245;p86"/>
          <p:cNvSpPr txBox="1"/>
          <p:nvPr/>
        </p:nvSpPr>
        <p:spPr>
          <a:xfrm>
            <a:off x="6529434" y="2090039"/>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246" name="Google Shape;1246;p86"/>
          <p:cNvSpPr/>
          <p:nvPr/>
        </p:nvSpPr>
        <p:spPr>
          <a:xfrm>
            <a:off x="7523963" y="2029801"/>
            <a:ext cx="440639" cy="429007"/>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247" name="Google Shape;1247;p86"/>
          <p:cNvSpPr txBox="1"/>
          <p:nvPr/>
        </p:nvSpPr>
        <p:spPr>
          <a:xfrm>
            <a:off x="7435799" y="2090039"/>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248" name="Google Shape;1248;p86"/>
          <p:cNvSpPr txBox="1"/>
          <p:nvPr>
            <p:ph type="title"/>
          </p:nvPr>
        </p:nvSpPr>
        <p:spPr>
          <a:xfrm>
            <a:off x="1191968"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49" name="Google Shape;1249;p86"/>
          <p:cNvSpPr txBox="1"/>
          <p:nvPr>
            <p:ph type="title"/>
          </p:nvPr>
        </p:nvSpPr>
        <p:spPr>
          <a:xfrm>
            <a:off x="2098333"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0" name="Google Shape;1250;p86"/>
          <p:cNvSpPr txBox="1"/>
          <p:nvPr>
            <p:ph type="title"/>
          </p:nvPr>
        </p:nvSpPr>
        <p:spPr>
          <a:xfrm>
            <a:off x="300469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1" name="Google Shape;1251;p86"/>
          <p:cNvSpPr txBox="1"/>
          <p:nvPr>
            <p:ph type="title"/>
          </p:nvPr>
        </p:nvSpPr>
        <p:spPr>
          <a:xfrm>
            <a:off x="391106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2" name="Google Shape;1252;p86"/>
          <p:cNvSpPr txBox="1"/>
          <p:nvPr>
            <p:ph type="title"/>
          </p:nvPr>
        </p:nvSpPr>
        <p:spPr>
          <a:xfrm>
            <a:off x="481742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3" name="Google Shape;1253;p86"/>
          <p:cNvSpPr txBox="1"/>
          <p:nvPr>
            <p:ph type="title"/>
          </p:nvPr>
        </p:nvSpPr>
        <p:spPr>
          <a:xfrm>
            <a:off x="572379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4" name="Google Shape;1254;p86"/>
          <p:cNvSpPr txBox="1"/>
          <p:nvPr>
            <p:ph type="title"/>
          </p:nvPr>
        </p:nvSpPr>
        <p:spPr>
          <a:xfrm>
            <a:off x="6630160"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5" name="Google Shape;1255;p86"/>
          <p:cNvSpPr txBox="1"/>
          <p:nvPr>
            <p:ph type="title"/>
          </p:nvPr>
        </p:nvSpPr>
        <p:spPr>
          <a:xfrm>
            <a:off x="7536525"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256" name="Google Shape;1256;p86"/>
          <p:cNvSpPr txBox="1"/>
          <p:nvPr>
            <p:ph type="title"/>
          </p:nvPr>
        </p:nvSpPr>
        <p:spPr>
          <a:xfrm>
            <a:off x="2641350" y="508752"/>
            <a:ext cx="3861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Example: Sample S</a:t>
            </a:r>
            <a:r>
              <a:rPr baseline="-25000" lang="en" sz="2420"/>
              <a:t>1</a:t>
            </a:r>
            <a:endParaRPr baseline="-25000" sz="242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cxnSp>
        <p:nvCxnSpPr>
          <p:cNvPr id="1261" name="Google Shape;1261;p87"/>
          <p:cNvCxnSpPr/>
          <p:nvPr/>
        </p:nvCxnSpPr>
        <p:spPr>
          <a:xfrm>
            <a:off x="1975960" y="1901728"/>
            <a:ext cx="5192100" cy="20700"/>
          </a:xfrm>
          <a:prstGeom prst="straightConnector1">
            <a:avLst/>
          </a:prstGeom>
          <a:noFill/>
          <a:ln cap="flat" cmpd="sng" w="28425">
            <a:solidFill>
              <a:schemeClr val="dk1"/>
            </a:solidFill>
            <a:prstDash val="solid"/>
            <a:round/>
            <a:headEnd len="med" w="med" type="none"/>
            <a:tailEnd len="med" w="med" type="none"/>
          </a:ln>
        </p:spPr>
      </p:cxnSp>
      <p:sp>
        <p:nvSpPr>
          <p:cNvPr id="1262" name="Google Shape;1262;p87"/>
          <p:cNvSpPr/>
          <p:nvPr/>
        </p:nvSpPr>
        <p:spPr>
          <a:xfrm>
            <a:off x="204016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63" name="Google Shape;1263;p87"/>
          <p:cNvSpPr txBox="1"/>
          <p:nvPr/>
        </p:nvSpPr>
        <p:spPr>
          <a:xfrm>
            <a:off x="1974375"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1</a:t>
            </a:r>
            <a:endParaRPr b="1" sz="1157">
              <a:solidFill>
                <a:schemeClr val="dk1"/>
              </a:solidFill>
            </a:endParaRPr>
          </a:p>
        </p:txBody>
      </p:sp>
      <p:sp>
        <p:nvSpPr>
          <p:cNvPr id="1264" name="Google Shape;1264;p87"/>
          <p:cNvSpPr/>
          <p:nvPr/>
        </p:nvSpPr>
        <p:spPr>
          <a:xfrm>
            <a:off x="2716550" y="1451720"/>
            <a:ext cx="328800" cy="320100"/>
          </a:xfrm>
          <a:prstGeom prst="ellipse">
            <a:avLst/>
          </a:prstGeom>
          <a:solidFill>
            <a:srgbClr val="F4CCCC"/>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65" name="Google Shape;1265;p87"/>
          <p:cNvSpPr txBox="1"/>
          <p:nvPr/>
        </p:nvSpPr>
        <p:spPr>
          <a:xfrm>
            <a:off x="2650757"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2</a:t>
            </a:r>
            <a:endParaRPr b="1" sz="1157">
              <a:solidFill>
                <a:schemeClr val="dk1"/>
              </a:solidFill>
            </a:endParaRPr>
          </a:p>
        </p:txBody>
      </p:sp>
      <p:sp>
        <p:nvSpPr>
          <p:cNvPr id="1266" name="Google Shape;1266;p87"/>
          <p:cNvSpPr/>
          <p:nvPr/>
        </p:nvSpPr>
        <p:spPr>
          <a:xfrm>
            <a:off x="3392940"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67" name="Google Shape;1267;p87"/>
          <p:cNvSpPr txBox="1"/>
          <p:nvPr/>
        </p:nvSpPr>
        <p:spPr>
          <a:xfrm>
            <a:off x="332714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3</a:t>
            </a:r>
            <a:endParaRPr b="1" sz="1157">
              <a:solidFill>
                <a:schemeClr val="dk1"/>
              </a:solidFill>
            </a:endParaRPr>
          </a:p>
        </p:txBody>
      </p:sp>
      <p:sp>
        <p:nvSpPr>
          <p:cNvPr id="1268" name="Google Shape;1268;p87"/>
          <p:cNvSpPr/>
          <p:nvPr/>
        </p:nvSpPr>
        <p:spPr>
          <a:xfrm>
            <a:off x="406932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69" name="Google Shape;1269;p87"/>
          <p:cNvSpPr txBox="1"/>
          <p:nvPr/>
        </p:nvSpPr>
        <p:spPr>
          <a:xfrm>
            <a:off x="400353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4</a:t>
            </a:r>
            <a:endParaRPr b="1" sz="1157">
              <a:solidFill>
                <a:schemeClr val="dk1"/>
              </a:solidFill>
            </a:endParaRPr>
          </a:p>
        </p:txBody>
      </p:sp>
      <p:sp>
        <p:nvSpPr>
          <p:cNvPr id="1270" name="Google Shape;1270;p87"/>
          <p:cNvSpPr/>
          <p:nvPr/>
        </p:nvSpPr>
        <p:spPr>
          <a:xfrm>
            <a:off x="4745729"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71" name="Google Shape;1271;p87"/>
          <p:cNvSpPr txBox="1"/>
          <p:nvPr/>
        </p:nvSpPr>
        <p:spPr>
          <a:xfrm>
            <a:off x="4679935"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5</a:t>
            </a:r>
            <a:endParaRPr b="1" sz="1157">
              <a:solidFill>
                <a:schemeClr val="dk1"/>
              </a:solidFill>
            </a:endParaRPr>
          </a:p>
        </p:txBody>
      </p:sp>
      <p:sp>
        <p:nvSpPr>
          <p:cNvPr id="1272" name="Google Shape;1272;p87"/>
          <p:cNvSpPr/>
          <p:nvPr/>
        </p:nvSpPr>
        <p:spPr>
          <a:xfrm>
            <a:off x="5422110"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73" name="Google Shape;1273;p87"/>
          <p:cNvSpPr txBox="1"/>
          <p:nvPr/>
        </p:nvSpPr>
        <p:spPr>
          <a:xfrm>
            <a:off x="5356317"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6</a:t>
            </a:r>
            <a:endParaRPr b="1" sz="1157">
              <a:solidFill>
                <a:schemeClr val="dk1"/>
              </a:solidFill>
            </a:endParaRPr>
          </a:p>
        </p:txBody>
      </p:sp>
      <p:sp>
        <p:nvSpPr>
          <p:cNvPr id="1274" name="Google Shape;1274;p87"/>
          <p:cNvSpPr/>
          <p:nvPr/>
        </p:nvSpPr>
        <p:spPr>
          <a:xfrm>
            <a:off x="6098493"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75" name="Google Shape;1275;p87"/>
          <p:cNvSpPr txBox="1"/>
          <p:nvPr/>
        </p:nvSpPr>
        <p:spPr>
          <a:xfrm>
            <a:off x="6032700" y="1496688"/>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7</a:t>
            </a:r>
            <a:endParaRPr b="1" sz="1157">
              <a:solidFill>
                <a:schemeClr val="dk1"/>
              </a:solidFill>
            </a:endParaRPr>
          </a:p>
        </p:txBody>
      </p:sp>
      <p:sp>
        <p:nvSpPr>
          <p:cNvPr id="1276" name="Google Shape;1276;p87"/>
          <p:cNvSpPr/>
          <p:nvPr/>
        </p:nvSpPr>
        <p:spPr>
          <a:xfrm>
            <a:off x="6774877"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77" name="Google Shape;1277;p87"/>
          <p:cNvSpPr txBox="1"/>
          <p:nvPr/>
        </p:nvSpPr>
        <p:spPr>
          <a:xfrm>
            <a:off x="6709083"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8</a:t>
            </a:r>
            <a:endParaRPr b="1" sz="1157">
              <a:solidFill>
                <a:schemeClr val="dk1"/>
              </a:solidFill>
            </a:endParaRPr>
          </a:p>
        </p:txBody>
      </p:sp>
      <p:cxnSp>
        <p:nvCxnSpPr>
          <p:cNvPr id="1278" name="Google Shape;1278;p87"/>
          <p:cNvCxnSpPr/>
          <p:nvPr/>
        </p:nvCxnSpPr>
        <p:spPr>
          <a:xfrm flipH="1">
            <a:off x="4563126" y="1222843"/>
            <a:ext cx="10200" cy="865200"/>
          </a:xfrm>
          <a:prstGeom prst="straightConnector1">
            <a:avLst/>
          </a:prstGeom>
          <a:noFill/>
          <a:ln cap="flat" cmpd="sng" w="14225">
            <a:solidFill>
              <a:srgbClr val="F1C232"/>
            </a:solidFill>
            <a:prstDash val="dash"/>
            <a:round/>
            <a:headEnd len="med" w="med" type="none"/>
            <a:tailEnd len="med" w="med" type="none"/>
          </a:ln>
        </p:spPr>
      </p:cxnSp>
      <p:sp>
        <p:nvSpPr>
          <p:cNvPr id="1279" name="Google Shape;1279;p87"/>
          <p:cNvSpPr txBox="1"/>
          <p:nvPr>
            <p:ph type="title"/>
          </p:nvPr>
        </p:nvSpPr>
        <p:spPr>
          <a:xfrm>
            <a:off x="4192588" y="969451"/>
            <a:ext cx="7587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solidFill>
                  <a:srgbClr val="F1C232"/>
                </a:solidFill>
              </a:rPr>
              <a:t>h* = h₄</a:t>
            </a:r>
            <a:r>
              <a:rPr b="1" baseline="-25000" lang="en" sz="896">
                <a:solidFill>
                  <a:srgbClr val="F1C232"/>
                </a:solidFill>
              </a:rPr>
              <a:t>.5</a:t>
            </a:r>
            <a:endParaRPr b="1" sz="896">
              <a:solidFill>
                <a:srgbClr val="F1C232"/>
              </a:solidFill>
            </a:endParaRPr>
          </a:p>
        </p:txBody>
      </p:sp>
      <p:sp>
        <p:nvSpPr>
          <p:cNvPr id="1280" name="Google Shape;1280;p87"/>
          <p:cNvSpPr txBox="1"/>
          <p:nvPr>
            <p:ph type="title"/>
          </p:nvPr>
        </p:nvSpPr>
        <p:spPr>
          <a:xfrm>
            <a:off x="2049564"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1" name="Google Shape;1281;p87"/>
          <p:cNvSpPr txBox="1"/>
          <p:nvPr>
            <p:ph type="title"/>
          </p:nvPr>
        </p:nvSpPr>
        <p:spPr>
          <a:xfrm>
            <a:off x="2725948"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2" name="Google Shape;1282;p87"/>
          <p:cNvSpPr txBox="1"/>
          <p:nvPr>
            <p:ph type="title"/>
          </p:nvPr>
        </p:nvSpPr>
        <p:spPr>
          <a:xfrm>
            <a:off x="3402332"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3" name="Google Shape;1283;p87"/>
          <p:cNvSpPr txBox="1"/>
          <p:nvPr>
            <p:ph type="title"/>
          </p:nvPr>
        </p:nvSpPr>
        <p:spPr>
          <a:xfrm>
            <a:off x="4078716"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4" name="Google Shape;1284;p87"/>
          <p:cNvSpPr txBox="1"/>
          <p:nvPr>
            <p:ph type="title"/>
          </p:nvPr>
        </p:nvSpPr>
        <p:spPr>
          <a:xfrm>
            <a:off x="4755100"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5" name="Google Shape;1285;p87"/>
          <p:cNvSpPr txBox="1"/>
          <p:nvPr>
            <p:ph type="title"/>
          </p:nvPr>
        </p:nvSpPr>
        <p:spPr>
          <a:xfrm>
            <a:off x="5431483"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6" name="Google Shape;1286;p87"/>
          <p:cNvSpPr txBox="1"/>
          <p:nvPr>
            <p:ph type="title"/>
          </p:nvPr>
        </p:nvSpPr>
        <p:spPr>
          <a:xfrm>
            <a:off x="6107867"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287" name="Google Shape;1287;p87"/>
          <p:cNvSpPr txBox="1"/>
          <p:nvPr>
            <p:ph type="title"/>
          </p:nvPr>
        </p:nvSpPr>
        <p:spPr>
          <a:xfrm>
            <a:off x="6784251"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graphicFrame>
        <p:nvGraphicFramePr>
          <p:cNvPr id="1288" name="Google Shape;1288;p87"/>
          <p:cNvGraphicFramePr/>
          <p:nvPr/>
        </p:nvGraphicFramePr>
        <p:xfrm>
          <a:off x="1676400" y="2246850"/>
          <a:ext cx="3000000" cy="3000000"/>
        </p:xfrm>
        <a:graphic>
          <a:graphicData uri="http://schemas.openxmlformats.org/drawingml/2006/table">
            <a:tbl>
              <a:tblPr>
                <a:noFill/>
                <a:tableStyleId>{C2A80A2D-5547-4B00-81EF-F7A111BEE14F}</a:tableStyleId>
              </a:tblPr>
              <a:tblGrid>
                <a:gridCol w="1447800"/>
                <a:gridCol w="1447800"/>
                <a:gridCol w="1447800"/>
                <a:gridCol w="1447800"/>
              </a:tblGrid>
              <a:tr h="256475">
                <a:tc>
                  <a:txBody>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None/>
                      </a:pPr>
                      <a:r>
                        <a:rPr b="1" lang="en" sz="900">
                          <a:solidFill>
                            <a:schemeClr val="dk1"/>
                          </a:solidFill>
                        </a:rPr>
                        <a:t>True err</a:t>
                      </a:r>
                      <a:r>
                        <a:rPr b="1" baseline="-25000" lang="en" sz="900">
                          <a:solidFill>
                            <a:schemeClr val="dk1"/>
                          </a:solidFill>
                        </a:rPr>
                        <a:t>P</a:t>
                      </a:r>
                      <a:r>
                        <a:rPr b="1" lang="en" sz="900">
                          <a:solidFill>
                            <a:schemeClr val="dk1"/>
                          </a:solidFill>
                        </a:rPr>
                        <a:t>(h</a:t>
                      </a:r>
                      <a:r>
                        <a:rPr b="1" baseline="-25000" lang="en" sz="900">
                          <a:solidFill>
                            <a:schemeClr val="dk1"/>
                          </a:solidFill>
                        </a:rPr>
                        <a:t>τ</a:t>
                      </a:r>
                      <a:r>
                        <a:rPr b="1" lang="en" sz="900">
                          <a:solidFill>
                            <a:schemeClr val="dk1"/>
                          </a:solidFill>
                        </a:rPr>
                        <a:t>)</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err</a:t>
                      </a:r>
                      <a:r>
                        <a:rPr b="1" baseline="-25000" lang="en" sz="900"/>
                        <a:t>S1</a:t>
                      </a:r>
                      <a:r>
                        <a:rPr b="1" lang="en" sz="900"/>
                        <a:t>h</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G</a:t>
                      </a:r>
                      <a:r>
                        <a:rPr b="1" baseline="-25000" lang="en" sz="900"/>
                        <a:t>1</a:t>
                      </a:r>
                      <a:endParaRPr b="1"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266700">
                <a:tc>
                  <a:txBody>
                    <a:bodyPr/>
                    <a:lstStyle/>
                    <a:p>
                      <a:pPr indent="0" lvl="0" marL="0" rtl="0" algn="l">
                        <a:lnSpc>
                          <a:spcPct val="115000"/>
                        </a:lnSpc>
                        <a:spcBef>
                          <a:spcPts val="0"/>
                        </a:spcBef>
                        <a:spcAft>
                          <a:spcPts val="0"/>
                        </a:spcAft>
                        <a:buNone/>
                      </a:pPr>
                      <a:r>
                        <a:rPr lang="en" sz="900">
                          <a:solidFill>
                            <a:schemeClr val="dk1"/>
                          </a:solidFill>
                        </a:rPr>
                        <a:t>h</a:t>
                      </a:r>
                      <a:r>
                        <a:rPr baseline="-25000" lang="en" sz="900">
                          <a:solidFill>
                            <a:schemeClr val="dk1"/>
                          </a:solidFill>
                        </a:rPr>
                        <a:t>pos</a:t>
                      </a:r>
                      <a:r>
                        <a:rPr lang="en" sz="900">
                          <a:solidFill>
                            <a:schemeClr val="dk1"/>
                          </a:solidFill>
                        </a:rPr>
                        <a:t> (all +1)</a:t>
                      </a:r>
                      <a:endParaRPr sz="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6700">
                <a:tc>
                  <a:txBody>
                    <a:bodyPr/>
                    <a:lstStyle/>
                    <a:p>
                      <a:pPr indent="0" lvl="0" marL="0" rtl="0" algn="l">
                        <a:spcBef>
                          <a:spcPts val="0"/>
                        </a:spcBef>
                        <a:spcAft>
                          <a:spcPts val="0"/>
                        </a:spcAft>
                        <a:buNone/>
                      </a:pPr>
                      <a:r>
                        <a:rPr lang="en" sz="900"/>
                        <a:t>h</a:t>
                      </a:r>
                      <a:r>
                        <a:rPr baseline="-25000" lang="en" sz="900"/>
                        <a:t>1</a:t>
                      </a:r>
                      <a:endParaRPr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89" name="Google Shape;1289;p87"/>
          <p:cNvSpPr txBox="1"/>
          <p:nvPr>
            <p:ph type="title"/>
          </p:nvPr>
        </p:nvSpPr>
        <p:spPr>
          <a:xfrm>
            <a:off x="2641350" y="458241"/>
            <a:ext cx="3861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Example: </a:t>
            </a:r>
            <a:r>
              <a:rPr lang="en" sz="2420"/>
              <a:t>Compute G</a:t>
            </a:r>
            <a:r>
              <a:rPr baseline="-25000" lang="en" sz="2420"/>
              <a:t>1</a:t>
            </a:r>
            <a:endParaRPr baseline="-25000" sz="2420"/>
          </a:p>
        </p:txBody>
      </p:sp>
      <p:sp>
        <p:nvSpPr>
          <p:cNvPr id="1290" name="Google Shape;1290;p87"/>
          <p:cNvSpPr txBox="1"/>
          <p:nvPr/>
        </p:nvSpPr>
        <p:spPr>
          <a:xfrm>
            <a:off x="3072000" y="441305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solidFill>
                <a:schemeClr val="dk1"/>
              </a:solidFill>
            </a:endParaRPr>
          </a:p>
        </p:txBody>
      </p:sp>
      <p:sp>
        <p:nvSpPr>
          <p:cNvPr id="1291" name="Google Shape;1291;p87"/>
          <p:cNvSpPr/>
          <p:nvPr/>
        </p:nvSpPr>
        <p:spPr>
          <a:xfrm>
            <a:off x="3223800" y="4299000"/>
            <a:ext cx="2696400" cy="4461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rPr>
              <a:t>G</a:t>
            </a:r>
            <a:r>
              <a:rPr baseline="-25000" lang="en">
                <a:solidFill>
                  <a:schemeClr val="dk1"/>
                </a:solidFill>
              </a:rPr>
              <a:t>1</a:t>
            </a:r>
            <a:r>
              <a:rPr lang="en">
                <a:solidFill>
                  <a:schemeClr val="dk1"/>
                </a:solidFill>
              </a:rPr>
              <a:t>(h) = ( |Q| / |S| ) · err</a:t>
            </a:r>
            <a:r>
              <a:rPr baseline="-25000" lang="en">
                <a:solidFill>
                  <a:schemeClr val="dk1"/>
                </a:solidFill>
              </a:rPr>
              <a:t>S</a:t>
            </a:r>
            <a:r>
              <a:rPr lang="en">
                <a:solidFill>
                  <a:schemeClr val="dk1"/>
                </a:solidFill>
              </a:rPr>
              <a:t>(h).</a:t>
            </a:r>
            <a:endParaRPr sz="1300">
              <a:solidFill>
                <a:schemeClr val="dk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cxnSp>
        <p:nvCxnSpPr>
          <p:cNvPr id="1296" name="Google Shape;1296;p88"/>
          <p:cNvCxnSpPr/>
          <p:nvPr/>
        </p:nvCxnSpPr>
        <p:spPr>
          <a:xfrm>
            <a:off x="1975960" y="1901728"/>
            <a:ext cx="5192100" cy="20700"/>
          </a:xfrm>
          <a:prstGeom prst="straightConnector1">
            <a:avLst/>
          </a:prstGeom>
          <a:noFill/>
          <a:ln cap="flat" cmpd="sng" w="28425">
            <a:solidFill>
              <a:schemeClr val="dk1"/>
            </a:solidFill>
            <a:prstDash val="solid"/>
            <a:round/>
            <a:headEnd len="med" w="med" type="none"/>
            <a:tailEnd len="med" w="med" type="none"/>
          </a:ln>
        </p:spPr>
      </p:cxnSp>
      <p:sp>
        <p:nvSpPr>
          <p:cNvPr id="1297" name="Google Shape;1297;p88"/>
          <p:cNvSpPr/>
          <p:nvPr/>
        </p:nvSpPr>
        <p:spPr>
          <a:xfrm>
            <a:off x="204016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298" name="Google Shape;1298;p88"/>
          <p:cNvSpPr txBox="1"/>
          <p:nvPr/>
        </p:nvSpPr>
        <p:spPr>
          <a:xfrm>
            <a:off x="1974375"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1</a:t>
            </a:r>
            <a:endParaRPr b="1" sz="1157">
              <a:solidFill>
                <a:schemeClr val="dk1"/>
              </a:solidFill>
            </a:endParaRPr>
          </a:p>
        </p:txBody>
      </p:sp>
      <p:sp>
        <p:nvSpPr>
          <p:cNvPr id="1299" name="Google Shape;1299;p88"/>
          <p:cNvSpPr/>
          <p:nvPr/>
        </p:nvSpPr>
        <p:spPr>
          <a:xfrm>
            <a:off x="2716550" y="1451720"/>
            <a:ext cx="328800" cy="320100"/>
          </a:xfrm>
          <a:prstGeom prst="ellipse">
            <a:avLst/>
          </a:prstGeom>
          <a:solidFill>
            <a:srgbClr val="F4CCCC"/>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00" name="Google Shape;1300;p88"/>
          <p:cNvSpPr txBox="1"/>
          <p:nvPr/>
        </p:nvSpPr>
        <p:spPr>
          <a:xfrm>
            <a:off x="2650757"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2</a:t>
            </a:r>
            <a:endParaRPr b="1" sz="1157">
              <a:solidFill>
                <a:schemeClr val="dk1"/>
              </a:solidFill>
            </a:endParaRPr>
          </a:p>
        </p:txBody>
      </p:sp>
      <p:sp>
        <p:nvSpPr>
          <p:cNvPr id="1301" name="Google Shape;1301;p88"/>
          <p:cNvSpPr/>
          <p:nvPr/>
        </p:nvSpPr>
        <p:spPr>
          <a:xfrm>
            <a:off x="3392940"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02" name="Google Shape;1302;p88"/>
          <p:cNvSpPr txBox="1"/>
          <p:nvPr/>
        </p:nvSpPr>
        <p:spPr>
          <a:xfrm>
            <a:off x="332714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3</a:t>
            </a:r>
            <a:endParaRPr b="1" sz="1157">
              <a:solidFill>
                <a:schemeClr val="dk1"/>
              </a:solidFill>
            </a:endParaRPr>
          </a:p>
        </p:txBody>
      </p:sp>
      <p:sp>
        <p:nvSpPr>
          <p:cNvPr id="1303" name="Google Shape;1303;p88"/>
          <p:cNvSpPr/>
          <p:nvPr/>
        </p:nvSpPr>
        <p:spPr>
          <a:xfrm>
            <a:off x="406932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04" name="Google Shape;1304;p88"/>
          <p:cNvSpPr txBox="1"/>
          <p:nvPr/>
        </p:nvSpPr>
        <p:spPr>
          <a:xfrm>
            <a:off x="400353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4</a:t>
            </a:r>
            <a:endParaRPr b="1" sz="1157">
              <a:solidFill>
                <a:schemeClr val="dk1"/>
              </a:solidFill>
            </a:endParaRPr>
          </a:p>
        </p:txBody>
      </p:sp>
      <p:sp>
        <p:nvSpPr>
          <p:cNvPr id="1305" name="Google Shape;1305;p88"/>
          <p:cNvSpPr/>
          <p:nvPr/>
        </p:nvSpPr>
        <p:spPr>
          <a:xfrm>
            <a:off x="4745729"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06" name="Google Shape;1306;p88"/>
          <p:cNvSpPr txBox="1"/>
          <p:nvPr/>
        </p:nvSpPr>
        <p:spPr>
          <a:xfrm>
            <a:off x="4679935"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5</a:t>
            </a:r>
            <a:endParaRPr b="1" sz="1157">
              <a:solidFill>
                <a:schemeClr val="dk1"/>
              </a:solidFill>
            </a:endParaRPr>
          </a:p>
        </p:txBody>
      </p:sp>
      <p:sp>
        <p:nvSpPr>
          <p:cNvPr id="1307" name="Google Shape;1307;p88"/>
          <p:cNvSpPr/>
          <p:nvPr/>
        </p:nvSpPr>
        <p:spPr>
          <a:xfrm>
            <a:off x="5422110"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08" name="Google Shape;1308;p88"/>
          <p:cNvSpPr txBox="1"/>
          <p:nvPr/>
        </p:nvSpPr>
        <p:spPr>
          <a:xfrm>
            <a:off x="5356317"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6</a:t>
            </a:r>
            <a:endParaRPr b="1" sz="1157">
              <a:solidFill>
                <a:schemeClr val="dk1"/>
              </a:solidFill>
            </a:endParaRPr>
          </a:p>
        </p:txBody>
      </p:sp>
      <p:sp>
        <p:nvSpPr>
          <p:cNvPr id="1309" name="Google Shape;1309;p88"/>
          <p:cNvSpPr/>
          <p:nvPr/>
        </p:nvSpPr>
        <p:spPr>
          <a:xfrm>
            <a:off x="6098493"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10" name="Google Shape;1310;p88"/>
          <p:cNvSpPr txBox="1"/>
          <p:nvPr/>
        </p:nvSpPr>
        <p:spPr>
          <a:xfrm>
            <a:off x="6032700" y="1496688"/>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7</a:t>
            </a:r>
            <a:endParaRPr b="1" sz="1157">
              <a:solidFill>
                <a:schemeClr val="dk1"/>
              </a:solidFill>
            </a:endParaRPr>
          </a:p>
        </p:txBody>
      </p:sp>
      <p:sp>
        <p:nvSpPr>
          <p:cNvPr id="1311" name="Google Shape;1311;p88"/>
          <p:cNvSpPr/>
          <p:nvPr/>
        </p:nvSpPr>
        <p:spPr>
          <a:xfrm>
            <a:off x="6774877"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12" name="Google Shape;1312;p88"/>
          <p:cNvSpPr txBox="1"/>
          <p:nvPr/>
        </p:nvSpPr>
        <p:spPr>
          <a:xfrm>
            <a:off x="6709083"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8</a:t>
            </a:r>
            <a:endParaRPr b="1" sz="1157">
              <a:solidFill>
                <a:schemeClr val="dk1"/>
              </a:solidFill>
            </a:endParaRPr>
          </a:p>
        </p:txBody>
      </p:sp>
      <p:sp>
        <p:nvSpPr>
          <p:cNvPr id="1313" name="Google Shape;1313;p88"/>
          <p:cNvSpPr txBox="1"/>
          <p:nvPr>
            <p:ph type="title"/>
          </p:nvPr>
        </p:nvSpPr>
        <p:spPr>
          <a:xfrm>
            <a:off x="2049564"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4" name="Google Shape;1314;p88"/>
          <p:cNvSpPr txBox="1"/>
          <p:nvPr>
            <p:ph type="title"/>
          </p:nvPr>
        </p:nvSpPr>
        <p:spPr>
          <a:xfrm>
            <a:off x="2725948"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5" name="Google Shape;1315;p88"/>
          <p:cNvSpPr txBox="1"/>
          <p:nvPr>
            <p:ph type="title"/>
          </p:nvPr>
        </p:nvSpPr>
        <p:spPr>
          <a:xfrm>
            <a:off x="3402332"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6" name="Google Shape;1316;p88"/>
          <p:cNvSpPr txBox="1"/>
          <p:nvPr>
            <p:ph type="title"/>
          </p:nvPr>
        </p:nvSpPr>
        <p:spPr>
          <a:xfrm>
            <a:off x="4078716"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7" name="Google Shape;1317;p88"/>
          <p:cNvSpPr txBox="1"/>
          <p:nvPr>
            <p:ph type="title"/>
          </p:nvPr>
        </p:nvSpPr>
        <p:spPr>
          <a:xfrm>
            <a:off x="4755100"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8" name="Google Shape;1318;p88"/>
          <p:cNvSpPr txBox="1"/>
          <p:nvPr>
            <p:ph type="title"/>
          </p:nvPr>
        </p:nvSpPr>
        <p:spPr>
          <a:xfrm>
            <a:off x="5431483"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19" name="Google Shape;1319;p88"/>
          <p:cNvSpPr txBox="1"/>
          <p:nvPr>
            <p:ph type="title"/>
          </p:nvPr>
        </p:nvSpPr>
        <p:spPr>
          <a:xfrm>
            <a:off x="6107867"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20" name="Google Shape;1320;p88"/>
          <p:cNvSpPr txBox="1"/>
          <p:nvPr>
            <p:ph type="title"/>
          </p:nvPr>
        </p:nvSpPr>
        <p:spPr>
          <a:xfrm>
            <a:off x="6784251"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graphicFrame>
        <p:nvGraphicFramePr>
          <p:cNvPr id="1321" name="Google Shape;1321;p88"/>
          <p:cNvGraphicFramePr/>
          <p:nvPr/>
        </p:nvGraphicFramePr>
        <p:xfrm>
          <a:off x="1676400" y="2246825"/>
          <a:ext cx="3000000" cy="3000000"/>
        </p:xfrm>
        <a:graphic>
          <a:graphicData uri="http://schemas.openxmlformats.org/drawingml/2006/table">
            <a:tbl>
              <a:tblPr>
                <a:noFill/>
                <a:tableStyleId>{C2A80A2D-5547-4B00-81EF-F7A111BEE14F}</a:tableStyleId>
              </a:tblPr>
              <a:tblGrid>
                <a:gridCol w="1447800"/>
                <a:gridCol w="1447800"/>
                <a:gridCol w="1447800"/>
                <a:gridCol w="1447800"/>
              </a:tblGrid>
              <a:tr h="256475">
                <a:tc>
                  <a:txBody>
                    <a:bodyPr/>
                    <a:lstStyle/>
                    <a:p>
                      <a:pPr indent="0" lvl="0" marL="0" rtl="0" algn="l">
                        <a:lnSpc>
                          <a:spcPct val="115000"/>
                        </a:lnSpc>
                        <a:spcBef>
                          <a:spcPts val="0"/>
                        </a:spcBef>
                        <a:spcAft>
                          <a:spcPts val="0"/>
                        </a:spcAft>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None/>
                      </a:pPr>
                      <a:r>
                        <a:rPr b="1" lang="en" sz="900"/>
                        <a:t>True err</a:t>
                      </a:r>
                      <a:r>
                        <a:rPr b="1" baseline="-25000" lang="en" sz="900"/>
                        <a:t>P</a:t>
                      </a:r>
                      <a:r>
                        <a:rPr b="1" lang="en" sz="900"/>
                        <a:t>(</a:t>
                      </a:r>
                      <a:r>
                        <a:rPr b="1" lang="en" sz="900">
                          <a:solidFill>
                            <a:schemeClr val="dk1"/>
                          </a:solidFill>
                        </a:rPr>
                        <a:t>h</a:t>
                      </a:r>
                      <a:r>
                        <a:rPr b="1" baseline="-25000" lang="en" sz="900">
                          <a:solidFill>
                            <a:schemeClr val="dk1"/>
                          </a:solidFill>
                        </a:rPr>
                        <a:t>τ</a:t>
                      </a:r>
                      <a:r>
                        <a:rPr b="1" lang="en" sz="900"/>
                        <a:t>)</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err</a:t>
                      </a:r>
                      <a:r>
                        <a:rPr b="1" baseline="-25000" lang="en" sz="900"/>
                        <a:t>S1</a:t>
                      </a:r>
                      <a:r>
                        <a:rPr b="1" lang="en" sz="900"/>
                        <a:t>h</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G</a:t>
                      </a:r>
                      <a:r>
                        <a:rPr b="1" baseline="-25000" lang="en" sz="900"/>
                        <a:t>1</a:t>
                      </a:r>
                      <a:endParaRPr b="1"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266700">
                <a:tc>
                  <a:txBody>
                    <a:bodyPr/>
                    <a:lstStyle/>
                    <a:p>
                      <a:pPr indent="0" lvl="0" marL="0" rtl="0" algn="l">
                        <a:spcBef>
                          <a:spcPts val="0"/>
                        </a:spcBef>
                        <a:spcAft>
                          <a:spcPts val="0"/>
                        </a:spcAft>
                        <a:buNone/>
                      </a:pPr>
                      <a:r>
                        <a:rPr lang="en" sz="900"/>
                        <a:t>h</a:t>
                      </a:r>
                      <a:r>
                        <a:rPr baseline="-25000" lang="en" sz="900"/>
                        <a:t>5</a:t>
                      </a:r>
                      <a:endParaRPr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6</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5.33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8</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5.33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22" name="Google Shape;1322;p88"/>
          <p:cNvSpPr txBox="1"/>
          <p:nvPr>
            <p:ph type="title"/>
          </p:nvPr>
        </p:nvSpPr>
        <p:spPr>
          <a:xfrm>
            <a:off x="2641350" y="458241"/>
            <a:ext cx="3861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420"/>
              <a:t>Example: </a:t>
            </a:r>
            <a:r>
              <a:rPr lang="en" sz="2420"/>
              <a:t>Compute G</a:t>
            </a:r>
            <a:r>
              <a:rPr baseline="-25000" lang="en" sz="2420"/>
              <a:t>1</a:t>
            </a:r>
            <a:endParaRPr baseline="-25000" sz="2420"/>
          </a:p>
        </p:txBody>
      </p:sp>
      <p:sp>
        <p:nvSpPr>
          <p:cNvPr id="1323" name="Google Shape;1323;p88"/>
          <p:cNvSpPr/>
          <p:nvPr/>
        </p:nvSpPr>
        <p:spPr>
          <a:xfrm>
            <a:off x="3223800" y="4299000"/>
            <a:ext cx="2696400" cy="4461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rPr>
              <a:t>G</a:t>
            </a:r>
            <a:r>
              <a:rPr baseline="-25000" lang="en">
                <a:solidFill>
                  <a:schemeClr val="dk1"/>
                </a:solidFill>
              </a:rPr>
              <a:t>1</a:t>
            </a:r>
            <a:r>
              <a:rPr lang="en">
                <a:solidFill>
                  <a:schemeClr val="dk1"/>
                </a:solidFill>
              </a:rPr>
              <a:t>(h) = ( |Q| / |S| ) · err</a:t>
            </a:r>
            <a:r>
              <a:rPr baseline="-25000" lang="en">
                <a:solidFill>
                  <a:schemeClr val="dk1"/>
                </a:solidFill>
              </a:rPr>
              <a:t>S</a:t>
            </a:r>
            <a:r>
              <a:rPr lang="en">
                <a:solidFill>
                  <a:schemeClr val="dk1"/>
                </a:solidFill>
              </a:rPr>
              <a:t>(h).</a:t>
            </a:r>
            <a:endParaRPr sz="1300">
              <a:solidFill>
                <a:schemeClr val="dk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89"/>
          <p:cNvSpPr txBox="1"/>
          <p:nvPr>
            <p:ph type="title"/>
          </p:nvPr>
        </p:nvSpPr>
        <p:spPr>
          <a:xfrm>
            <a:off x="2022013" y="451025"/>
            <a:ext cx="51000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a:t>Step 2: Splitting P into 3 Parts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ctr">
              <a:spcBef>
                <a:spcPts val="0"/>
              </a:spcBef>
              <a:spcAft>
                <a:spcPts val="0"/>
              </a:spcAft>
              <a:buNone/>
            </a:pPr>
            <a:r>
              <a:t/>
            </a:r>
            <a:endParaRPr/>
          </a:p>
        </p:txBody>
      </p:sp>
      <p:sp>
        <p:nvSpPr>
          <p:cNvPr id="1329" name="Google Shape;1329;p89"/>
          <p:cNvSpPr txBox="1"/>
          <p:nvPr/>
        </p:nvSpPr>
        <p:spPr>
          <a:xfrm>
            <a:off x="1910850" y="21639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
        <p:nvSpPr>
          <p:cNvPr id="1330" name="Google Shape;1330;p89"/>
          <p:cNvSpPr txBox="1"/>
          <p:nvPr/>
        </p:nvSpPr>
        <p:spPr>
          <a:xfrm>
            <a:off x="665550" y="1506375"/>
            <a:ext cx="4821300" cy="174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dk1"/>
                </a:solidFill>
              </a:rPr>
              <a:t>The purpose of G</a:t>
            </a:r>
            <a:r>
              <a:rPr baseline="-25000" lang="en" sz="1500">
                <a:solidFill>
                  <a:schemeClr val="dk1"/>
                </a:solidFill>
              </a:rPr>
              <a:t>1</a:t>
            </a:r>
            <a:r>
              <a:rPr lang="en" sz="1500">
                <a:solidFill>
                  <a:schemeClr val="dk1"/>
                </a:solidFill>
              </a:rPr>
              <a:t> is to </a:t>
            </a:r>
            <a:r>
              <a:rPr b="1" lang="en" sz="1500">
                <a:solidFill>
                  <a:schemeClr val="dk1"/>
                </a:solidFill>
              </a:rPr>
              <a:t>identify</a:t>
            </a:r>
            <a:r>
              <a:rPr b="1" lang="en" sz="1500">
                <a:solidFill>
                  <a:schemeClr val="dk1"/>
                </a:solidFill>
              </a:rPr>
              <a:t> where the error function transitions </a:t>
            </a:r>
            <a:r>
              <a:rPr b="1" lang="en" sz="1500">
                <a:solidFill>
                  <a:schemeClr val="dk1"/>
                </a:solidFill>
              </a:rPr>
              <a:t>through</a:t>
            </a:r>
            <a:r>
              <a:rPr b="1" lang="en" sz="1500">
                <a:solidFill>
                  <a:schemeClr val="dk1"/>
                </a:solidFill>
              </a:rPr>
              <a:t> the value |P| / 4. </a:t>
            </a:r>
            <a:endParaRPr b="1" sz="1500">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rPr>
              <a:t>Define:</a:t>
            </a:r>
            <a:br>
              <a:rPr lang="en" sz="1500">
                <a:solidFill>
                  <a:schemeClr val="dk1"/>
                </a:solidFill>
              </a:rPr>
            </a:br>
            <a:r>
              <a:rPr lang="en" sz="1500">
                <a:solidFill>
                  <a:schemeClr val="dk1"/>
                </a:solidFill>
              </a:rPr>
              <a:t>α = smallest τ ∈ P ∪ {−∞} with G</a:t>
            </a:r>
            <a:r>
              <a:rPr baseline="-25000" lang="en" sz="1500">
                <a:solidFill>
                  <a:schemeClr val="dk1"/>
                </a:solidFill>
              </a:rPr>
              <a:t>1</a:t>
            </a:r>
            <a:r>
              <a:rPr lang="en" sz="1500">
                <a:solidFill>
                  <a:schemeClr val="dk1"/>
                </a:solidFill>
              </a:rPr>
              <a:t>(h</a:t>
            </a:r>
            <a:r>
              <a:rPr baseline="-25000" lang="en" sz="1500">
                <a:solidFill>
                  <a:schemeClr val="dk1"/>
                </a:solidFill>
              </a:rPr>
              <a:t>τ</a:t>
            </a:r>
            <a:r>
              <a:rPr lang="en" sz="1500">
                <a:solidFill>
                  <a:schemeClr val="dk1"/>
                </a:solidFill>
              </a:rPr>
              <a:t> ) &lt; |P| (1/4 − ε/64)</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500">
                <a:solidFill>
                  <a:schemeClr val="dk1"/>
                </a:solidFill>
              </a:rPr>
              <a:t>β = largest τ ∈ P ∪ {−∞} with G</a:t>
            </a:r>
            <a:r>
              <a:rPr baseline="-25000" lang="en" sz="1500">
                <a:solidFill>
                  <a:schemeClr val="dk1"/>
                </a:solidFill>
              </a:rPr>
              <a:t>1</a:t>
            </a:r>
            <a:r>
              <a:rPr lang="en" sz="1500">
                <a:solidFill>
                  <a:schemeClr val="dk1"/>
                </a:solidFill>
              </a:rPr>
              <a:t>(h</a:t>
            </a:r>
            <a:r>
              <a:rPr baseline="-25000" lang="en" sz="1500">
                <a:solidFill>
                  <a:schemeClr val="dk1"/>
                </a:solidFill>
              </a:rPr>
              <a:t>τ</a:t>
            </a:r>
            <a:r>
              <a:rPr lang="en" sz="1500">
                <a:solidFill>
                  <a:schemeClr val="dk1"/>
                </a:solidFill>
              </a:rPr>
              <a:t> )  &lt; |P| (1/4 − ε/64)</a:t>
            </a:r>
            <a:endParaRPr sz="1500">
              <a:solidFill>
                <a:schemeClr val="dk1"/>
              </a:solidFill>
            </a:endParaRPr>
          </a:p>
        </p:txBody>
      </p:sp>
      <p:sp>
        <p:nvSpPr>
          <p:cNvPr id="1331" name="Google Shape;1331;p89"/>
          <p:cNvSpPr/>
          <p:nvPr/>
        </p:nvSpPr>
        <p:spPr>
          <a:xfrm>
            <a:off x="5821031" y="1506374"/>
            <a:ext cx="2705100" cy="5727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990000"/>
                </a:solidFill>
              </a:rPr>
              <a:t>P</a:t>
            </a:r>
            <a:r>
              <a:rPr b="1" baseline="-25000" lang="en" sz="1500">
                <a:solidFill>
                  <a:srgbClr val="990000"/>
                </a:solidFill>
              </a:rPr>
              <a:t>α</a:t>
            </a:r>
            <a:r>
              <a:rPr b="1" lang="en" sz="1500">
                <a:solidFill>
                  <a:srgbClr val="990000"/>
                </a:solidFill>
              </a:rPr>
              <a:t> = {p ∈ P : p = α}</a:t>
            </a:r>
            <a:endParaRPr sz="1500">
              <a:solidFill>
                <a:srgbClr val="990000"/>
              </a:solidFill>
            </a:endParaRPr>
          </a:p>
        </p:txBody>
      </p:sp>
      <p:sp>
        <p:nvSpPr>
          <p:cNvPr id="1332" name="Google Shape;1332;p89"/>
          <p:cNvSpPr/>
          <p:nvPr/>
        </p:nvSpPr>
        <p:spPr>
          <a:xfrm>
            <a:off x="5821031" y="2433437"/>
            <a:ext cx="2705100" cy="5727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F1C232"/>
                </a:solidFill>
              </a:rPr>
              <a:t>P</a:t>
            </a:r>
            <a:r>
              <a:rPr b="1" baseline="-25000" lang="en" sz="1500">
                <a:solidFill>
                  <a:srgbClr val="F1C232"/>
                </a:solidFill>
              </a:rPr>
              <a:t>mid</a:t>
            </a:r>
            <a:r>
              <a:rPr b="1" lang="en" sz="1500">
                <a:solidFill>
                  <a:srgbClr val="F1C232"/>
                </a:solidFill>
              </a:rPr>
              <a:t> = {p ∈ P : α &lt; p ≤ β}</a:t>
            </a:r>
            <a:endParaRPr sz="1500">
              <a:solidFill>
                <a:srgbClr val="F1C232"/>
              </a:solidFill>
            </a:endParaRPr>
          </a:p>
        </p:txBody>
      </p:sp>
      <p:sp>
        <p:nvSpPr>
          <p:cNvPr id="1333" name="Google Shape;1333;p89"/>
          <p:cNvSpPr/>
          <p:nvPr/>
        </p:nvSpPr>
        <p:spPr>
          <a:xfrm>
            <a:off x="5821031" y="3360499"/>
            <a:ext cx="2705100" cy="572700"/>
          </a:xfrm>
          <a:prstGeom prst="roundRect">
            <a:avLst>
              <a:gd fmla="val 10737"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3D85C6"/>
                </a:solidFill>
              </a:rPr>
              <a:t>P</a:t>
            </a:r>
            <a:r>
              <a:rPr b="1" baseline="-25000" lang="en" sz="1500">
                <a:solidFill>
                  <a:srgbClr val="3D85C6"/>
                </a:solidFill>
              </a:rPr>
              <a:t>rest</a:t>
            </a:r>
            <a:r>
              <a:rPr b="1" lang="en" sz="1500">
                <a:solidFill>
                  <a:srgbClr val="3D85C6"/>
                </a:solidFill>
              </a:rPr>
              <a:t> = P \ (</a:t>
            </a:r>
            <a:r>
              <a:rPr b="1" lang="en" sz="1500">
                <a:solidFill>
                  <a:srgbClr val="3D85C6"/>
                </a:solidFill>
              </a:rPr>
              <a:t>P</a:t>
            </a:r>
            <a:r>
              <a:rPr b="1" baseline="-25000" lang="en" sz="1500">
                <a:solidFill>
                  <a:srgbClr val="3D85C6"/>
                </a:solidFill>
              </a:rPr>
              <a:t>α</a:t>
            </a:r>
            <a:r>
              <a:rPr b="1" lang="en" sz="1500">
                <a:solidFill>
                  <a:srgbClr val="3D85C6"/>
                </a:solidFill>
              </a:rPr>
              <a:t> ∪ </a:t>
            </a:r>
            <a:r>
              <a:rPr b="1" lang="en" sz="1500">
                <a:solidFill>
                  <a:srgbClr val="3D85C6"/>
                </a:solidFill>
              </a:rPr>
              <a:t>P</a:t>
            </a:r>
            <a:r>
              <a:rPr b="1" baseline="-25000" lang="en" sz="1500">
                <a:solidFill>
                  <a:srgbClr val="3D85C6"/>
                </a:solidFill>
              </a:rPr>
              <a:t>mid</a:t>
            </a:r>
            <a:r>
              <a:rPr b="1" lang="en" sz="1500">
                <a:solidFill>
                  <a:srgbClr val="3D85C6"/>
                </a:solidFill>
              </a:rPr>
              <a:t>)</a:t>
            </a:r>
            <a:endParaRPr sz="1500">
              <a:solidFill>
                <a:srgbClr val="3D85C6"/>
              </a:solidFill>
            </a:endParaRPr>
          </a:p>
        </p:txBody>
      </p:sp>
      <p:sp>
        <p:nvSpPr>
          <p:cNvPr id="1334" name="Google Shape;1334;p89"/>
          <p:cNvSpPr/>
          <p:nvPr/>
        </p:nvSpPr>
        <p:spPr>
          <a:xfrm>
            <a:off x="665550" y="3360500"/>
            <a:ext cx="4869000" cy="5727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38761D"/>
                </a:solidFill>
              </a:rPr>
              <a:t>|P</a:t>
            </a:r>
            <a:r>
              <a:rPr b="1" baseline="-25000" lang="en" sz="1500">
                <a:solidFill>
                  <a:srgbClr val="38761D"/>
                </a:solidFill>
              </a:rPr>
              <a:t>mid</a:t>
            </a:r>
            <a:r>
              <a:rPr b="1" lang="en" sz="1500">
                <a:solidFill>
                  <a:srgbClr val="38761D"/>
                </a:solidFill>
              </a:rPr>
              <a:t>| &lt; |P| / 2</a:t>
            </a:r>
            <a:endParaRPr b="1" sz="1500">
              <a:solidFill>
                <a:srgbClr val="38761D"/>
              </a:solidFill>
            </a:endParaRPr>
          </a:p>
        </p:txBody>
      </p:sp>
      <p:sp>
        <p:nvSpPr>
          <p:cNvPr id="1335" name="Google Shape;1335;p89"/>
          <p:cNvSpPr txBox="1"/>
          <p:nvPr/>
        </p:nvSpPr>
        <p:spPr>
          <a:xfrm>
            <a:off x="617925" y="3976700"/>
            <a:ext cx="48690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t>Each recursion halves P</a:t>
            </a:r>
            <a:r>
              <a:rPr baseline="-25000" lang="en" sz="1000"/>
              <a:t>mid.</a:t>
            </a:r>
            <a:r>
              <a:rPr lang="en" sz="1000"/>
              <a:t> After O(log n) levels, P</a:t>
            </a:r>
            <a:r>
              <a:rPr baseline="-25000" lang="en" sz="1000"/>
              <a:t>mid</a:t>
            </a:r>
            <a:r>
              <a:rPr lang="en" sz="1000"/>
              <a:t> = 1. Total recursion depth is bounded → algorithm terminates.</a:t>
            </a:r>
            <a:endParaRPr sz="10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cxnSp>
        <p:nvCxnSpPr>
          <p:cNvPr id="1340" name="Google Shape;1340;p90"/>
          <p:cNvCxnSpPr/>
          <p:nvPr/>
        </p:nvCxnSpPr>
        <p:spPr>
          <a:xfrm>
            <a:off x="1093338" y="2632803"/>
            <a:ext cx="6957300" cy="27600"/>
          </a:xfrm>
          <a:prstGeom prst="straightConnector1">
            <a:avLst/>
          </a:prstGeom>
          <a:noFill/>
          <a:ln cap="flat" cmpd="sng" w="38100">
            <a:solidFill>
              <a:schemeClr val="dk1"/>
            </a:solidFill>
            <a:prstDash val="solid"/>
            <a:round/>
            <a:headEnd len="med" w="med" type="none"/>
            <a:tailEnd len="med" w="med" type="none"/>
          </a:ln>
        </p:spPr>
      </p:cxnSp>
      <p:sp>
        <p:nvSpPr>
          <p:cNvPr id="1341" name="Google Shape;1341;p90"/>
          <p:cNvSpPr txBox="1"/>
          <p:nvPr>
            <p:ph type="title"/>
          </p:nvPr>
        </p:nvSpPr>
        <p:spPr>
          <a:xfrm>
            <a:off x="2625131" y="2996165"/>
            <a:ext cx="38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x-coordinate (1D, points sorted left to right)</a:t>
            </a:r>
            <a:endParaRPr sz="1200"/>
          </a:p>
        </p:txBody>
      </p:sp>
      <p:sp>
        <p:nvSpPr>
          <p:cNvPr id="1342" name="Google Shape;1342;p90"/>
          <p:cNvSpPr/>
          <p:nvPr/>
        </p:nvSpPr>
        <p:spPr>
          <a:xfrm>
            <a:off x="1179377" y="2029782"/>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43" name="Google Shape;1343;p90"/>
          <p:cNvSpPr txBox="1"/>
          <p:nvPr/>
        </p:nvSpPr>
        <p:spPr>
          <a:xfrm>
            <a:off x="1091213" y="209002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344" name="Google Shape;1344;p90"/>
          <p:cNvSpPr/>
          <p:nvPr/>
        </p:nvSpPr>
        <p:spPr>
          <a:xfrm>
            <a:off x="2085740" y="2029782"/>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45" name="Google Shape;1345;p90"/>
          <p:cNvSpPr txBox="1"/>
          <p:nvPr/>
        </p:nvSpPr>
        <p:spPr>
          <a:xfrm>
            <a:off x="1997576" y="209002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346" name="Google Shape;1346;p90"/>
          <p:cNvSpPr/>
          <p:nvPr/>
        </p:nvSpPr>
        <p:spPr>
          <a:xfrm>
            <a:off x="2992113" y="2029782"/>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47" name="Google Shape;1347;p90"/>
          <p:cNvSpPr txBox="1"/>
          <p:nvPr/>
        </p:nvSpPr>
        <p:spPr>
          <a:xfrm>
            <a:off x="2903948" y="209002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348" name="Google Shape;1348;p90"/>
          <p:cNvSpPr/>
          <p:nvPr/>
        </p:nvSpPr>
        <p:spPr>
          <a:xfrm>
            <a:off x="3898486" y="2029782"/>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49" name="Google Shape;1349;p90"/>
          <p:cNvSpPr txBox="1"/>
          <p:nvPr/>
        </p:nvSpPr>
        <p:spPr>
          <a:xfrm>
            <a:off x="3810321" y="209002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350" name="Google Shape;1350;p90"/>
          <p:cNvSpPr/>
          <p:nvPr/>
        </p:nvSpPr>
        <p:spPr>
          <a:xfrm>
            <a:off x="4804872" y="2029801"/>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51" name="Google Shape;1351;p90"/>
          <p:cNvSpPr txBox="1"/>
          <p:nvPr/>
        </p:nvSpPr>
        <p:spPr>
          <a:xfrm>
            <a:off x="4716707" y="20900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352" name="Google Shape;1352;p90"/>
          <p:cNvSpPr/>
          <p:nvPr/>
        </p:nvSpPr>
        <p:spPr>
          <a:xfrm>
            <a:off x="5711234" y="2029801"/>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53" name="Google Shape;1353;p90"/>
          <p:cNvSpPr txBox="1"/>
          <p:nvPr/>
        </p:nvSpPr>
        <p:spPr>
          <a:xfrm>
            <a:off x="5623070" y="20900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354" name="Google Shape;1354;p90"/>
          <p:cNvSpPr/>
          <p:nvPr/>
        </p:nvSpPr>
        <p:spPr>
          <a:xfrm>
            <a:off x="6617599" y="2029801"/>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55" name="Google Shape;1355;p90"/>
          <p:cNvSpPr txBox="1"/>
          <p:nvPr/>
        </p:nvSpPr>
        <p:spPr>
          <a:xfrm>
            <a:off x="6529434" y="20900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356" name="Google Shape;1356;p90"/>
          <p:cNvSpPr/>
          <p:nvPr/>
        </p:nvSpPr>
        <p:spPr>
          <a:xfrm>
            <a:off x="7523963" y="2029801"/>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357" name="Google Shape;1357;p90"/>
          <p:cNvSpPr txBox="1"/>
          <p:nvPr/>
        </p:nvSpPr>
        <p:spPr>
          <a:xfrm>
            <a:off x="7435799" y="20900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358" name="Google Shape;1358;p90"/>
          <p:cNvSpPr txBox="1"/>
          <p:nvPr>
            <p:ph type="title"/>
          </p:nvPr>
        </p:nvSpPr>
        <p:spPr>
          <a:xfrm>
            <a:off x="1191968"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59" name="Google Shape;1359;p90"/>
          <p:cNvSpPr txBox="1"/>
          <p:nvPr>
            <p:ph type="title"/>
          </p:nvPr>
        </p:nvSpPr>
        <p:spPr>
          <a:xfrm>
            <a:off x="2098333"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0" name="Google Shape;1360;p90"/>
          <p:cNvSpPr txBox="1"/>
          <p:nvPr>
            <p:ph type="title"/>
          </p:nvPr>
        </p:nvSpPr>
        <p:spPr>
          <a:xfrm>
            <a:off x="300469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1" name="Google Shape;1361;p90"/>
          <p:cNvSpPr txBox="1"/>
          <p:nvPr>
            <p:ph type="title"/>
          </p:nvPr>
        </p:nvSpPr>
        <p:spPr>
          <a:xfrm>
            <a:off x="391106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2" name="Google Shape;1362;p90"/>
          <p:cNvSpPr txBox="1"/>
          <p:nvPr>
            <p:ph type="title"/>
          </p:nvPr>
        </p:nvSpPr>
        <p:spPr>
          <a:xfrm>
            <a:off x="4817429"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3" name="Google Shape;1363;p90"/>
          <p:cNvSpPr txBox="1"/>
          <p:nvPr>
            <p:ph type="title"/>
          </p:nvPr>
        </p:nvSpPr>
        <p:spPr>
          <a:xfrm>
            <a:off x="5723794"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4" name="Google Shape;1364;p90"/>
          <p:cNvSpPr txBox="1"/>
          <p:nvPr>
            <p:ph type="title"/>
          </p:nvPr>
        </p:nvSpPr>
        <p:spPr>
          <a:xfrm>
            <a:off x="6630160"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5" name="Google Shape;1365;p90"/>
          <p:cNvSpPr txBox="1"/>
          <p:nvPr>
            <p:ph type="title"/>
          </p:nvPr>
        </p:nvSpPr>
        <p:spPr>
          <a:xfrm>
            <a:off x="7536525" y="161757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366" name="Google Shape;1366;p90"/>
          <p:cNvSpPr/>
          <p:nvPr/>
        </p:nvSpPr>
        <p:spPr>
          <a:xfrm>
            <a:off x="3004550" y="3657150"/>
            <a:ext cx="3124800" cy="572700"/>
          </a:xfrm>
          <a:prstGeom prst="roundRect">
            <a:avLst>
              <a:gd fmla="val 16741"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ctr">
              <a:lnSpc>
                <a:spcPct val="115000"/>
              </a:lnSpc>
              <a:spcBef>
                <a:spcPts val="0"/>
              </a:spcBef>
              <a:spcAft>
                <a:spcPts val="0"/>
              </a:spcAft>
              <a:buNone/>
            </a:pPr>
            <a:r>
              <a:rPr lang="en">
                <a:solidFill>
                  <a:srgbClr val="1C4587"/>
                </a:solidFill>
              </a:rPr>
              <a:t>Threshold = |P| (1/4 − ε/64) ≈ 1.94</a:t>
            </a:r>
            <a:endParaRPr>
              <a:solidFill>
                <a:srgbClr val="1C4587"/>
              </a:solidFill>
            </a:endParaRPr>
          </a:p>
        </p:txBody>
      </p:sp>
      <p:sp>
        <p:nvSpPr>
          <p:cNvPr id="1367" name="Google Shape;1367;p90"/>
          <p:cNvSpPr txBox="1"/>
          <p:nvPr>
            <p:ph type="title"/>
          </p:nvPr>
        </p:nvSpPr>
        <p:spPr>
          <a:xfrm>
            <a:off x="2572550" y="466125"/>
            <a:ext cx="3988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Calculate </a:t>
            </a:r>
            <a:r>
              <a:rPr lang="en" sz="2420"/>
              <a:t>Threshold</a:t>
            </a:r>
            <a:endParaRPr baseline="-25000" sz="242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cxnSp>
        <p:nvCxnSpPr>
          <p:cNvPr id="1372" name="Google Shape;1372;p91"/>
          <p:cNvCxnSpPr/>
          <p:nvPr/>
        </p:nvCxnSpPr>
        <p:spPr>
          <a:xfrm>
            <a:off x="1975960" y="1901728"/>
            <a:ext cx="5192100" cy="20700"/>
          </a:xfrm>
          <a:prstGeom prst="straightConnector1">
            <a:avLst/>
          </a:prstGeom>
          <a:noFill/>
          <a:ln cap="flat" cmpd="sng" w="28425">
            <a:solidFill>
              <a:schemeClr val="dk1"/>
            </a:solidFill>
            <a:prstDash val="solid"/>
            <a:round/>
            <a:headEnd len="med" w="med" type="none"/>
            <a:tailEnd len="med" w="med" type="none"/>
          </a:ln>
        </p:spPr>
      </p:cxnSp>
      <p:sp>
        <p:nvSpPr>
          <p:cNvPr id="1373" name="Google Shape;1373;p91"/>
          <p:cNvSpPr/>
          <p:nvPr/>
        </p:nvSpPr>
        <p:spPr>
          <a:xfrm>
            <a:off x="204016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74" name="Google Shape;1374;p91"/>
          <p:cNvSpPr txBox="1"/>
          <p:nvPr/>
        </p:nvSpPr>
        <p:spPr>
          <a:xfrm>
            <a:off x="1974375"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1</a:t>
            </a:r>
            <a:endParaRPr b="1" sz="1157">
              <a:solidFill>
                <a:schemeClr val="dk1"/>
              </a:solidFill>
            </a:endParaRPr>
          </a:p>
        </p:txBody>
      </p:sp>
      <p:sp>
        <p:nvSpPr>
          <p:cNvPr id="1375" name="Google Shape;1375;p91"/>
          <p:cNvSpPr/>
          <p:nvPr/>
        </p:nvSpPr>
        <p:spPr>
          <a:xfrm>
            <a:off x="2716550" y="1451720"/>
            <a:ext cx="328800" cy="320100"/>
          </a:xfrm>
          <a:prstGeom prst="ellipse">
            <a:avLst/>
          </a:prstGeom>
          <a:solidFill>
            <a:srgbClr val="F4CCCC"/>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76" name="Google Shape;1376;p91"/>
          <p:cNvSpPr txBox="1"/>
          <p:nvPr/>
        </p:nvSpPr>
        <p:spPr>
          <a:xfrm>
            <a:off x="2650757"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2</a:t>
            </a:r>
            <a:endParaRPr b="1" sz="1157">
              <a:solidFill>
                <a:schemeClr val="dk1"/>
              </a:solidFill>
            </a:endParaRPr>
          </a:p>
        </p:txBody>
      </p:sp>
      <p:sp>
        <p:nvSpPr>
          <p:cNvPr id="1377" name="Google Shape;1377;p91"/>
          <p:cNvSpPr/>
          <p:nvPr/>
        </p:nvSpPr>
        <p:spPr>
          <a:xfrm>
            <a:off x="3392940"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78" name="Google Shape;1378;p91"/>
          <p:cNvSpPr txBox="1"/>
          <p:nvPr/>
        </p:nvSpPr>
        <p:spPr>
          <a:xfrm>
            <a:off x="332714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3</a:t>
            </a:r>
            <a:endParaRPr b="1" sz="1157">
              <a:solidFill>
                <a:schemeClr val="dk1"/>
              </a:solidFill>
            </a:endParaRPr>
          </a:p>
        </p:txBody>
      </p:sp>
      <p:sp>
        <p:nvSpPr>
          <p:cNvPr id="1379" name="Google Shape;1379;p91"/>
          <p:cNvSpPr/>
          <p:nvPr/>
        </p:nvSpPr>
        <p:spPr>
          <a:xfrm>
            <a:off x="4069329" y="1451720"/>
            <a:ext cx="328800" cy="320100"/>
          </a:xfrm>
          <a:prstGeom prst="ellipse">
            <a:avLst/>
          </a:prstGeom>
          <a:solidFill>
            <a:srgbClr val="F4CCCC"/>
          </a:solidFill>
          <a:ln cap="flat" cmpd="sng" w="11025">
            <a:solidFill>
              <a:srgbClr val="CC0000"/>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80" name="Google Shape;1380;p91"/>
          <p:cNvSpPr txBox="1"/>
          <p:nvPr/>
        </p:nvSpPr>
        <p:spPr>
          <a:xfrm>
            <a:off x="4003536" y="1496673"/>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4</a:t>
            </a:r>
            <a:endParaRPr b="1" sz="1157">
              <a:solidFill>
                <a:schemeClr val="dk1"/>
              </a:solidFill>
            </a:endParaRPr>
          </a:p>
        </p:txBody>
      </p:sp>
      <p:sp>
        <p:nvSpPr>
          <p:cNvPr id="1381" name="Google Shape;1381;p91"/>
          <p:cNvSpPr/>
          <p:nvPr/>
        </p:nvSpPr>
        <p:spPr>
          <a:xfrm>
            <a:off x="4745729"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82" name="Google Shape;1382;p91"/>
          <p:cNvSpPr txBox="1"/>
          <p:nvPr/>
        </p:nvSpPr>
        <p:spPr>
          <a:xfrm>
            <a:off x="4679935"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5</a:t>
            </a:r>
            <a:endParaRPr b="1" sz="1157">
              <a:solidFill>
                <a:schemeClr val="dk1"/>
              </a:solidFill>
            </a:endParaRPr>
          </a:p>
        </p:txBody>
      </p:sp>
      <p:sp>
        <p:nvSpPr>
          <p:cNvPr id="1383" name="Google Shape;1383;p91"/>
          <p:cNvSpPr/>
          <p:nvPr/>
        </p:nvSpPr>
        <p:spPr>
          <a:xfrm>
            <a:off x="5422110"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84" name="Google Shape;1384;p91"/>
          <p:cNvSpPr txBox="1"/>
          <p:nvPr/>
        </p:nvSpPr>
        <p:spPr>
          <a:xfrm>
            <a:off x="5356317"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6</a:t>
            </a:r>
            <a:endParaRPr b="1" sz="1157">
              <a:solidFill>
                <a:schemeClr val="dk1"/>
              </a:solidFill>
            </a:endParaRPr>
          </a:p>
        </p:txBody>
      </p:sp>
      <p:sp>
        <p:nvSpPr>
          <p:cNvPr id="1385" name="Google Shape;1385;p91"/>
          <p:cNvSpPr/>
          <p:nvPr/>
        </p:nvSpPr>
        <p:spPr>
          <a:xfrm>
            <a:off x="6098493" y="1451734"/>
            <a:ext cx="328800" cy="320100"/>
          </a:xfrm>
          <a:prstGeom prst="ellipse">
            <a:avLst/>
          </a:prstGeom>
          <a:solidFill>
            <a:srgbClr val="B6D7A8"/>
          </a:solidFill>
          <a:ln cap="flat" cmpd="sng" w="28425">
            <a:solidFill>
              <a:srgbClr val="0000F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86" name="Google Shape;1386;p91"/>
          <p:cNvSpPr txBox="1"/>
          <p:nvPr/>
        </p:nvSpPr>
        <p:spPr>
          <a:xfrm>
            <a:off x="6032700" y="1496688"/>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7</a:t>
            </a:r>
            <a:endParaRPr b="1" sz="1157">
              <a:solidFill>
                <a:schemeClr val="dk1"/>
              </a:solidFill>
            </a:endParaRPr>
          </a:p>
        </p:txBody>
      </p:sp>
      <p:sp>
        <p:nvSpPr>
          <p:cNvPr id="1387" name="Google Shape;1387;p91"/>
          <p:cNvSpPr/>
          <p:nvPr/>
        </p:nvSpPr>
        <p:spPr>
          <a:xfrm>
            <a:off x="6774877" y="1451734"/>
            <a:ext cx="328800" cy="320100"/>
          </a:xfrm>
          <a:prstGeom prst="ellipse">
            <a:avLst/>
          </a:prstGeom>
          <a:solidFill>
            <a:srgbClr val="B6D7A8"/>
          </a:solidFill>
          <a:ln cap="flat" cmpd="sng" w="11025">
            <a:solidFill>
              <a:srgbClr val="6AA84F"/>
            </a:solidFill>
            <a:prstDash val="solid"/>
            <a:round/>
            <a:headEnd len="sm" w="sm" type="none"/>
            <a:tailEnd len="sm" w="sm" type="none"/>
          </a:ln>
        </p:spPr>
        <p:txBody>
          <a:bodyPr anchorCtr="0" anchor="ctr" bIns="105825" lIns="105825" spcFirstLastPara="1" rIns="105825" wrap="square" tIns="105825">
            <a:noAutofit/>
          </a:bodyPr>
          <a:lstStyle/>
          <a:p>
            <a:pPr indent="0" lvl="0" marL="0" rtl="0" algn="ctr">
              <a:lnSpc>
                <a:spcPct val="115000"/>
              </a:lnSpc>
              <a:spcBef>
                <a:spcPts val="0"/>
              </a:spcBef>
              <a:spcAft>
                <a:spcPts val="0"/>
              </a:spcAft>
              <a:buNone/>
            </a:pPr>
            <a:r>
              <a:t/>
            </a:r>
            <a:endParaRPr sz="1157"/>
          </a:p>
        </p:txBody>
      </p:sp>
      <p:sp>
        <p:nvSpPr>
          <p:cNvPr id="1388" name="Google Shape;1388;p91"/>
          <p:cNvSpPr txBox="1"/>
          <p:nvPr/>
        </p:nvSpPr>
        <p:spPr>
          <a:xfrm>
            <a:off x="6709083" y="1496687"/>
            <a:ext cx="460500" cy="230100"/>
          </a:xfrm>
          <a:prstGeom prst="rect">
            <a:avLst/>
          </a:prstGeom>
          <a:noFill/>
          <a:ln>
            <a:noFill/>
          </a:ln>
        </p:spPr>
        <p:txBody>
          <a:bodyPr anchorCtr="0" anchor="ctr" bIns="105825" lIns="105825" spcFirstLastPara="1" rIns="105825" wrap="square" tIns="105825">
            <a:noAutofit/>
          </a:bodyPr>
          <a:lstStyle/>
          <a:p>
            <a:pPr indent="0" lvl="0" marL="0" rtl="0" algn="ctr">
              <a:spcBef>
                <a:spcPts val="0"/>
              </a:spcBef>
              <a:spcAft>
                <a:spcPts val="0"/>
              </a:spcAft>
              <a:buNone/>
            </a:pPr>
            <a:r>
              <a:rPr b="1" lang="en" sz="1157">
                <a:solidFill>
                  <a:schemeClr val="dk1"/>
                </a:solidFill>
              </a:rPr>
              <a:t>8</a:t>
            </a:r>
            <a:endParaRPr b="1" sz="1157">
              <a:solidFill>
                <a:schemeClr val="dk1"/>
              </a:solidFill>
            </a:endParaRPr>
          </a:p>
        </p:txBody>
      </p:sp>
      <p:cxnSp>
        <p:nvCxnSpPr>
          <p:cNvPr id="1389" name="Google Shape;1389;p91"/>
          <p:cNvCxnSpPr/>
          <p:nvPr/>
        </p:nvCxnSpPr>
        <p:spPr>
          <a:xfrm flipH="1">
            <a:off x="4563126" y="1222843"/>
            <a:ext cx="10200" cy="865200"/>
          </a:xfrm>
          <a:prstGeom prst="straightConnector1">
            <a:avLst/>
          </a:prstGeom>
          <a:noFill/>
          <a:ln cap="flat" cmpd="sng" w="14225">
            <a:solidFill>
              <a:srgbClr val="F1C232"/>
            </a:solidFill>
            <a:prstDash val="dash"/>
            <a:round/>
            <a:headEnd len="med" w="med" type="none"/>
            <a:tailEnd len="med" w="med" type="none"/>
          </a:ln>
        </p:spPr>
      </p:cxnSp>
      <p:sp>
        <p:nvSpPr>
          <p:cNvPr id="1390" name="Google Shape;1390;p91"/>
          <p:cNvSpPr txBox="1"/>
          <p:nvPr>
            <p:ph type="title"/>
          </p:nvPr>
        </p:nvSpPr>
        <p:spPr>
          <a:xfrm>
            <a:off x="4192588" y="969451"/>
            <a:ext cx="7587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solidFill>
                  <a:srgbClr val="F1C232"/>
                </a:solidFill>
              </a:rPr>
              <a:t>h* = h₄</a:t>
            </a:r>
            <a:r>
              <a:rPr b="1" baseline="-25000" lang="en" sz="896">
                <a:solidFill>
                  <a:srgbClr val="F1C232"/>
                </a:solidFill>
              </a:rPr>
              <a:t>.5</a:t>
            </a:r>
            <a:endParaRPr b="1" sz="896">
              <a:solidFill>
                <a:srgbClr val="F1C232"/>
              </a:solidFill>
            </a:endParaRPr>
          </a:p>
        </p:txBody>
      </p:sp>
      <p:sp>
        <p:nvSpPr>
          <p:cNvPr id="1391" name="Google Shape;1391;p91"/>
          <p:cNvSpPr txBox="1"/>
          <p:nvPr>
            <p:ph type="title"/>
          </p:nvPr>
        </p:nvSpPr>
        <p:spPr>
          <a:xfrm>
            <a:off x="2049564"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2" name="Google Shape;1392;p91"/>
          <p:cNvSpPr txBox="1"/>
          <p:nvPr>
            <p:ph type="title"/>
          </p:nvPr>
        </p:nvSpPr>
        <p:spPr>
          <a:xfrm>
            <a:off x="2725948"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3" name="Google Shape;1393;p91"/>
          <p:cNvSpPr txBox="1"/>
          <p:nvPr>
            <p:ph type="title"/>
          </p:nvPr>
        </p:nvSpPr>
        <p:spPr>
          <a:xfrm>
            <a:off x="3402332"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4" name="Google Shape;1394;p91"/>
          <p:cNvSpPr txBox="1"/>
          <p:nvPr>
            <p:ph type="title"/>
          </p:nvPr>
        </p:nvSpPr>
        <p:spPr>
          <a:xfrm>
            <a:off x="4078716"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5" name="Google Shape;1395;p91"/>
          <p:cNvSpPr txBox="1"/>
          <p:nvPr>
            <p:ph type="title"/>
          </p:nvPr>
        </p:nvSpPr>
        <p:spPr>
          <a:xfrm>
            <a:off x="4755100"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6" name="Google Shape;1396;p91"/>
          <p:cNvSpPr txBox="1"/>
          <p:nvPr>
            <p:ph type="title"/>
          </p:nvPr>
        </p:nvSpPr>
        <p:spPr>
          <a:xfrm>
            <a:off x="5431483"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7" name="Google Shape;1397;p91"/>
          <p:cNvSpPr txBox="1"/>
          <p:nvPr>
            <p:ph type="title"/>
          </p:nvPr>
        </p:nvSpPr>
        <p:spPr>
          <a:xfrm>
            <a:off x="6107867"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sp>
        <p:nvSpPr>
          <p:cNvPr id="1398" name="Google Shape;1398;p91"/>
          <p:cNvSpPr txBox="1"/>
          <p:nvPr>
            <p:ph type="title"/>
          </p:nvPr>
        </p:nvSpPr>
        <p:spPr>
          <a:xfrm>
            <a:off x="6784251" y="1144111"/>
            <a:ext cx="310200" cy="270000"/>
          </a:xfrm>
          <a:prstGeom prst="rect">
            <a:avLst/>
          </a:prstGeom>
        </p:spPr>
        <p:txBody>
          <a:bodyPr anchorCtr="0" anchor="t" bIns="68225" lIns="68225" spcFirstLastPara="1" rIns="68225" wrap="square" tIns="68225">
            <a:noAutofit/>
          </a:bodyPr>
          <a:lstStyle/>
          <a:p>
            <a:pPr indent="0" lvl="0" marL="0" rtl="0" algn="ctr">
              <a:lnSpc>
                <a:spcPct val="115000"/>
              </a:lnSpc>
              <a:spcBef>
                <a:spcPts val="0"/>
              </a:spcBef>
              <a:spcAft>
                <a:spcPts val="0"/>
              </a:spcAft>
              <a:buNone/>
            </a:pPr>
            <a:r>
              <a:rPr b="1" lang="en" sz="896"/>
              <a:t>+1</a:t>
            </a:r>
            <a:endParaRPr b="1" sz="896"/>
          </a:p>
        </p:txBody>
      </p:sp>
      <p:graphicFrame>
        <p:nvGraphicFramePr>
          <p:cNvPr id="1399" name="Google Shape;1399;p91"/>
          <p:cNvGraphicFramePr/>
          <p:nvPr/>
        </p:nvGraphicFramePr>
        <p:xfrm>
          <a:off x="952500" y="2254050"/>
          <a:ext cx="3000000" cy="3000000"/>
        </p:xfrm>
        <a:graphic>
          <a:graphicData uri="http://schemas.openxmlformats.org/drawingml/2006/table">
            <a:tbl>
              <a:tblPr>
                <a:noFill/>
                <a:tableStyleId>{C2A80A2D-5547-4B00-81EF-F7A111BEE14F}</a:tableStyleId>
              </a:tblPr>
              <a:tblGrid>
                <a:gridCol w="1447800"/>
                <a:gridCol w="1447800"/>
                <a:gridCol w="1447800"/>
                <a:gridCol w="1447800"/>
                <a:gridCol w="1447800"/>
              </a:tblGrid>
              <a:tr h="256475">
                <a:tc>
                  <a:txBody>
                    <a:bodyPr/>
                    <a:lstStyle/>
                    <a:p>
                      <a:pPr indent="0" lvl="0" marL="0" rtl="0" algn="l">
                        <a:lnSpc>
                          <a:spcPct val="115000"/>
                        </a:lnSpc>
                        <a:spcBef>
                          <a:spcPts val="0"/>
                        </a:spcBef>
                        <a:spcAft>
                          <a:spcPts val="0"/>
                        </a:spcAft>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None/>
                      </a:pPr>
                      <a:r>
                        <a:rPr b="1" lang="en" sz="900">
                          <a:solidFill>
                            <a:schemeClr val="dk1"/>
                          </a:solidFill>
                        </a:rPr>
                        <a:t>True err</a:t>
                      </a:r>
                      <a:r>
                        <a:rPr b="1" baseline="-25000" lang="en" sz="900">
                          <a:solidFill>
                            <a:schemeClr val="dk1"/>
                          </a:solidFill>
                        </a:rPr>
                        <a:t>P</a:t>
                      </a:r>
                      <a:r>
                        <a:rPr b="1" lang="en" sz="900">
                          <a:solidFill>
                            <a:schemeClr val="dk1"/>
                          </a:solidFill>
                        </a:rPr>
                        <a:t>(h</a:t>
                      </a:r>
                      <a:r>
                        <a:rPr b="1" baseline="-25000" lang="en" sz="900">
                          <a:solidFill>
                            <a:schemeClr val="dk1"/>
                          </a:solidFill>
                        </a:rPr>
                        <a:t>τ</a:t>
                      </a:r>
                      <a:r>
                        <a:rPr b="1" lang="en" sz="900">
                          <a:solidFill>
                            <a:schemeClr val="dk1"/>
                          </a:solidFill>
                        </a:rPr>
                        <a:t>)</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err</a:t>
                      </a:r>
                      <a:r>
                        <a:rPr b="1" baseline="-25000" lang="en" sz="900"/>
                        <a:t>S1</a:t>
                      </a:r>
                      <a:r>
                        <a:rPr b="1" lang="en" sz="900"/>
                        <a:t>h</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G</a:t>
                      </a:r>
                      <a:r>
                        <a:rPr b="1" baseline="-25000" lang="en" sz="900"/>
                        <a:t>1</a:t>
                      </a:r>
                      <a:endParaRPr b="1"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vs Threshold = 1.94</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266700">
                <a:tc>
                  <a:txBody>
                    <a:bodyPr/>
                    <a:lstStyle/>
                    <a:p>
                      <a:pPr indent="0" lvl="0" marL="0" rtl="0" algn="l">
                        <a:lnSpc>
                          <a:spcPct val="115000"/>
                        </a:lnSpc>
                        <a:spcBef>
                          <a:spcPts val="0"/>
                        </a:spcBef>
                        <a:spcAft>
                          <a:spcPts val="0"/>
                        </a:spcAft>
                        <a:buNone/>
                      </a:pPr>
                      <a:r>
                        <a:rPr lang="en" sz="900">
                          <a:solidFill>
                            <a:schemeClr val="dk1"/>
                          </a:solidFill>
                        </a:rPr>
                        <a:t>h</a:t>
                      </a:r>
                      <a:r>
                        <a:rPr baseline="-25000" lang="en" sz="900">
                          <a:solidFill>
                            <a:schemeClr val="dk1"/>
                          </a:solidFill>
                        </a:rPr>
                        <a:t>pos</a:t>
                      </a:r>
                      <a:r>
                        <a:rPr lang="en" sz="900">
                          <a:solidFill>
                            <a:schemeClr val="dk1"/>
                          </a:solidFill>
                        </a:rPr>
                        <a:t> (all +1)</a:t>
                      </a:r>
                      <a:endParaRPr sz="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6700">
                <a:tc>
                  <a:txBody>
                    <a:bodyPr/>
                    <a:lstStyle/>
                    <a:p>
                      <a:pPr indent="0" lvl="0" marL="0" rtl="0" algn="l">
                        <a:spcBef>
                          <a:spcPts val="0"/>
                        </a:spcBef>
                        <a:spcAft>
                          <a:spcPts val="0"/>
                        </a:spcAft>
                        <a:buNone/>
                      </a:pPr>
                      <a:r>
                        <a:rPr lang="en" sz="900"/>
                        <a:t>h</a:t>
                      </a:r>
                      <a:r>
                        <a:rPr baseline="-25000" lang="en" sz="900"/>
                        <a:t>1</a:t>
                      </a:r>
                      <a:endParaRPr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2.67</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&lt;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&lt;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&lt;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r>
            </a:tbl>
          </a:graphicData>
        </a:graphic>
      </p:graphicFrame>
      <p:sp>
        <p:nvSpPr>
          <p:cNvPr id="1400" name="Google Shape;1400;p91"/>
          <p:cNvSpPr txBox="1"/>
          <p:nvPr>
            <p:ph type="title"/>
          </p:nvPr>
        </p:nvSpPr>
        <p:spPr>
          <a:xfrm>
            <a:off x="2338950" y="484150"/>
            <a:ext cx="4466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a:t>
            </a:r>
            <a:r>
              <a:rPr lang="en" sz="2420"/>
              <a:t>Compute </a:t>
            </a:r>
            <a:r>
              <a:rPr lang="en" sz="2420"/>
              <a:t>α and β</a:t>
            </a:r>
            <a:endParaRPr sz="2420"/>
          </a:p>
          <a:p>
            <a:pPr indent="0" lvl="0" marL="0" rtl="0" algn="l">
              <a:lnSpc>
                <a:spcPct val="115000"/>
              </a:lnSpc>
              <a:spcBef>
                <a:spcPts val="0"/>
              </a:spcBef>
              <a:spcAft>
                <a:spcPts val="0"/>
              </a:spcAft>
              <a:buClr>
                <a:schemeClr val="dk1"/>
              </a:buClr>
              <a:buSzPct val="45455"/>
              <a:buFont typeface="Arial"/>
              <a:buNone/>
            </a:pPr>
            <a:r>
              <a:t/>
            </a:r>
            <a:endParaRPr sz="2420"/>
          </a:p>
          <a:p>
            <a:pPr indent="0" lvl="0" marL="0" rtl="0" algn="ctr">
              <a:spcBef>
                <a:spcPts val="0"/>
              </a:spcBef>
              <a:spcAft>
                <a:spcPts val="0"/>
              </a:spcAft>
              <a:buSzPct val="40909"/>
              <a:buNone/>
            </a:pPr>
            <a:r>
              <a:t/>
            </a:r>
            <a:endParaRPr sz="2420"/>
          </a:p>
        </p:txBody>
      </p:sp>
      <p:sp>
        <p:nvSpPr>
          <p:cNvPr id="1401" name="Google Shape;1401;p91"/>
          <p:cNvSpPr/>
          <p:nvPr/>
        </p:nvSpPr>
        <p:spPr>
          <a:xfrm>
            <a:off x="1700550" y="4435375"/>
            <a:ext cx="5657400" cy="5079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rPr>
              <a:t>α = 2 and β = 4</a:t>
            </a:r>
            <a:endParaRPr b="1" sz="1200">
              <a:solidFill>
                <a:schemeClr val="dk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92"/>
          <p:cNvSpPr/>
          <p:nvPr/>
        </p:nvSpPr>
        <p:spPr>
          <a:xfrm>
            <a:off x="962350" y="2083000"/>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07" name="Google Shape;1407;p92"/>
          <p:cNvSpPr/>
          <p:nvPr/>
        </p:nvSpPr>
        <p:spPr>
          <a:xfrm>
            <a:off x="4615775" y="2111950"/>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08" name="Google Shape;1408;p92"/>
          <p:cNvSpPr/>
          <p:nvPr/>
        </p:nvSpPr>
        <p:spPr>
          <a:xfrm>
            <a:off x="1833425" y="2083000"/>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09" name="Google Shape;1409;p92"/>
          <p:cNvSpPr/>
          <p:nvPr/>
        </p:nvSpPr>
        <p:spPr>
          <a:xfrm>
            <a:off x="2857751" y="2083000"/>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410" name="Google Shape;1410;p92"/>
          <p:cNvCxnSpPr/>
          <p:nvPr/>
        </p:nvCxnSpPr>
        <p:spPr>
          <a:xfrm>
            <a:off x="964525" y="3064350"/>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411" name="Google Shape;1411;p92"/>
          <p:cNvSpPr txBox="1"/>
          <p:nvPr>
            <p:ph type="title"/>
          </p:nvPr>
        </p:nvSpPr>
        <p:spPr>
          <a:xfrm>
            <a:off x="1965275" y="451025"/>
            <a:ext cx="5181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a:t>
            </a:r>
            <a:r>
              <a:rPr lang="en" sz="2420"/>
              <a:t>Split P into P</a:t>
            </a:r>
            <a:r>
              <a:rPr baseline="-25000" lang="en" sz="2420"/>
              <a:t>α</a:t>
            </a:r>
            <a:r>
              <a:rPr lang="en" sz="2420"/>
              <a:t>, P</a:t>
            </a:r>
            <a:r>
              <a:rPr baseline="-25000" lang="en" sz="2420"/>
              <a:t>mid</a:t>
            </a:r>
            <a:r>
              <a:rPr lang="en" sz="2420"/>
              <a:t>, P</a:t>
            </a:r>
            <a:r>
              <a:rPr baseline="-25000" lang="en" sz="2420"/>
              <a:t>rest</a:t>
            </a:r>
            <a:endParaRPr baseline="-25000" sz="2420"/>
          </a:p>
          <a:p>
            <a:pPr indent="0" lvl="0" marL="0" rtl="0" algn="l">
              <a:lnSpc>
                <a:spcPct val="115000"/>
              </a:lnSpc>
              <a:spcBef>
                <a:spcPts val="0"/>
              </a:spcBef>
              <a:spcAft>
                <a:spcPts val="0"/>
              </a:spcAft>
              <a:buClr>
                <a:schemeClr val="dk1"/>
              </a:buClr>
              <a:buSzPct val="45455"/>
              <a:buFont typeface="Arial"/>
              <a:buNone/>
            </a:pPr>
            <a:r>
              <a:t/>
            </a:r>
            <a:endParaRPr sz="2420"/>
          </a:p>
          <a:p>
            <a:pPr indent="0" lvl="0" marL="0" rtl="0" algn="ctr">
              <a:spcBef>
                <a:spcPts val="0"/>
              </a:spcBef>
              <a:spcAft>
                <a:spcPts val="0"/>
              </a:spcAft>
              <a:buSzPct val="40909"/>
              <a:buNone/>
            </a:pPr>
            <a:r>
              <a:t/>
            </a:r>
            <a:endParaRPr sz="2420"/>
          </a:p>
        </p:txBody>
      </p:sp>
      <p:grpSp>
        <p:nvGrpSpPr>
          <p:cNvPr id="1412" name="Google Shape;1412;p92"/>
          <p:cNvGrpSpPr/>
          <p:nvPr/>
        </p:nvGrpSpPr>
        <p:grpSpPr>
          <a:xfrm>
            <a:off x="1091213" y="2444066"/>
            <a:ext cx="616988" cy="429007"/>
            <a:chOff x="2284375" y="2496337"/>
            <a:chExt cx="397800" cy="276600"/>
          </a:xfrm>
        </p:grpSpPr>
        <p:sp>
          <p:nvSpPr>
            <p:cNvPr id="1413" name="Google Shape;1413;p92"/>
            <p:cNvSpPr/>
            <p:nvPr/>
          </p:nvSpPr>
          <p:spPr>
            <a:xfrm>
              <a:off x="2341219"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14" name="Google Shape;1414;p92"/>
            <p:cNvSpPr txBox="1"/>
            <p:nvPr/>
          </p:nvSpPr>
          <p:spPr>
            <a:xfrm>
              <a:off x="2284375"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grpSp>
      <p:grpSp>
        <p:nvGrpSpPr>
          <p:cNvPr id="1415" name="Google Shape;1415;p92"/>
          <p:cNvGrpSpPr/>
          <p:nvPr/>
        </p:nvGrpSpPr>
        <p:grpSpPr>
          <a:xfrm>
            <a:off x="1997576" y="2444066"/>
            <a:ext cx="616988" cy="429007"/>
            <a:chOff x="2888900" y="2496337"/>
            <a:chExt cx="397800" cy="276600"/>
          </a:xfrm>
        </p:grpSpPr>
        <p:sp>
          <p:nvSpPr>
            <p:cNvPr id="1416" name="Google Shape;1416;p92"/>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17" name="Google Shape;1417;p92"/>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grpSp>
      <p:grpSp>
        <p:nvGrpSpPr>
          <p:cNvPr id="1418" name="Google Shape;1418;p92"/>
          <p:cNvGrpSpPr/>
          <p:nvPr/>
        </p:nvGrpSpPr>
        <p:grpSpPr>
          <a:xfrm>
            <a:off x="2903948" y="2444066"/>
            <a:ext cx="616988" cy="429007"/>
            <a:chOff x="2888900" y="2496337"/>
            <a:chExt cx="397800" cy="276600"/>
          </a:xfrm>
        </p:grpSpPr>
        <p:sp>
          <p:nvSpPr>
            <p:cNvPr id="1419" name="Google Shape;1419;p92"/>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20" name="Google Shape;1420;p92"/>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grpSp>
      <p:grpSp>
        <p:nvGrpSpPr>
          <p:cNvPr id="1421" name="Google Shape;1421;p92"/>
          <p:cNvGrpSpPr/>
          <p:nvPr/>
        </p:nvGrpSpPr>
        <p:grpSpPr>
          <a:xfrm>
            <a:off x="3810321" y="2444066"/>
            <a:ext cx="616988" cy="429007"/>
            <a:chOff x="2888900" y="2496337"/>
            <a:chExt cx="397800" cy="276600"/>
          </a:xfrm>
        </p:grpSpPr>
        <p:sp>
          <p:nvSpPr>
            <p:cNvPr id="1422" name="Google Shape;1422;p92"/>
            <p:cNvSpPr/>
            <p:nvPr/>
          </p:nvSpPr>
          <p:spPr>
            <a:xfrm>
              <a:off x="2945744" y="2496337"/>
              <a:ext cx="284100" cy="2766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23" name="Google Shape;1423;p92"/>
            <p:cNvSpPr txBox="1"/>
            <p:nvPr/>
          </p:nvSpPr>
          <p:spPr>
            <a:xfrm>
              <a:off x="2888900" y="25351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grpSp>
      <p:grpSp>
        <p:nvGrpSpPr>
          <p:cNvPr id="1424" name="Google Shape;1424;p92"/>
          <p:cNvGrpSpPr/>
          <p:nvPr/>
        </p:nvGrpSpPr>
        <p:grpSpPr>
          <a:xfrm>
            <a:off x="4716707" y="2444085"/>
            <a:ext cx="616988" cy="429007"/>
            <a:chOff x="2106375" y="1621737"/>
            <a:chExt cx="397800" cy="276600"/>
          </a:xfrm>
        </p:grpSpPr>
        <p:sp>
          <p:nvSpPr>
            <p:cNvPr id="1425" name="Google Shape;1425;p92"/>
            <p:cNvSpPr/>
            <p:nvPr/>
          </p:nvSpPr>
          <p:spPr>
            <a:xfrm>
              <a:off x="2163219"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26" name="Google Shape;1426;p92"/>
            <p:cNvSpPr txBox="1"/>
            <p:nvPr/>
          </p:nvSpPr>
          <p:spPr>
            <a:xfrm>
              <a:off x="2106375"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grpSp>
      <p:grpSp>
        <p:nvGrpSpPr>
          <p:cNvPr id="1427" name="Google Shape;1427;p92"/>
          <p:cNvGrpSpPr/>
          <p:nvPr/>
        </p:nvGrpSpPr>
        <p:grpSpPr>
          <a:xfrm>
            <a:off x="5623070" y="2444085"/>
            <a:ext cx="616988" cy="429007"/>
            <a:chOff x="2710900" y="1621737"/>
            <a:chExt cx="397800" cy="276600"/>
          </a:xfrm>
        </p:grpSpPr>
        <p:sp>
          <p:nvSpPr>
            <p:cNvPr id="1428" name="Google Shape;1428;p92"/>
            <p:cNvSpPr/>
            <p:nvPr/>
          </p:nvSpPr>
          <p:spPr>
            <a:xfrm>
              <a:off x="2767744"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29" name="Google Shape;1429;p92"/>
            <p:cNvSpPr txBox="1"/>
            <p:nvPr/>
          </p:nvSpPr>
          <p:spPr>
            <a:xfrm>
              <a:off x="2710900"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grpSp>
      <p:grpSp>
        <p:nvGrpSpPr>
          <p:cNvPr id="1430" name="Google Shape;1430;p92"/>
          <p:cNvGrpSpPr/>
          <p:nvPr/>
        </p:nvGrpSpPr>
        <p:grpSpPr>
          <a:xfrm>
            <a:off x="6529434" y="2444085"/>
            <a:ext cx="616988" cy="429007"/>
            <a:chOff x="3206925" y="1604737"/>
            <a:chExt cx="397800" cy="276600"/>
          </a:xfrm>
        </p:grpSpPr>
        <p:sp>
          <p:nvSpPr>
            <p:cNvPr id="1431" name="Google Shape;1431;p92"/>
            <p:cNvSpPr/>
            <p:nvPr/>
          </p:nvSpPr>
          <p:spPr>
            <a:xfrm>
              <a:off x="3263769" y="1604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32" name="Google Shape;1432;p92"/>
            <p:cNvSpPr txBox="1"/>
            <p:nvPr/>
          </p:nvSpPr>
          <p:spPr>
            <a:xfrm>
              <a:off x="3206925" y="1643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grpSp>
      <p:grpSp>
        <p:nvGrpSpPr>
          <p:cNvPr id="1433" name="Google Shape;1433;p92"/>
          <p:cNvGrpSpPr/>
          <p:nvPr/>
        </p:nvGrpSpPr>
        <p:grpSpPr>
          <a:xfrm>
            <a:off x="7435799" y="2444085"/>
            <a:ext cx="616988" cy="429007"/>
            <a:chOff x="3671413" y="1621737"/>
            <a:chExt cx="397800" cy="276600"/>
          </a:xfrm>
        </p:grpSpPr>
        <p:sp>
          <p:nvSpPr>
            <p:cNvPr id="1434" name="Google Shape;1434;p92"/>
            <p:cNvSpPr/>
            <p:nvPr/>
          </p:nvSpPr>
          <p:spPr>
            <a:xfrm>
              <a:off x="3728256" y="1621737"/>
              <a:ext cx="284100" cy="2766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35" name="Google Shape;1435;p92"/>
            <p:cNvSpPr txBox="1"/>
            <p:nvPr/>
          </p:nvSpPr>
          <p:spPr>
            <a:xfrm>
              <a:off x="3671413" y="1660575"/>
              <a:ext cx="397800" cy="1989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grpSp>
      <p:sp>
        <p:nvSpPr>
          <p:cNvPr id="1436" name="Google Shape;1436;p92"/>
          <p:cNvSpPr txBox="1"/>
          <p:nvPr>
            <p:ph type="title"/>
          </p:nvPr>
        </p:nvSpPr>
        <p:spPr>
          <a:xfrm>
            <a:off x="1191968"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37" name="Google Shape;1437;p92"/>
          <p:cNvSpPr txBox="1"/>
          <p:nvPr>
            <p:ph type="title"/>
          </p:nvPr>
        </p:nvSpPr>
        <p:spPr>
          <a:xfrm>
            <a:off x="2098333"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38" name="Google Shape;1438;p92"/>
          <p:cNvSpPr txBox="1"/>
          <p:nvPr>
            <p:ph type="title"/>
          </p:nvPr>
        </p:nvSpPr>
        <p:spPr>
          <a:xfrm>
            <a:off x="3004699"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39" name="Google Shape;1439;p92"/>
          <p:cNvSpPr txBox="1"/>
          <p:nvPr>
            <p:ph type="title"/>
          </p:nvPr>
        </p:nvSpPr>
        <p:spPr>
          <a:xfrm>
            <a:off x="3911064"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40" name="Google Shape;1440;p92"/>
          <p:cNvSpPr txBox="1"/>
          <p:nvPr>
            <p:ph type="title"/>
          </p:nvPr>
        </p:nvSpPr>
        <p:spPr>
          <a:xfrm>
            <a:off x="4817429"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41" name="Google Shape;1441;p92"/>
          <p:cNvSpPr txBox="1"/>
          <p:nvPr>
            <p:ph type="title"/>
          </p:nvPr>
        </p:nvSpPr>
        <p:spPr>
          <a:xfrm>
            <a:off x="5723794"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42" name="Google Shape;1442;p92"/>
          <p:cNvSpPr txBox="1"/>
          <p:nvPr>
            <p:ph type="title"/>
          </p:nvPr>
        </p:nvSpPr>
        <p:spPr>
          <a:xfrm>
            <a:off x="6630160"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43" name="Google Shape;1443;p92"/>
          <p:cNvSpPr txBox="1"/>
          <p:nvPr>
            <p:ph type="title"/>
          </p:nvPr>
        </p:nvSpPr>
        <p:spPr>
          <a:xfrm>
            <a:off x="7536525"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44" name="Google Shape;1444;p92"/>
          <p:cNvSpPr txBox="1"/>
          <p:nvPr/>
        </p:nvSpPr>
        <p:spPr>
          <a:xfrm>
            <a:off x="1808225"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445" name="Google Shape;1445;p92"/>
          <p:cNvSpPr txBox="1"/>
          <p:nvPr/>
        </p:nvSpPr>
        <p:spPr>
          <a:xfrm>
            <a:off x="3266163"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446" name="Google Shape;1446;p92"/>
          <p:cNvSpPr txBox="1"/>
          <p:nvPr/>
        </p:nvSpPr>
        <p:spPr>
          <a:xfrm>
            <a:off x="5872725"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447" name="Google Shape;1447;p92"/>
          <p:cNvSpPr/>
          <p:nvPr/>
        </p:nvSpPr>
        <p:spPr>
          <a:xfrm>
            <a:off x="3049650" y="4036875"/>
            <a:ext cx="3044700" cy="5727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500">
                <a:solidFill>
                  <a:srgbClr val="38761D"/>
                </a:solidFill>
              </a:rPr>
              <a:t>|P</a:t>
            </a:r>
            <a:r>
              <a:rPr b="1" baseline="-25000" lang="en" sz="1500">
                <a:solidFill>
                  <a:srgbClr val="38761D"/>
                </a:solidFill>
              </a:rPr>
              <a:t>mid</a:t>
            </a:r>
            <a:r>
              <a:rPr b="1" lang="en" sz="1500">
                <a:solidFill>
                  <a:srgbClr val="38761D"/>
                </a:solidFill>
              </a:rPr>
              <a:t>| &lt; |P| / 2 holds!</a:t>
            </a:r>
            <a:endParaRPr b="1" sz="1500">
              <a:solidFill>
                <a:srgbClr val="38761D"/>
              </a:solidFill>
            </a:endParaRPr>
          </a:p>
        </p:txBody>
      </p:sp>
      <p:sp>
        <p:nvSpPr>
          <p:cNvPr id="1448" name="Google Shape;1448;p92"/>
          <p:cNvSpPr txBox="1"/>
          <p:nvPr/>
        </p:nvSpPr>
        <p:spPr>
          <a:xfrm>
            <a:off x="869650"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93"/>
          <p:cNvSpPr txBox="1"/>
          <p:nvPr>
            <p:ph type="title"/>
          </p:nvPr>
        </p:nvSpPr>
        <p:spPr>
          <a:xfrm>
            <a:off x="2022013" y="451025"/>
            <a:ext cx="51000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a:t>Step 3: Assembling the Coreset Z</a:t>
            </a:r>
            <a:endParaRPr/>
          </a:p>
          <a:p>
            <a:pPr indent="0" lvl="0" marL="0" rtl="0" algn="l">
              <a:lnSpc>
                <a:spcPct val="115000"/>
              </a:lnSpc>
              <a:spcBef>
                <a:spcPts val="0"/>
              </a:spcBef>
              <a:spcAft>
                <a:spcPts val="0"/>
              </a:spcAft>
              <a:buNone/>
            </a:pPr>
            <a:r>
              <a:t/>
            </a:r>
            <a:endParaRPr/>
          </a:p>
          <a:p>
            <a:pPr indent="0" lvl="0" marL="0" rtl="0" algn="ctr">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ctr">
              <a:spcBef>
                <a:spcPts val="0"/>
              </a:spcBef>
              <a:spcAft>
                <a:spcPts val="0"/>
              </a:spcAft>
              <a:buNone/>
            </a:pPr>
            <a:r>
              <a:t/>
            </a:r>
            <a:endParaRPr/>
          </a:p>
        </p:txBody>
      </p:sp>
      <p:sp>
        <p:nvSpPr>
          <p:cNvPr id="1454" name="Google Shape;1454;p93"/>
          <p:cNvSpPr txBox="1"/>
          <p:nvPr/>
        </p:nvSpPr>
        <p:spPr>
          <a:xfrm>
            <a:off x="0" y="0"/>
            <a:ext cx="54426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
        <p:nvSpPr>
          <p:cNvPr id="1455" name="Google Shape;1455;p93"/>
          <p:cNvSpPr/>
          <p:nvPr/>
        </p:nvSpPr>
        <p:spPr>
          <a:xfrm>
            <a:off x="1382400" y="3600075"/>
            <a:ext cx="6092100" cy="6147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rPr>
              <a:t>Why weights?</a:t>
            </a:r>
            <a:r>
              <a:rPr lang="en" sz="1100">
                <a:solidFill>
                  <a:schemeClr val="dk1"/>
                </a:solidFill>
              </a:rPr>
              <a:t> Each sampled point represents multiple original points. Weight = (set size) / (sample size) undoes the sub-sampling so w-err</a:t>
            </a:r>
            <a:r>
              <a:rPr baseline="-25000" lang="en" sz="1100">
                <a:solidFill>
                  <a:schemeClr val="dk1"/>
                </a:solidFill>
              </a:rPr>
              <a:t>Z</a:t>
            </a:r>
            <a:r>
              <a:rPr lang="en" sz="1100">
                <a:solidFill>
                  <a:schemeClr val="dk1"/>
                </a:solidFill>
              </a:rPr>
              <a:t> correctly scales back to represent all of P.</a:t>
            </a:r>
            <a:endParaRPr sz="1100">
              <a:solidFill>
                <a:schemeClr val="dk1"/>
              </a:solidFill>
            </a:endParaRPr>
          </a:p>
        </p:txBody>
      </p:sp>
      <p:sp>
        <p:nvSpPr>
          <p:cNvPr id="1456" name="Google Shape;1456;p93"/>
          <p:cNvSpPr/>
          <p:nvPr/>
        </p:nvSpPr>
        <p:spPr>
          <a:xfrm>
            <a:off x="1382388" y="1493750"/>
            <a:ext cx="2199300" cy="7482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300">
                <a:solidFill>
                  <a:schemeClr val="dk1"/>
                </a:solidFill>
              </a:rPr>
              <a:t>Sample S₂ from </a:t>
            </a:r>
            <a:r>
              <a:rPr lang="en">
                <a:solidFill>
                  <a:schemeClr val="dk1"/>
                </a:solidFill>
              </a:rPr>
              <a:t>P</a:t>
            </a:r>
            <a:r>
              <a:rPr baseline="-25000" lang="en">
                <a:solidFill>
                  <a:schemeClr val="dk1"/>
                </a:solidFill>
              </a:rPr>
              <a:t>rest</a:t>
            </a:r>
            <a:r>
              <a:rPr lang="en" sz="1300">
                <a:solidFill>
                  <a:schemeClr val="dk1"/>
                </a:solidFill>
              </a:rPr>
              <a:t> </a:t>
            </a:r>
            <a:r>
              <a:rPr lang="en" sz="1300">
                <a:solidFill>
                  <a:schemeClr val="dk1"/>
                </a:solidFill>
              </a:rPr>
              <a:t>with weight |</a:t>
            </a:r>
            <a:r>
              <a:rPr lang="en">
                <a:solidFill>
                  <a:schemeClr val="dk1"/>
                </a:solidFill>
              </a:rPr>
              <a:t>P</a:t>
            </a:r>
            <a:r>
              <a:rPr baseline="-25000" lang="en">
                <a:solidFill>
                  <a:schemeClr val="dk1"/>
                </a:solidFill>
              </a:rPr>
              <a:t>rest</a:t>
            </a:r>
            <a:r>
              <a:rPr lang="en" sz="1300">
                <a:solidFill>
                  <a:schemeClr val="dk1"/>
                </a:solidFill>
              </a:rPr>
              <a:t>| / |S₂|</a:t>
            </a:r>
            <a:endParaRPr sz="1500">
              <a:solidFill>
                <a:srgbClr val="F1C232"/>
              </a:solidFill>
            </a:endParaRPr>
          </a:p>
        </p:txBody>
      </p:sp>
      <p:sp>
        <p:nvSpPr>
          <p:cNvPr id="1457" name="Google Shape;1457;p93"/>
          <p:cNvSpPr/>
          <p:nvPr/>
        </p:nvSpPr>
        <p:spPr>
          <a:xfrm>
            <a:off x="1382388" y="2335125"/>
            <a:ext cx="2199300" cy="748200"/>
          </a:xfrm>
          <a:prstGeom prst="roundRect">
            <a:avLst>
              <a:gd fmla="val 10737"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300"/>
              <a:t>Sample S</a:t>
            </a:r>
            <a:r>
              <a:rPr baseline="-25000" lang="en" sz="1300"/>
              <a:t>α</a:t>
            </a:r>
            <a:r>
              <a:rPr lang="en" sz="1300"/>
              <a:t> from </a:t>
            </a:r>
            <a:r>
              <a:rPr lang="en" sz="1300">
                <a:solidFill>
                  <a:schemeClr val="dk1"/>
                </a:solidFill>
              </a:rPr>
              <a:t>P</a:t>
            </a:r>
            <a:r>
              <a:rPr baseline="-25000" lang="en" sz="1300">
                <a:solidFill>
                  <a:schemeClr val="dk1"/>
                </a:solidFill>
              </a:rPr>
              <a:t>α </a:t>
            </a:r>
            <a:r>
              <a:rPr lang="en" sz="1300"/>
              <a:t>with weight |P</a:t>
            </a:r>
            <a:r>
              <a:rPr baseline="-25000" lang="en" sz="1300"/>
              <a:t>α</a:t>
            </a:r>
            <a:r>
              <a:rPr lang="en" sz="1300"/>
              <a:t>| / |S</a:t>
            </a:r>
            <a:r>
              <a:rPr baseline="-25000" lang="en" sz="1300"/>
              <a:t>α</a:t>
            </a:r>
            <a:r>
              <a:rPr lang="en" sz="1300"/>
              <a:t>|</a:t>
            </a:r>
            <a:endParaRPr sz="1500">
              <a:solidFill>
                <a:srgbClr val="3D85C6"/>
              </a:solidFill>
            </a:endParaRPr>
          </a:p>
        </p:txBody>
      </p:sp>
      <p:sp>
        <p:nvSpPr>
          <p:cNvPr id="1458" name="Google Shape;1458;p93"/>
          <p:cNvSpPr/>
          <p:nvPr/>
        </p:nvSpPr>
        <p:spPr>
          <a:xfrm>
            <a:off x="3366763" y="1937800"/>
            <a:ext cx="2199300" cy="7482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rPr>
              <a:t>Z</a:t>
            </a:r>
            <a:r>
              <a:rPr baseline="-25000" lang="en">
                <a:solidFill>
                  <a:schemeClr val="dk1"/>
                </a:solidFill>
              </a:rPr>
              <a:t>mid</a:t>
            </a:r>
            <a:r>
              <a:rPr lang="en">
                <a:solidFill>
                  <a:schemeClr val="dk1"/>
                </a:solidFill>
              </a:rPr>
              <a:t> from recursion</a:t>
            </a:r>
            <a:endParaRPr b="1">
              <a:solidFill>
                <a:schemeClr val="dk1"/>
              </a:solidFill>
            </a:endParaRPr>
          </a:p>
        </p:txBody>
      </p:sp>
      <p:sp>
        <p:nvSpPr>
          <p:cNvPr id="1459" name="Google Shape;1459;p93"/>
          <p:cNvSpPr/>
          <p:nvPr/>
        </p:nvSpPr>
        <p:spPr>
          <a:xfrm>
            <a:off x="5910975" y="2135075"/>
            <a:ext cx="530400" cy="29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93"/>
          <p:cNvSpPr txBox="1"/>
          <p:nvPr>
            <p:ph type="title"/>
          </p:nvPr>
        </p:nvSpPr>
        <p:spPr>
          <a:xfrm>
            <a:off x="6124013" y="1493750"/>
            <a:ext cx="1865400" cy="15276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sz="11100">
                <a:solidFill>
                  <a:srgbClr val="E06666"/>
                </a:solidFill>
              </a:rPr>
              <a:t>Z</a:t>
            </a:r>
            <a:endParaRPr>
              <a:solidFill>
                <a:srgbClr val="E06666"/>
              </a:solidFill>
            </a:endParaRPr>
          </a:p>
          <a:p>
            <a:pPr indent="0" lvl="0" marL="0" rtl="0" algn="ctr">
              <a:lnSpc>
                <a:spcPct val="115000"/>
              </a:lnSpc>
              <a:spcBef>
                <a:spcPts val="0"/>
              </a:spcBef>
              <a:spcAft>
                <a:spcPts val="0"/>
              </a:spcAft>
              <a:buNone/>
            </a:pPr>
            <a:r>
              <a:t/>
            </a:r>
            <a:endParaRPr>
              <a:solidFill>
                <a:srgbClr val="E06666"/>
              </a:solidFill>
            </a:endParaRPr>
          </a:p>
          <a:p>
            <a:pPr indent="0" lvl="0" marL="0" rtl="0" algn="l">
              <a:lnSpc>
                <a:spcPct val="115000"/>
              </a:lnSpc>
              <a:spcBef>
                <a:spcPts val="0"/>
              </a:spcBef>
              <a:spcAft>
                <a:spcPts val="0"/>
              </a:spcAft>
              <a:buNone/>
            </a:pPr>
            <a:r>
              <a:t/>
            </a:r>
            <a:endParaRPr>
              <a:solidFill>
                <a:srgbClr val="E06666"/>
              </a:solidFill>
            </a:endParaRPr>
          </a:p>
          <a:p>
            <a:pPr indent="0" lvl="0" marL="0" rtl="0" algn="l">
              <a:lnSpc>
                <a:spcPct val="115000"/>
              </a:lnSpc>
              <a:spcBef>
                <a:spcPts val="0"/>
              </a:spcBef>
              <a:spcAft>
                <a:spcPts val="0"/>
              </a:spcAft>
              <a:buNone/>
            </a:pPr>
            <a:r>
              <a:t/>
            </a:r>
            <a:endParaRPr>
              <a:solidFill>
                <a:srgbClr val="E06666"/>
              </a:solidFill>
            </a:endParaRPr>
          </a:p>
          <a:p>
            <a:pPr indent="0" lvl="0" marL="0" rtl="0" algn="l">
              <a:lnSpc>
                <a:spcPct val="115000"/>
              </a:lnSpc>
              <a:spcBef>
                <a:spcPts val="0"/>
              </a:spcBef>
              <a:spcAft>
                <a:spcPts val="0"/>
              </a:spcAft>
              <a:buNone/>
            </a:pPr>
            <a:r>
              <a:t/>
            </a:r>
            <a:endParaRPr>
              <a:solidFill>
                <a:srgbClr val="E06666"/>
              </a:solidFill>
            </a:endParaRPr>
          </a:p>
          <a:p>
            <a:pPr indent="0" lvl="0" marL="0" rtl="0" algn="ctr">
              <a:spcBef>
                <a:spcPts val="0"/>
              </a:spcBef>
              <a:spcAft>
                <a:spcPts val="0"/>
              </a:spcAft>
              <a:buNone/>
            </a:pPr>
            <a:r>
              <a:t/>
            </a:r>
            <a:endParaRPr>
              <a:solidFill>
                <a:srgbClr val="E06666"/>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94"/>
          <p:cNvSpPr txBox="1"/>
          <p:nvPr>
            <p:ph type="title"/>
          </p:nvPr>
        </p:nvSpPr>
        <p:spPr>
          <a:xfrm>
            <a:off x="1667557" y="451025"/>
            <a:ext cx="5808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a:t>
            </a:r>
            <a:r>
              <a:rPr lang="en" sz="2420"/>
              <a:t>Sample S₂ from </a:t>
            </a:r>
            <a:r>
              <a:rPr lang="en" sz="2420"/>
              <a:t>P</a:t>
            </a:r>
            <a:r>
              <a:rPr baseline="-25000" lang="en" sz="2420"/>
              <a:t>rest</a:t>
            </a:r>
            <a:r>
              <a:rPr lang="en" sz="2420"/>
              <a:t> &amp; S</a:t>
            </a:r>
            <a:r>
              <a:rPr baseline="-25000" lang="en" sz="2420"/>
              <a:t>α</a:t>
            </a:r>
            <a:r>
              <a:rPr lang="en" sz="2420"/>
              <a:t> from </a:t>
            </a:r>
            <a:r>
              <a:rPr lang="en" sz="2420"/>
              <a:t>P</a:t>
            </a:r>
            <a:r>
              <a:rPr baseline="-25000" lang="en" sz="2420"/>
              <a:t>α</a:t>
            </a:r>
            <a:endParaRPr sz="2420"/>
          </a:p>
        </p:txBody>
      </p:sp>
      <p:sp>
        <p:nvSpPr>
          <p:cNvPr id="1466" name="Google Shape;1466;p94"/>
          <p:cNvSpPr/>
          <p:nvPr/>
        </p:nvSpPr>
        <p:spPr>
          <a:xfrm>
            <a:off x="962350" y="2083000"/>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67" name="Google Shape;1467;p94"/>
          <p:cNvSpPr/>
          <p:nvPr/>
        </p:nvSpPr>
        <p:spPr>
          <a:xfrm>
            <a:off x="4615775" y="2111950"/>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68" name="Google Shape;1468;p94"/>
          <p:cNvSpPr/>
          <p:nvPr/>
        </p:nvSpPr>
        <p:spPr>
          <a:xfrm>
            <a:off x="1833425" y="2083000"/>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469" name="Google Shape;1469;p94"/>
          <p:cNvSpPr/>
          <p:nvPr/>
        </p:nvSpPr>
        <p:spPr>
          <a:xfrm>
            <a:off x="2857751" y="2083000"/>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470" name="Google Shape;1470;p94"/>
          <p:cNvCxnSpPr/>
          <p:nvPr/>
        </p:nvCxnSpPr>
        <p:spPr>
          <a:xfrm>
            <a:off x="964525" y="3064350"/>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471" name="Google Shape;1471;p94"/>
          <p:cNvSpPr/>
          <p:nvPr/>
        </p:nvSpPr>
        <p:spPr>
          <a:xfrm>
            <a:off x="1179377" y="2444066"/>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72" name="Google Shape;1472;p94"/>
          <p:cNvSpPr txBox="1"/>
          <p:nvPr/>
        </p:nvSpPr>
        <p:spPr>
          <a:xfrm>
            <a:off x="1091213" y="2504305"/>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473" name="Google Shape;1473;p94"/>
          <p:cNvSpPr/>
          <p:nvPr/>
        </p:nvSpPr>
        <p:spPr>
          <a:xfrm>
            <a:off x="2085740" y="2444066"/>
            <a:ext cx="440639" cy="429007"/>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74" name="Google Shape;1474;p94"/>
          <p:cNvSpPr txBox="1"/>
          <p:nvPr/>
        </p:nvSpPr>
        <p:spPr>
          <a:xfrm>
            <a:off x="1997576" y="2504305"/>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475" name="Google Shape;1475;p94"/>
          <p:cNvSpPr/>
          <p:nvPr/>
        </p:nvSpPr>
        <p:spPr>
          <a:xfrm>
            <a:off x="2992113" y="2444066"/>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76" name="Google Shape;1476;p94"/>
          <p:cNvSpPr txBox="1"/>
          <p:nvPr/>
        </p:nvSpPr>
        <p:spPr>
          <a:xfrm>
            <a:off x="2903948" y="2504305"/>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477" name="Google Shape;1477;p94"/>
          <p:cNvSpPr/>
          <p:nvPr/>
        </p:nvSpPr>
        <p:spPr>
          <a:xfrm>
            <a:off x="3898486" y="2444066"/>
            <a:ext cx="440639" cy="429007"/>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78" name="Google Shape;1478;p94"/>
          <p:cNvSpPr txBox="1"/>
          <p:nvPr/>
        </p:nvSpPr>
        <p:spPr>
          <a:xfrm>
            <a:off x="3810321" y="2504305"/>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479" name="Google Shape;1479;p94"/>
          <p:cNvSpPr/>
          <p:nvPr/>
        </p:nvSpPr>
        <p:spPr>
          <a:xfrm>
            <a:off x="4804872" y="2444085"/>
            <a:ext cx="440639" cy="429007"/>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80" name="Google Shape;1480;p94"/>
          <p:cNvSpPr txBox="1"/>
          <p:nvPr/>
        </p:nvSpPr>
        <p:spPr>
          <a:xfrm>
            <a:off x="4716707" y="2504323"/>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481" name="Google Shape;1481;p94"/>
          <p:cNvSpPr/>
          <p:nvPr/>
        </p:nvSpPr>
        <p:spPr>
          <a:xfrm>
            <a:off x="5711234" y="2444085"/>
            <a:ext cx="440639" cy="429007"/>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82" name="Google Shape;1482;p94"/>
          <p:cNvSpPr txBox="1"/>
          <p:nvPr/>
        </p:nvSpPr>
        <p:spPr>
          <a:xfrm>
            <a:off x="5623070" y="2504323"/>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483" name="Google Shape;1483;p94"/>
          <p:cNvSpPr/>
          <p:nvPr/>
        </p:nvSpPr>
        <p:spPr>
          <a:xfrm>
            <a:off x="6617599" y="2444085"/>
            <a:ext cx="440639" cy="429007"/>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84" name="Google Shape;1484;p94"/>
          <p:cNvSpPr txBox="1"/>
          <p:nvPr/>
        </p:nvSpPr>
        <p:spPr>
          <a:xfrm>
            <a:off x="6529434" y="2504324"/>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485" name="Google Shape;1485;p94"/>
          <p:cNvSpPr/>
          <p:nvPr/>
        </p:nvSpPr>
        <p:spPr>
          <a:xfrm>
            <a:off x="7523963" y="2444085"/>
            <a:ext cx="440639" cy="429007"/>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486" name="Google Shape;1486;p94"/>
          <p:cNvSpPr txBox="1"/>
          <p:nvPr/>
        </p:nvSpPr>
        <p:spPr>
          <a:xfrm>
            <a:off x="7435799" y="2504323"/>
            <a:ext cx="616988" cy="308494"/>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487" name="Google Shape;1487;p94"/>
          <p:cNvSpPr txBox="1"/>
          <p:nvPr>
            <p:ph type="title"/>
          </p:nvPr>
        </p:nvSpPr>
        <p:spPr>
          <a:xfrm>
            <a:off x="1191968"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88" name="Google Shape;1488;p94"/>
          <p:cNvSpPr txBox="1"/>
          <p:nvPr>
            <p:ph type="title"/>
          </p:nvPr>
        </p:nvSpPr>
        <p:spPr>
          <a:xfrm>
            <a:off x="2098333"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89" name="Google Shape;1489;p94"/>
          <p:cNvSpPr txBox="1"/>
          <p:nvPr>
            <p:ph type="title"/>
          </p:nvPr>
        </p:nvSpPr>
        <p:spPr>
          <a:xfrm>
            <a:off x="3004699"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0" name="Google Shape;1490;p94"/>
          <p:cNvSpPr txBox="1"/>
          <p:nvPr>
            <p:ph type="title"/>
          </p:nvPr>
        </p:nvSpPr>
        <p:spPr>
          <a:xfrm>
            <a:off x="3911064"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1" name="Google Shape;1491;p94"/>
          <p:cNvSpPr txBox="1"/>
          <p:nvPr>
            <p:ph type="title"/>
          </p:nvPr>
        </p:nvSpPr>
        <p:spPr>
          <a:xfrm>
            <a:off x="4817429"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2" name="Google Shape;1492;p94"/>
          <p:cNvSpPr txBox="1"/>
          <p:nvPr>
            <p:ph type="title"/>
          </p:nvPr>
        </p:nvSpPr>
        <p:spPr>
          <a:xfrm>
            <a:off x="5723794"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3" name="Google Shape;1493;p94"/>
          <p:cNvSpPr txBox="1"/>
          <p:nvPr>
            <p:ph type="title"/>
          </p:nvPr>
        </p:nvSpPr>
        <p:spPr>
          <a:xfrm>
            <a:off x="6630160"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4" name="Google Shape;1494;p94"/>
          <p:cNvSpPr txBox="1"/>
          <p:nvPr>
            <p:ph type="title"/>
          </p:nvPr>
        </p:nvSpPr>
        <p:spPr>
          <a:xfrm>
            <a:off x="7536525" y="203186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495" name="Google Shape;1495;p94"/>
          <p:cNvSpPr txBox="1"/>
          <p:nvPr/>
        </p:nvSpPr>
        <p:spPr>
          <a:xfrm>
            <a:off x="1808225"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496" name="Google Shape;1496;p94"/>
          <p:cNvSpPr txBox="1"/>
          <p:nvPr/>
        </p:nvSpPr>
        <p:spPr>
          <a:xfrm>
            <a:off x="3266163"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497" name="Google Shape;1497;p94"/>
          <p:cNvSpPr txBox="1"/>
          <p:nvPr/>
        </p:nvSpPr>
        <p:spPr>
          <a:xfrm>
            <a:off x="5872725"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498" name="Google Shape;1498;p94"/>
          <p:cNvSpPr txBox="1"/>
          <p:nvPr/>
        </p:nvSpPr>
        <p:spPr>
          <a:xfrm>
            <a:off x="869650" y="30745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95"/>
          <p:cNvSpPr txBox="1"/>
          <p:nvPr>
            <p:ph type="title"/>
          </p:nvPr>
        </p:nvSpPr>
        <p:spPr>
          <a:xfrm>
            <a:off x="1667557" y="451025"/>
            <a:ext cx="5808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Sample S₂ from P</a:t>
            </a:r>
            <a:r>
              <a:rPr baseline="-25000" lang="en" sz="2420"/>
              <a:t>rest</a:t>
            </a:r>
            <a:r>
              <a:rPr lang="en" sz="2420"/>
              <a:t> &amp; S</a:t>
            </a:r>
            <a:r>
              <a:rPr baseline="-25000" lang="en" sz="2420"/>
              <a:t>α</a:t>
            </a:r>
            <a:r>
              <a:rPr lang="en" sz="2420"/>
              <a:t> from P</a:t>
            </a:r>
            <a:r>
              <a:rPr baseline="-25000" lang="en" sz="2420"/>
              <a:t>α</a:t>
            </a:r>
            <a:endParaRPr sz="2420"/>
          </a:p>
        </p:txBody>
      </p:sp>
      <p:sp>
        <p:nvSpPr>
          <p:cNvPr id="1504" name="Google Shape;1504;p95"/>
          <p:cNvSpPr/>
          <p:nvPr/>
        </p:nvSpPr>
        <p:spPr>
          <a:xfrm>
            <a:off x="2472438" y="30321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505" name="Google Shape;1505;p95"/>
          <p:cNvSpPr txBox="1"/>
          <p:nvPr/>
        </p:nvSpPr>
        <p:spPr>
          <a:xfrm>
            <a:off x="3110978" y="3359798"/>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506" name="Google Shape;1506;p95"/>
          <p:cNvSpPr/>
          <p:nvPr/>
        </p:nvSpPr>
        <p:spPr>
          <a:xfrm>
            <a:off x="1073075" y="1240825"/>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07" name="Google Shape;1507;p95"/>
          <p:cNvSpPr/>
          <p:nvPr/>
        </p:nvSpPr>
        <p:spPr>
          <a:xfrm>
            <a:off x="4726500" y="1269775"/>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08" name="Google Shape;1508;p95"/>
          <p:cNvSpPr/>
          <p:nvPr/>
        </p:nvSpPr>
        <p:spPr>
          <a:xfrm>
            <a:off x="1944150" y="1240825"/>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09" name="Google Shape;1509;p95"/>
          <p:cNvSpPr/>
          <p:nvPr/>
        </p:nvSpPr>
        <p:spPr>
          <a:xfrm>
            <a:off x="2968476" y="1240825"/>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510" name="Google Shape;1510;p95"/>
          <p:cNvCxnSpPr/>
          <p:nvPr/>
        </p:nvCxnSpPr>
        <p:spPr>
          <a:xfrm>
            <a:off x="1075250" y="2222175"/>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511" name="Google Shape;1511;p95"/>
          <p:cNvSpPr/>
          <p:nvPr/>
        </p:nvSpPr>
        <p:spPr>
          <a:xfrm>
            <a:off x="1290102"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12" name="Google Shape;1512;p95"/>
          <p:cNvSpPr txBox="1"/>
          <p:nvPr/>
        </p:nvSpPr>
        <p:spPr>
          <a:xfrm>
            <a:off x="1201938"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513" name="Google Shape;1513;p95"/>
          <p:cNvSpPr/>
          <p:nvPr/>
        </p:nvSpPr>
        <p:spPr>
          <a:xfrm>
            <a:off x="2196465" y="16018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14" name="Google Shape;1514;p95"/>
          <p:cNvSpPr txBox="1"/>
          <p:nvPr/>
        </p:nvSpPr>
        <p:spPr>
          <a:xfrm>
            <a:off x="2108301"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515" name="Google Shape;1515;p95"/>
          <p:cNvSpPr/>
          <p:nvPr/>
        </p:nvSpPr>
        <p:spPr>
          <a:xfrm>
            <a:off x="31028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16" name="Google Shape;1516;p95"/>
          <p:cNvSpPr txBox="1"/>
          <p:nvPr/>
        </p:nvSpPr>
        <p:spPr>
          <a:xfrm>
            <a:off x="30146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517" name="Google Shape;1517;p95"/>
          <p:cNvSpPr/>
          <p:nvPr/>
        </p:nvSpPr>
        <p:spPr>
          <a:xfrm>
            <a:off x="40092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18" name="Google Shape;1518;p95"/>
          <p:cNvSpPr txBox="1"/>
          <p:nvPr/>
        </p:nvSpPr>
        <p:spPr>
          <a:xfrm>
            <a:off x="39210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519" name="Google Shape;1519;p95"/>
          <p:cNvSpPr/>
          <p:nvPr/>
        </p:nvSpPr>
        <p:spPr>
          <a:xfrm>
            <a:off x="4915597"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20" name="Google Shape;1520;p95"/>
          <p:cNvSpPr txBox="1"/>
          <p:nvPr/>
        </p:nvSpPr>
        <p:spPr>
          <a:xfrm>
            <a:off x="4827432"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521" name="Google Shape;1521;p95"/>
          <p:cNvSpPr/>
          <p:nvPr/>
        </p:nvSpPr>
        <p:spPr>
          <a:xfrm>
            <a:off x="5821959" y="160191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22" name="Google Shape;1522;p95"/>
          <p:cNvSpPr txBox="1"/>
          <p:nvPr/>
        </p:nvSpPr>
        <p:spPr>
          <a:xfrm>
            <a:off x="5733795"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523" name="Google Shape;1523;p95"/>
          <p:cNvSpPr/>
          <p:nvPr/>
        </p:nvSpPr>
        <p:spPr>
          <a:xfrm>
            <a:off x="6728324" y="160191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24" name="Google Shape;1524;p95"/>
          <p:cNvSpPr txBox="1"/>
          <p:nvPr/>
        </p:nvSpPr>
        <p:spPr>
          <a:xfrm>
            <a:off x="6640159" y="166214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525" name="Google Shape;1525;p95"/>
          <p:cNvSpPr/>
          <p:nvPr/>
        </p:nvSpPr>
        <p:spPr>
          <a:xfrm>
            <a:off x="7634688"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26" name="Google Shape;1526;p95"/>
          <p:cNvSpPr txBox="1"/>
          <p:nvPr/>
        </p:nvSpPr>
        <p:spPr>
          <a:xfrm>
            <a:off x="7546524"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527" name="Google Shape;1527;p95"/>
          <p:cNvSpPr txBox="1"/>
          <p:nvPr>
            <p:ph type="title"/>
          </p:nvPr>
        </p:nvSpPr>
        <p:spPr>
          <a:xfrm>
            <a:off x="1302693"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28" name="Google Shape;1528;p95"/>
          <p:cNvSpPr txBox="1"/>
          <p:nvPr>
            <p:ph type="title"/>
          </p:nvPr>
        </p:nvSpPr>
        <p:spPr>
          <a:xfrm>
            <a:off x="2209058"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29" name="Google Shape;1529;p95"/>
          <p:cNvSpPr txBox="1"/>
          <p:nvPr>
            <p:ph type="title"/>
          </p:nvPr>
        </p:nvSpPr>
        <p:spPr>
          <a:xfrm>
            <a:off x="31154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0" name="Google Shape;1530;p95"/>
          <p:cNvSpPr txBox="1"/>
          <p:nvPr>
            <p:ph type="title"/>
          </p:nvPr>
        </p:nvSpPr>
        <p:spPr>
          <a:xfrm>
            <a:off x="40217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1" name="Google Shape;1531;p95"/>
          <p:cNvSpPr txBox="1"/>
          <p:nvPr>
            <p:ph type="title"/>
          </p:nvPr>
        </p:nvSpPr>
        <p:spPr>
          <a:xfrm>
            <a:off x="492815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2" name="Google Shape;1532;p95"/>
          <p:cNvSpPr txBox="1"/>
          <p:nvPr>
            <p:ph type="title"/>
          </p:nvPr>
        </p:nvSpPr>
        <p:spPr>
          <a:xfrm>
            <a:off x="583451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3" name="Google Shape;1533;p95"/>
          <p:cNvSpPr txBox="1"/>
          <p:nvPr>
            <p:ph type="title"/>
          </p:nvPr>
        </p:nvSpPr>
        <p:spPr>
          <a:xfrm>
            <a:off x="6740885"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4" name="Google Shape;1534;p95"/>
          <p:cNvSpPr txBox="1"/>
          <p:nvPr>
            <p:ph type="title"/>
          </p:nvPr>
        </p:nvSpPr>
        <p:spPr>
          <a:xfrm>
            <a:off x="7647250"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35" name="Google Shape;1535;p95"/>
          <p:cNvSpPr txBox="1"/>
          <p:nvPr/>
        </p:nvSpPr>
        <p:spPr>
          <a:xfrm>
            <a:off x="19189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536" name="Google Shape;1536;p95"/>
          <p:cNvSpPr txBox="1"/>
          <p:nvPr/>
        </p:nvSpPr>
        <p:spPr>
          <a:xfrm>
            <a:off x="33768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537" name="Google Shape;1537;p95"/>
          <p:cNvSpPr txBox="1"/>
          <p:nvPr/>
        </p:nvSpPr>
        <p:spPr>
          <a:xfrm>
            <a:off x="59834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538" name="Google Shape;1538;p95"/>
          <p:cNvSpPr txBox="1"/>
          <p:nvPr/>
        </p:nvSpPr>
        <p:spPr>
          <a:xfrm>
            <a:off x="980375"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96"/>
          <p:cNvSpPr txBox="1"/>
          <p:nvPr>
            <p:ph type="title"/>
          </p:nvPr>
        </p:nvSpPr>
        <p:spPr>
          <a:xfrm>
            <a:off x="1667557" y="451025"/>
            <a:ext cx="5808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Sample S₂ from P</a:t>
            </a:r>
            <a:r>
              <a:rPr baseline="-25000" lang="en" sz="2420"/>
              <a:t>rest</a:t>
            </a:r>
            <a:r>
              <a:rPr lang="en" sz="2420"/>
              <a:t> &amp; S</a:t>
            </a:r>
            <a:r>
              <a:rPr baseline="-25000" lang="en" sz="2420"/>
              <a:t>α</a:t>
            </a:r>
            <a:r>
              <a:rPr lang="en" sz="2420"/>
              <a:t> from P</a:t>
            </a:r>
            <a:r>
              <a:rPr baseline="-25000" lang="en" sz="2420"/>
              <a:t>α</a:t>
            </a:r>
            <a:endParaRPr sz="2420"/>
          </a:p>
        </p:txBody>
      </p:sp>
      <p:sp>
        <p:nvSpPr>
          <p:cNvPr id="1544" name="Google Shape;1544;p96"/>
          <p:cNvSpPr/>
          <p:nvPr/>
        </p:nvSpPr>
        <p:spPr>
          <a:xfrm>
            <a:off x="2472438" y="30321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545" name="Google Shape;1545;p96"/>
          <p:cNvSpPr txBox="1"/>
          <p:nvPr/>
        </p:nvSpPr>
        <p:spPr>
          <a:xfrm>
            <a:off x="3110978" y="3359798"/>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546" name="Google Shape;1546;p96"/>
          <p:cNvSpPr/>
          <p:nvPr/>
        </p:nvSpPr>
        <p:spPr>
          <a:xfrm>
            <a:off x="1073075" y="1240825"/>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47" name="Google Shape;1547;p96"/>
          <p:cNvSpPr/>
          <p:nvPr/>
        </p:nvSpPr>
        <p:spPr>
          <a:xfrm>
            <a:off x="4726500" y="1269775"/>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48" name="Google Shape;1548;p96"/>
          <p:cNvSpPr/>
          <p:nvPr/>
        </p:nvSpPr>
        <p:spPr>
          <a:xfrm>
            <a:off x="1944150" y="1240825"/>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49" name="Google Shape;1549;p96"/>
          <p:cNvSpPr/>
          <p:nvPr/>
        </p:nvSpPr>
        <p:spPr>
          <a:xfrm>
            <a:off x="2968476" y="1240825"/>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550" name="Google Shape;1550;p96"/>
          <p:cNvCxnSpPr/>
          <p:nvPr/>
        </p:nvCxnSpPr>
        <p:spPr>
          <a:xfrm>
            <a:off x="1075250" y="2222175"/>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551" name="Google Shape;1551;p96"/>
          <p:cNvSpPr/>
          <p:nvPr/>
        </p:nvSpPr>
        <p:spPr>
          <a:xfrm>
            <a:off x="1290102"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52" name="Google Shape;1552;p96"/>
          <p:cNvSpPr txBox="1"/>
          <p:nvPr/>
        </p:nvSpPr>
        <p:spPr>
          <a:xfrm>
            <a:off x="1201938"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553" name="Google Shape;1553;p96"/>
          <p:cNvSpPr/>
          <p:nvPr/>
        </p:nvSpPr>
        <p:spPr>
          <a:xfrm>
            <a:off x="31028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54" name="Google Shape;1554;p96"/>
          <p:cNvSpPr txBox="1"/>
          <p:nvPr/>
        </p:nvSpPr>
        <p:spPr>
          <a:xfrm>
            <a:off x="30146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555" name="Google Shape;1555;p96"/>
          <p:cNvSpPr/>
          <p:nvPr/>
        </p:nvSpPr>
        <p:spPr>
          <a:xfrm>
            <a:off x="40092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56" name="Google Shape;1556;p96"/>
          <p:cNvSpPr txBox="1"/>
          <p:nvPr/>
        </p:nvSpPr>
        <p:spPr>
          <a:xfrm>
            <a:off x="39210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557" name="Google Shape;1557;p96"/>
          <p:cNvSpPr/>
          <p:nvPr/>
        </p:nvSpPr>
        <p:spPr>
          <a:xfrm>
            <a:off x="4915597"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58" name="Google Shape;1558;p96"/>
          <p:cNvSpPr txBox="1"/>
          <p:nvPr/>
        </p:nvSpPr>
        <p:spPr>
          <a:xfrm>
            <a:off x="4827432"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559" name="Google Shape;1559;p96"/>
          <p:cNvSpPr/>
          <p:nvPr/>
        </p:nvSpPr>
        <p:spPr>
          <a:xfrm>
            <a:off x="5821959" y="160191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60" name="Google Shape;1560;p96"/>
          <p:cNvSpPr txBox="1"/>
          <p:nvPr/>
        </p:nvSpPr>
        <p:spPr>
          <a:xfrm>
            <a:off x="5733795"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561" name="Google Shape;1561;p96"/>
          <p:cNvSpPr/>
          <p:nvPr/>
        </p:nvSpPr>
        <p:spPr>
          <a:xfrm>
            <a:off x="6728324" y="160191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62" name="Google Shape;1562;p96"/>
          <p:cNvSpPr txBox="1"/>
          <p:nvPr/>
        </p:nvSpPr>
        <p:spPr>
          <a:xfrm>
            <a:off x="6640159" y="166214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563" name="Google Shape;1563;p96"/>
          <p:cNvSpPr/>
          <p:nvPr/>
        </p:nvSpPr>
        <p:spPr>
          <a:xfrm>
            <a:off x="7634688"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64" name="Google Shape;1564;p96"/>
          <p:cNvSpPr txBox="1"/>
          <p:nvPr/>
        </p:nvSpPr>
        <p:spPr>
          <a:xfrm>
            <a:off x="7546524"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565" name="Google Shape;1565;p96"/>
          <p:cNvSpPr txBox="1"/>
          <p:nvPr>
            <p:ph type="title"/>
          </p:nvPr>
        </p:nvSpPr>
        <p:spPr>
          <a:xfrm>
            <a:off x="1302693"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66" name="Google Shape;1566;p96"/>
          <p:cNvSpPr txBox="1"/>
          <p:nvPr>
            <p:ph type="title"/>
          </p:nvPr>
        </p:nvSpPr>
        <p:spPr>
          <a:xfrm>
            <a:off x="31154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67" name="Google Shape;1567;p96"/>
          <p:cNvSpPr txBox="1"/>
          <p:nvPr>
            <p:ph type="title"/>
          </p:nvPr>
        </p:nvSpPr>
        <p:spPr>
          <a:xfrm>
            <a:off x="40217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68" name="Google Shape;1568;p96"/>
          <p:cNvSpPr txBox="1"/>
          <p:nvPr>
            <p:ph type="title"/>
          </p:nvPr>
        </p:nvSpPr>
        <p:spPr>
          <a:xfrm>
            <a:off x="492815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69" name="Google Shape;1569;p96"/>
          <p:cNvSpPr txBox="1"/>
          <p:nvPr>
            <p:ph type="title"/>
          </p:nvPr>
        </p:nvSpPr>
        <p:spPr>
          <a:xfrm>
            <a:off x="583451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70" name="Google Shape;1570;p96"/>
          <p:cNvSpPr txBox="1"/>
          <p:nvPr>
            <p:ph type="title"/>
          </p:nvPr>
        </p:nvSpPr>
        <p:spPr>
          <a:xfrm>
            <a:off x="6740885"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71" name="Google Shape;1571;p96"/>
          <p:cNvSpPr txBox="1"/>
          <p:nvPr>
            <p:ph type="title"/>
          </p:nvPr>
        </p:nvSpPr>
        <p:spPr>
          <a:xfrm>
            <a:off x="7647250"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72" name="Google Shape;1572;p96"/>
          <p:cNvSpPr txBox="1"/>
          <p:nvPr/>
        </p:nvSpPr>
        <p:spPr>
          <a:xfrm>
            <a:off x="19189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573" name="Google Shape;1573;p96"/>
          <p:cNvSpPr txBox="1"/>
          <p:nvPr/>
        </p:nvSpPr>
        <p:spPr>
          <a:xfrm>
            <a:off x="33768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574" name="Google Shape;1574;p96"/>
          <p:cNvSpPr txBox="1"/>
          <p:nvPr/>
        </p:nvSpPr>
        <p:spPr>
          <a:xfrm>
            <a:off x="59834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575" name="Google Shape;1575;p96"/>
          <p:cNvSpPr txBox="1"/>
          <p:nvPr/>
        </p:nvSpPr>
        <p:spPr>
          <a:xfrm>
            <a:off x="980375"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576" name="Google Shape;1576;p96"/>
          <p:cNvSpPr/>
          <p:nvPr/>
        </p:nvSpPr>
        <p:spPr>
          <a:xfrm>
            <a:off x="3465090" y="407100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77" name="Google Shape;1577;p96"/>
          <p:cNvSpPr txBox="1"/>
          <p:nvPr/>
        </p:nvSpPr>
        <p:spPr>
          <a:xfrm>
            <a:off x="3376901" y="41312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578" name="Google Shape;1578;p96"/>
          <p:cNvSpPr txBox="1"/>
          <p:nvPr>
            <p:ph type="title"/>
          </p:nvPr>
        </p:nvSpPr>
        <p:spPr>
          <a:xfrm>
            <a:off x="3477658" y="3741654"/>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97"/>
          <p:cNvSpPr txBox="1"/>
          <p:nvPr>
            <p:ph type="title"/>
          </p:nvPr>
        </p:nvSpPr>
        <p:spPr>
          <a:xfrm>
            <a:off x="1667557" y="451025"/>
            <a:ext cx="5808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Sample S₂ from P</a:t>
            </a:r>
            <a:r>
              <a:rPr baseline="-25000" lang="en" sz="2420"/>
              <a:t>rest</a:t>
            </a:r>
            <a:r>
              <a:rPr lang="en" sz="2420"/>
              <a:t> &amp; S</a:t>
            </a:r>
            <a:r>
              <a:rPr baseline="-25000" lang="en" sz="2420"/>
              <a:t>α</a:t>
            </a:r>
            <a:r>
              <a:rPr lang="en" sz="2420"/>
              <a:t> from P</a:t>
            </a:r>
            <a:r>
              <a:rPr baseline="-25000" lang="en" sz="2420"/>
              <a:t>α</a:t>
            </a:r>
            <a:endParaRPr sz="2420"/>
          </a:p>
        </p:txBody>
      </p:sp>
      <p:sp>
        <p:nvSpPr>
          <p:cNvPr id="1584" name="Google Shape;1584;p97"/>
          <p:cNvSpPr/>
          <p:nvPr/>
        </p:nvSpPr>
        <p:spPr>
          <a:xfrm>
            <a:off x="2472438" y="30321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585" name="Google Shape;1585;p97"/>
          <p:cNvSpPr txBox="1"/>
          <p:nvPr/>
        </p:nvSpPr>
        <p:spPr>
          <a:xfrm>
            <a:off x="3110978" y="3359798"/>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586" name="Google Shape;1586;p97"/>
          <p:cNvSpPr/>
          <p:nvPr/>
        </p:nvSpPr>
        <p:spPr>
          <a:xfrm>
            <a:off x="4660159" y="374296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87" name="Google Shape;1587;p97"/>
          <p:cNvSpPr txBox="1"/>
          <p:nvPr/>
        </p:nvSpPr>
        <p:spPr>
          <a:xfrm>
            <a:off x="4571995" y="380319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588" name="Google Shape;1588;p97"/>
          <p:cNvSpPr/>
          <p:nvPr/>
        </p:nvSpPr>
        <p:spPr>
          <a:xfrm>
            <a:off x="5566524" y="374296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89" name="Google Shape;1589;p97"/>
          <p:cNvSpPr txBox="1"/>
          <p:nvPr/>
        </p:nvSpPr>
        <p:spPr>
          <a:xfrm>
            <a:off x="5478359" y="380319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590" name="Google Shape;1590;p97"/>
          <p:cNvSpPr txBox="1"/>
          <p:nvPr>
            <p:ph type="title"/>
          </p:nvPr>
        </p:nvSpPr>
        <p:spPr>
          <a:xfrm>
            <a:off x="4672719" y="341011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91" name="Google Shape;1591;p97"/>
          <p:cNvSpPr txBox="1"/>
          <p:nvPr>
            <p:ph type="title"/>
          </p:nvPr>
        </p:nvSpPr>
        <p:spPr>
          <a:xfrm>
            <a:off x="5579085" y="341011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592" name="Google Shape;1592;p97"/>
          <p:cNvSpPr/>
          <p:nvPr/>
        </p:nvSpPr>
        <p:spPr>
          <a:xfrm>
            <a:off x="1073075" y="1240825"/>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93" name="Google Shape;1593;p97"/>
          <p:cNvSpPr/>
          <p:nvPr/>
        </p:nvSpPr>
        <p:spPr>
          <a:xfrm>
            <a:off x="4726500" y="1269775"/>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94" name="Google Shape;1594;p97"/>
          <p:cNvSpPr/>
          <p:nvPr/>
        </p:nvSpPr>
        <p:spPr>
          <a:xfrm>
            <a:off x="1944150" y="1240825"/>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595" name="Google Shape;1595;p97"/>
          <p:cNvSpPr/>
          <p:nvPr/>
        </p:nvSpPr>
        <p:spPr>
          <a:xfrm>
            <a:off x="2968476" y="1240825"/>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596" name="Google Shape;1596;p97"/>
          <p:cNvCxnSpPr/>
          <p:nvPr/>
        </p:nvCxnSpPr>
        <p:spPr>
          <a:xfrm>
            <a:off x="1075250" y="2222175"/>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597" name="Google Shape;1597;p97"/>
          <p:cNvSpPr/>
          <p:nvPr/>
        </p:nvSpPr>
        <p:spPr>
          <a:xfrm>
            <a:off x="1290102"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598" name="Google Shape;1598;p97"/>
          <p:cNvSpPr txBox="1"/>
          <p:nvPr/>
        </p:nvSpPr>
        <p:spPr>
          <a:xfrm>
            <a:off x="1201938"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599" name="Google Shape;1599;p97"/>
          <p:cNvSpPr/>
          <p:nvPr/>
        </p:nvSpPr>
        <p:spPr>
          <a:xfrm>
            <a:off x="31028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00" name="Google Shape;1600;p97"/>
          <p:cNvSpPr txBox="1"/>
          <p:nvPr/>
        </p:nvSpPr>
        <p:spPr>
          <a:xfrm>
            <a:off x="30146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601" name="Google Shape;1601;p97"/>
          <p:cNvSpPr/>
          <p:nvPr/>
        </p:nvSpPr>
        <p:spPr>
          <a:xfrm>
            <a:off x="40092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02" name="Google Shape;1602;p97"/>
          <p:cNvSpPr txBox="1"/>
          <p:nvPr/>
        </p:nvSpPr>
        <p:spPr>
          <a:xfrm>
            <a:off x="39210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603" name="Google Shape;1603;p97"/>
          <p:cNvSpPr/>
          <p:nvPr/>
        </p:nvSpPr>
        <p:spPr>
          <a:xfrm>
            <a:off x="4915597"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04" name="Google Shape;1604;p97"/>
          <p:cNvSpPr txBox="1"/>
          <p:nvPr/>
        </p:nvSpPr>
        <p:spPr>
          <a:xfrm>
            <a:off x="4827432"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605" name="Google Shape;1605;p97"/>
          <p:cNvSpPr/>
          <p:nvPr/>
        </p:nvSpPr>
        <p:spPr>
          <a:xfrm>
            <a:off x="7634688"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06" name="Google Shape;1606;p97"/>
          <p:cNvSpPr txBox="1"/>
          <p:nvPr/>
        </p:nvSpPr>
        <p:spPr>
          <a:xfrm>
            <a:off x="7546524"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607" name="Google Shape;1607;p97"/>
          <p:cNvSpPr txBox="1"/>
          <p:nvPr>
            <p:ph type="title"/>
          </p:nvPr>
        </p:nvSpPr>
        <p:spPr>
          <a:xfrm>
            <a:off x="1302693"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08" name="Google Shape;1608;p97"/>
          <p:cNvSpPr txBox="1"/>
          <p:nvPr>
            <p:ph type="title"/>
          </p:nvPr>
        </p:nvSpPr>
        <p:spPr>
          <a:xfrm>
            <a:off x="31154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09" name="Google Shape;1609;p97"/>
          <p:cNvSpPr txBox="1"/>
          <p:nvPr>
            <p:ph type="title"/>
          </p:nvPr>
        </p:nvSpPr>
        <p:spPr>
          <a:xfrm>
            <a:off x="40217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10" name="Google Shape;1610;p97"/>
          <p:cNvSpPr txBox="1"/>
          <p:nvPr>
            <p:ph type="title"/>
          </p:nvPr>
        </p:nvSpPr>
        <p:spPr>
          <a:xfrm>
            <a:off x="492815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11" name="Google Shape;1611;p97"/>
          <p:cNvSpPr txBox="1"/>
          <p:nvPr>
            <p:ph type="title"/>
          </p:nvPr>
        </p:nvSpPr>
        <p:spPr>
          <a:xfrm>
            <a:off x="7647250"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12" name="Google Shape;1612;p97"/>
          <p:cNvSpPr txBox="1"/>
          <p:nvPr/>
        </p:nvSpPr>
        <p:spPr>
          <a:xfrm>
            <a:off x="19189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613" name="Google Shape;1613;p97"/>
          <p:cNvSpPr txBox="1"/>
          <p:nvPr/>
        </p:nvSpPr>
        <p:spPr>
          <a:xfrm>
            <a:off x="33768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614" name="Google Shape;1614;p97"/>
          <p:cNvSpPr txBox="1"/>
          <p:nvPr/>
        </p:nvSpPr>
        <p:spPr>
          <a:xfrm>
            <a:off x="59834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615" name="Google Shape;1615;p97"/>
          <p:cNvSpPr txBox="1"/>
          <p:nvPr/>
        </p:nvSpPr>
        <p:spPr>
          <a:xfrm>
            <a:off x="980375"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616" name="Google Shape;1616;p97"/>
          <p:cNvSpPr/>
          <p:nvPr/>
        </p:nvSpPr>
        <p:spPr>
          <a:xfrm>
            <a:off x="3465090" y="407100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17" name="Google Shape;1617;p97"/>
          <p:cNvSpPr txBox="1"/>
          <p:nvPr/>
        </p:nvSpPr>
        <p:spPr>
          <a:xfrm>
            <a:off x="3376901" y="41312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618" name="Google Shape;1618;p97"/>
          <p:cNvSpPr txBox="1"/>
          <p:nvPr>
            <p:ph type="title"/>
          </p:nvPr>
        </p:nvSpPr>
        <p:spPr>
          <a:xfrm>
            <a:off x="3477658" y="3741654"/>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98"/>
          <p:cNvSpPr/>
          <p:nvPr/>
        </p:nvSpPr>
        <p:spPr>
          <a:xfrm>
            <a:off x="2472438" y="30321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624" name="Google Shape;1624;p98"/>
          <p:cNvSpPr txBox="1"/>
          <p:nvPr/>
        </p:nvSpPr>
        <p:spPr>
          <a:xfrm>
            <a:off x="3110978" y="3359798"/>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625" name="Google Shape;1625;p98"/>
          <p:cNvSpPr/>
          <p:nvPr/>
        </p:nvSpPr>
        <p:spPr>
          <a:xfrm>
            <a:off x="4660159" y="374296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26" name="Google Shape;1626;p98"/>
          <p:cNvSpPr txBox="1"/>
          <p:nvPr/>
        </p:nvSpPr>
        <p:spPr>
          <a:xfrm>
            <a:off x="4571995" y="380319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627" name="Google Shape;1627;p98"/>
          <p:cNvSpPr/>
          <p:nvPr/>
        </p:nvSpPr>
        <p:spPr>
          <a:xfrm>
            <a:off x="5566524" y="374296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28" name="Google Shape;1628;p98"/>
          <p:cNvSpPr txBox="1"/>
          <p:nvPr/>
        </p:nvSpPr>
        <p:spPr>
          <a:xfrm>
            <a:off x="5478359" y="380319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629" name="Google Shape;1629;p98"/>
          <p:cNvSpPr txBox="1"/>
          <p:nvPr>
            <p:ph type="title"/>
          </p:nvPr>
        </p:nvSpPr>
        <p:spPr>
          <a:xfrm>
            <a:off x="4672719" y="341011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30" name="Google Shape;1630;p98"/>
          <p:cNvSpPr txBox="1"/>
          <p:nvPr>
            <p:ph type="title"/>
          </p:nvPr>
        </p:nvSpPr>
        <p:spPr>
          <a:xfrm>
            <a:off x="5579085" y="341011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31" name="Google Shape;1631;p98"/>
          <p:cNvSpPr/>
          <p:nvPr/>
        </p:nvSpPr>
        <p:spPr>
          <a:xfrm>
            <a:off x="3465090" y="407100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32" name="Google Shape;1632;p98"/>
          <p:cNvSpPr txBox="1"/>
          <p:nvPr/>
        </p:nvSpPr>
        <p:spPr>
          <a:xfrm>
            <a:off x="3376901" y="413123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633" name="Google Shape;1633;p98"/>
          <p:cNvSpPr txBox="1"/>
          <p:nvPr>
            <p:ph type="title"/>
          </p:nvPr>
        </p:nvSpPr>
        <p:spPr>
          <a:xfrm>
            <a:off x="3477658" y="3741654"/>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34" name="Google Shape;1634;p98"/>
          <p:cNvSpPr txBox="1"/>
          <p:nvPr>
            <p:ph type="title"/>
          </p:nvPr>
        </p:nvSpPr>
        <p:spPr>
          <a:xfrm>
            <a:off x="1667557" y="451025"/>
            <a:ext cx="5808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0909"/>
              <a:buNone/>
            </a:pPr>
            <a:r>
              <a:rPr lang="en" sz="2420"/>
              <a:t>Example: Sample S₂ from P</a:t>
            </a:r>
            <a:r>
              <a:rPr baseline="-25000" lang="en" sz="2420"/>
              <a:t>rest</a:t>
            </a:r>
            <a:r>
              <a:rPr lang="en" sz="2420"/>
              <a:t> &amp; S</a:t>
            </a:r>
            <a:r>
              <a:rPr baseline="-25000" lang="en" sz="2420"/>
              <a:t>α</a:t>
            </a:r>
            <a:r>
              <a:rPr lang="en" sz="2420"/>
              <a:t> from P</a:t>
            </a:r>
            <a:r>
              <a:rPr baseline="-25000" lang="en" sz="2420"/>
              <a:t>α</a:t>
            </a:r>
            <a:endParaRPr sz="2420"/>
          </a:p>
        </p:txBody>
      </p:sp>
      <p:sp>
        <p:nvSpPr>
          <p:cNvPr id="1635" name="Google Shape;1635;p98"/>
          <p:cNvSpPr txBox="1"/>
          <p:nvPr/>
        </p:nvSpPr>
        <p:spPr>
          <a:xfrm>
            <a:off x="3267425" y="450000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636" name="Google Shape;1636;p98"/>
          <p:cNvSpPr txBox="1"/>
          <p:nvPr/>
        </p:nvSpPr>
        <p:spPr>
          <a:xfrm>
            <a:off x="4407900" y="414286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637" name="Google Shape;1637;p98"/>
          <p:cNvSpPr/>
          <p:nvPr/>
        </p:nvSpPr>
        <p:spPr>
          <a:xfrm>
            <a:off x="1073075" y="1240825"/>
            <a:ext cx="8103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638" name="Google Shape;1638;p98"/>
          <p:cNvSpPr/>
          <p:nvPr/>
        </p:nvSpPr>
        <p:spPr>
          <a:xfrm>
            <a:off x="4726500" y="1269775"/>
            <a:ext cx="34368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639" name="Google Shape;1639;p98"/>
          <p:cNvSpPr/>
          <p:nvPr/>
        </p:nvSpPr>
        <p:spPr>
          <a:xfrm>
            <a:off x="1944150" y="1240825"/>
            <a:ext cx="9957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640" name="Google Shape;1640;p98"/>
          <p:cNvSpPr/>
          <p:nvPr/>
        </p:nvSpPr>
        <p:spPr>
          <a:xfrm>
            <a:off x="2968476" y="1240825"/>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641" name="Google Shape;1641;p98"/>
          <p:cNvCxnSpPr/>
          <p:nvPr/>
        </p:nvCxnSpPr>
        <p:spPr>
          <a:xfrm>
            <a:off x="1075250" y="2222175"/>
            <a:ext cx="7086000" cy="10200"/>
          </a:xfrm>
          <a:prstGeom prst="straightConnector1">
            <a:avLst/>
          </a:prstGeom>
          <a:noFill/>
          <a:ln cap="flat" cmpd="sng" w="38100">
            <a:solidFill>
              <a:schemeClr val="dk1"/>
            </a:solidFill>
            <a:prstDash val="solid"/>
            <a:round/>
            <a:headEnd len="med" w="med" type="none"/>
            <a:tailEnd len="med" w="med" type="none"/>
          </a:ln>
        </p:spPr>
      </p:cxnSp>
      <p:sp>
        <p:nvSpPr>
          <p:cNvPr id="1642" name="Google Shape;1642;p98"/>
          <p:cNvSpPr/>
          <p:nvPr/>
        </p:nvSpPr>
        <p:spPr>
          <a:xfrm>
            <a:off x="1290102"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43" name="Google Shape;1643;p98"/>
          <p:cNvSpPr txBox="1"/>
          <p:nvPr/>
        </p:nvSpPr>
        <p:spPr>
          <a:xfrm>
            <a:off x="1201938"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1</a:t>
            </a:r>
            <a:endParaRPr b="1" sz="1551">
              <a:solidFill>
                <a:schemeClr val="dk1"/>
              </a:solidFill>
            </a:endParaRPr>
          </a:p>
        </p:txBody>
      </p:sp>
      <p:sp>
        <p:nvSpPr>
          <p:cNvPr id="1644" name="Google Shape;1644;p98"/>
          <p:cNvSpPr/>
          <p:nvPr/>
        </p:nvSpPr>
        <p:spPr>
          <a:xfrm>
            <a:off x="31028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45" name="Google Shape;1645;p98"/>
          <p:cNvSpPr txBox="1"/>
          <p:nvPr/>
        </p:nvSpPr>
        <p:spPr>
          <a:xfrm>
            <a:off x="30146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646" name="Google Shape;1646;p98"/>
          <p:cNvSpPr/>
          <p:nvPr/>
        </p:nvSpPr>
        <p:spPr>
          <a:xfrm>
            <a:off x="40092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47" name="Google Shape;1647;p98"/>
          <p:cNvSpPr txBox="1"/>
          <p:nvPr/>
        </p:nvSpPr>
        <p:spPr>
          <a:xfrm>
            <a:off x="39210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648" name="Google Shape;1648;p98"/>
          <p:cNvSpPr/>
          <p:nvPr/>
        </p:nvSpPr>
        <p:spPr>
          <a:xfrm>
            <a:off x="4915597"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49" name="Google Shape;1649;p98"/>
          <p:cNvSpPr txBox="1"/>
          <p:nvPr/>
        </p:nvSpPr>
        <p:spPr>
          <a:xfrm>
            <a:off x="4827432"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5</a:t>
            </a:r>
            <a:endParaRPr b="1" sz="1551">
              <a:solidFill>
                <a:schemeClr val="dk1"/>
              </a:solidFill>
            </a:endParaRPr>
          </a:p>
        </p:txBody>
      </p:sp>
      <p:sp>
        <p:nvSpPr>
          <p:cNvPr id="1650" name="Google Shape;1650;p98"/>
          <p:cNvSpPr/>
          <p:nvPr/>
        </p:nvSpPr>
        <p:spPr>
          <a:xfrm>
            <a:off x="7634688" y="1601910"/>
            <a:ext cx="440700" cy="429000"/>
          </a:xfrm>
          <a:prstGeom prst="ellipse">
            <a:avLst/>
          </a:prstGeom>
          <a:solidFill>
            <a:srgbClr val="B6D7A8"/>
          </a:solidFill>
          <a:ln cap="flat" cmpd="sng" w="14775">
            <a:solidFill>
              <a:srgbClr val="6AA84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51" name="Google Shape;1651;p98"/>
          <p:cNvSpPr txBox="1"/>
          <p:nvPr/>
        </p:nvSpPr>
        <p:spPr>
          <a:xfrm>
            <a:off x="7546524" y="1662148"/>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8</a:t>
            </a:r>
            <a:endParaRPr b="1" sz="1551">
              <a:solidFill>
                <a:schemeClr val="dk1"/>
              </a:solidFill>
            </a:endParaRPr>
          </a:p>
        </p:txBody>
      </p:sp>
      <p:sp>
        <p:nvSpPr>
          <p:cNvPr id="1652" name="Google Shape;1652;p98"/>
          <p:cNvSpPr txBox="1"/>
          <p:nvPr>
            <p:ph type="title"/>
          </p:nvPr>
        </p:nvSpPr>
        <p:spPr>
          <a:xfrm>
            <a:off x="1302693"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53" name="Google Shape;1653;p98"/>
          <p:cNvSpPr txBox="1"/>
          <p:nvPr>
            <p:ph type="title"/>
          </p:nvPr>
        </p:nvSpPr>
        <p:spPr>
          <a:xfrm>
            <a:off x="31154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54" name="Google Shape;1654;p98"/>
          <p:cNvSpPr txBox="1"/>
          <p:nvPr>
            <p:ph type="title"/>
          </p:nvPr>
        </p:nvSpPr>
        <p:spPr>
          <a:xfrm>
            <a:off x="40217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55" name="Google Shape;1655;p98"/>
          <p:cNvSpPr txBox="1"/>
          <p:nvPr>
            <p:ph type="title"/>
          </p:nvPr>
        </p:nvSpPr>
        <p:spPr>
          <a:xfrm>
            <a:off x="492815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56" name="Google Shape;1656;p98"/>
          <p:cNvSpPr txBox="1"/>
          <p:nvPr>
            <p:ph type="title"/>
          </p:nvPr>
        </p:nvSpPr>
        <p:spPr>
          <a:xfrm>
            <a:off x="7647250"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57" name="Google Shape;1657;p98"/>
          <p:cNvSpPr txBox="1"/>
          <p:nvPr/>
        </p:nvSpPr>
        <p:spPr>
          <a:xfrm>
            <a:off x="19189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658" name="Google Shape;1658;p98"/>
          <p:cNvSpPr txBox="1"/>
          <p:nvPr/>
        </p:nvSpPr>
        <p:spPr>
          <a:xfrm>
            <a:off x="33768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420">
                <a:solidFill>
                  <a:srgbClr val="F1C232"/>
                </a:solidFill>
              </a:rPr>
              <a:t>mid</a:t>
            </a:r>
            <a:endParaRPr>
              <a:solidFill>
                <a:srgbClr val="F1C232"/>
              </a:solidFill>
            </a:endParaRPr>
          </a:p>
        </p:txBody>
      </p:sp>
      <p:sp>
        <p:nvSpPr>
          <p:cNvPr id="1659" name="Google Shape;1659;p98"/>
          <p:cNvSpPr txBox="1"/>
          <p:nvPr/>
        </p:nvSpPr>
        <p:spPr>
          <a:xfrm>
            <a:off x="5983450"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660" name="Google Shape;1660;p98"/>
          <p:cNvSpPr txBox="1"/>
          <p:nvPr/>
        </p:nvSpPr>
        <p:spPr>
          <a:xfrm>
            <a:off x="980375"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a:solidFill>
                <a:srgbClr val="3D85C6"/>
              </a:solidFill>
            </a:endParaRPr>
          </a:p>
        </p:txBody>
      </p:sp>
      <p:sp>
        <p:nvSpPr>
          <p:cNvPr id="1661" name="Google Shape;1661;p98"/>
          <p:cNvSpPr txBox="1"/>
          <p:nvPr/>
        </p:nvSpPr>
        <p:spPr>
          <a:xfrm>
            <a:off x="5356300" y="414286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662" name="Google Shape;1662;p98"/>
          <p:cNvSpPr txBox="1"/>
          <p:nvPr>
            <p:ph type="title"/>
          </p:nvPr>
        </p:nvSpPr>
        <p:spPr>
          <a:xfrm>
            <a:off x="3101950" y="902125"/>
            <a:ext cx="1545600" cy="338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 Recursion →</a:t>
            </a:r>
            <a:endParaRPr baseline="-25000" sz="12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99"/>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sp>
        <p:nvSpPr>
          <p:cNvPr id="1668" name="Google Shape;1668;p99"/>
          <p:cNvSpPr/>
          <p:nvPr/>
        </p:nvSpPr>
        <p:spPr>
          <a:xfrm>
            <a:off x="3725676" y="1240825"/>
            <a:ext cx="1714200" cy="894600"/>
          </a:xfrm>
          <a:prstGeom prst="roundRect">
            <a:avLst>
              <a:gd fmla="val 11504" name="adj"/>
            </a:avLst>
          </a:prstGeom>
          <a:solidFill>
            <a:srgbClr val="FFF2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669" name="Google Shape;1669;p99"/>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670" name="Google Shape;1670;p99"/>
          <p:cNvSpPr/>
          <p:nvPr/>
        </p:nvSpPr>
        <p:spPr>
          <a:xfrm>
            <a:off x="38600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71" name="Google Shape;1671;p99"/>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672" name="Google Shape;1672;p99"/>
          <p:cNvSpPr/>
          <p:nvPr/>
        </p:nvSpPr>
        <p:spPr>
          <a:xfrm>
            <a:off x="47664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73" name="Google Shape;1673;p99"/>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674" name="Google Shape;1674;p99"/>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75" name="Google Shape;1675;p99"/>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76" name="Google Shape;1676;p99"/>
          <p:cNvSpPr txBox="1"/>
          <p:nvPr/>
        </p:nvSpPr>
        <p:spPr>
          <a:xfrm>
            <a:off x="41340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F1C232"/>
                </a:solidFill>
              </a:rPr>
              <a:t>P</a:t>
            </a:r>
            <a:r>
              <a:rPr baseline="-25000" lang="en" sz="2100">
                <a:solidFill>
                  <a:srgbClr val="F1C232"/>
                </a:solidFill>
              </a:rPr>
              <a:t>mid</a:t>
            </a:r>
            <a:endParaRPr>
              <a:solidFill>
                <a:srgbClr val="F1C232"/>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100"/>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cxnSp>
        <p:nvCxnSpPr>
          <p:cNvPr id="1682" name="Google Shape;1682;p100"/>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683" name="Google Shape;1683;p100"/>
          <p:cNvSpPr/>
          <p:nvPr/>
        </p:nvSpPr>
        <p:spPr>
          <a:xfrm>
            <a:off x="3860038"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84" name="Google Shape;1684;p100"/>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685" name="Google Shape;1685;p100"/>
          <p:cNvSpPr/>
          <p:nvPr/>
        </p:nvSpPr>
        <p:spPr>
          <a:xfrm>
            <a:off x="4766411" y="1601891"/>
            <a:ext cx="440700" cy="429000"/>
          </a:xfrm>
          <a:prstGeom prst="ellipse">
            <a:avLst/>
          </a:prstGeom>
          <a:solidFill>
            <a:srgbClr val="F4CCCC"/>
          </a:solidFill>
          <a:ln cap="flat" cmpd="sng" w="14775">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86" name="Google Shape;1686;p100"/>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687" name="Google Shape;1687;p100"/>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88" name="Google Shape;1688;p100"/>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689" name="Google Shape;1689;p100"/>
          <p:cNvSpPr txBox="1"/>
          <p:nvPr/>
        </p:nvSpPr>
        <p:spPr>
          <a:xfrm>
            <a:off x="41340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111111"/>
                </a:solidFill>
              </a:rPr>
              <a:t>P</a:t>
            </a:r>
            <a:endParaRPr>
              <a:solidFill>
                <a:srgbClr val="11111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101"/>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cxnSp>
        <p:nvCxnSpPr>
          <p:cNvPr id="1695" name="Google Shape;1695;p101"/>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696" name="Google Shape;1696;p101"/>
          <p:cNvSpPr/>
          <p:nvPr/>
        </p:nvSpPr>
        <p:spPr>
          <a:xfrm>
            <a:off x="3860038" y="1601891"/>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97" name="Google Shape;1697;p101"/>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698" name="Google Shape;1698;p101"/>
          <p:cNvSpPr/>
          <p:nvPr/>
        </p:nvSpPr>
        <p:spPr>
          <a:xfrm>
            <a:off x="4766411" y="16018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699" name="Google Shape;1699;p101"/>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700" name="Google Shape;1700;p101"/>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01" name="Google Shape;1701;p101"/>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02" name="Google Shape;1702;p101"/>
          <p:cNvSpPr txBox="1"/>
          <p:nvPr/>
        </p:nvSpPr>
        <p:spPr>
          <a:xfrm>
            <a:off x="41340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111111"/>
                </a:solidFill>
              </a:rPr>
              <a:t>P</a:t>
            </a:r>
            <a:endParaRPr>
              <a:solidFill>
                <a:srgbClr val="111111"/>
              </a:solidFill>
            </a:endParaRPr>
          </a:p>
        </p:txBody>
      </p:sp>
      <p:graphicFrame>
        <p:nvGraphicFramePr>
          <p:cNvPr id="1703" name="Google Shape;1703;p101"/>
          <p:cNvGraphicFramePr/>
          <p:nvPr/>
        </p:nvGraphicFramePr>
        <p:xfrm>
          <a:off x="2700150" y="2794550"/>
          <a:ext cx="3000000" cy="3000000"/>
        </p:xfrm>
        <a:graphic>
          <a:graphicData uri="http://schemas.openxmlformats.org/drawingml/2006/table">
            <a:tbl>
              <a:tblPr>
                <a:noFill/>
                <a:tableStyleId>{C2A80A2D-5547-4B00-81EF-F7A111BEE14F}</a:tableStyleId>
              </a:tblPr>
              <a:tblGrid>
                <a:gridCol w="382850"/>
                <a:gridCol w="893200"/>
                <a:gridCol w="627275"/>
                <a:gridCol w="382850"/>
                <a:gridCol w="1457525"/>
              </a:tblGrid>
              <a:tr h="317000">
                <a:tc>
                  <a:txBody>
                    <a:bodyPr/>
                    <a:lstStyle/>
                    <a:p>
                      <a:pPr indent="0" lvl="0" marL="0" rtl="0" algn="l">
                        <a:lnSpc>
                          <a:spcPct val="115000"/>
                        </a:lnSpc>
                        <a:spcBef>
                          <a:spcPts val="0"/>
                        </a:spcBef>
                        <a:spcAft>
                          <a:spcPts val="0"/>
                        </a:spcAft>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None/>
                      </a:pPr>
                      <a:r>
                        <a:rPr b="1" lang="en" sz="900">
                          <a:solidFill>
                            <a:schemeClr val="dk1"/>
                          </a:solidFill>
                        </a:rPr>
                        <a:t>True err</a:t>
                      </a:r>
                      <a:r>
                        <a:rPr b="1" baseline="-25000" lang="en" sz="900">
                          <a:solidFill>
                            <a:schemeClr val="dk1"/>
                          </a:solidFill>
                        </a:rPr>
                        <a:t>P</a:t>
                      </a:r>
                      <a:r>
                        <a:rPr b="1" lang="en" sz="900">
                          <a:solidFill>
                            <a:schemeClr val="dk1"/>
                          </a:solidFill>
                        </a:rPr>
                        <a:t>(h</a:t>
                      </a:r>
                      <a:r>
                        <a:rPr b="1" baseline="-25000" lang="en" sz="900">
                          <a:solidFill>
                            <a:schemeClr val="dk1"/>
                          </a:solidFill>
                        </a:rPr>
                        <a:t>τ</a:t>
                      </a:r>
                      <a:r>
                        <a:rPr b="1" lang="en" sz="900">
                          <a:solidFill>
                            <a:schemeClr val="dk1"/>
                          </a:solidFill>
                        </a:rPr>
                        <a:t>)</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err</a:t>
                      </a:r>
                      <a:r>
                        <a:rPr b="1" baseline="-25000" lang="en" sz="900"/>
                        <a:t>S1</a:t>
                      </a:r>
                      <a:r>
                        <a:rPr b="1" lang="en" sz="900"/>
                        <a:t>h</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G</a:t>
                      </a:r>
                      <a:r>
                        <a:rPr b="1" baseline="-25000" lang="en" sz="900"/>
                        <a:t>1</a:t>
                      </a:r>
                      <a:endParaRPr b="1"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vs Threshold = 0.484</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&lt;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704" name="Google Shape;1704;p101"/>
          <p:cNvSpPr txBox="1"/>
          <p:nvPr>
            <p:ph type="title"/>
          </p:nvPr>
        </p:nvSpPr>
        <p:spPr>
          <a:xfrm>
            <a:off x="5064377" y="1447138"/>
            <a:ext cx="5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S</a:t>
            </a:r>
            <a:r>
              <a:rPr baseline="-25000" lang="en" sz="1200"/>
              <a:t>1</a:t>
            </a:r>
            <a:endParaRPr baseline="-25000" sz="1200"/>
          </a:p>
        </p:txBody>
      </p:sp>
      <p:sp>
        <p:nvSpPr>
          <p:cNvPr id="1705" name="Google Shape;1705;p101"/>
          <p:cNvSpPr/>
          <p:nvPr/>
        </p:nvSpPr>
        <p:spPr>
          <a:xfrm>
            <a:off x="3223800" y="4299000"/>
            <a:ext cx="2696400" cy="4461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rPr>
              <a:t>G</a:t>
            </a:r>
            <a:r>
              <a:rPr baseline="-25000" lang="en">
                <a:solidFill>
                  <a:schemeClr val="dk1"/>
                </a:solidFill>
              </a:rPr>
              <a:t>1</a:t>
            </a:r>
            <a:r>
              <a:rPr lang="en">
                <a:solidFill>
                  <a:schemeClr val="dk1"/>
                </a:solidFill>
              </a:rPr>
              <a:t>(h) = ( |Q| / |S| ) · err</a:t>
            </a:r>
            <a:r>
              <a:rPr baseline="-25000" lang="en">
                <a:solidFill>
                  <a:schemeClr val="dk1"/>
                </a:solidFill>
              </a:rPr>
              <a:t>S</a:t>
            </a:r>
            <a:r>
              <a:rPr lang="en">
                <a:solidFill>
                  <a:schemeClr val="dk1"/>
                </a:solidFill>
              </a:rPr>
              <a:t>(h).</a:t>
            </a:r>
            <a:endParaRPr sz="1300">
              <a:solidFill>
                <a:schemeClr val="dk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02"/>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cxnSp>
        <p:nvCxnSpPr>
          <p:cNvPr id="1711" name="Google Shape;1711;p102"/>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712" name="Google Shape;1712;p102"/>
          <p:cNvSpPr/>
          <p:nvPr/>
        </p:nvSpPr>
        <p:spPr>
          <a:xfrm>
            <a:off x="3860038" y="1601891"/>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13" name="Google Shape;1713;p102"/>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714" name="Google Shape;1714;p102"/>
          <p:cNvSpPr/>
          <p:nvPr/>
        </p:nvSpPr>
        <p:spPr>
          <a:xfrm>
            <a:off x="4766411" y="16018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15" name="Google Shape;1715;p102"/>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716" name="Google Shape;1716;p102"/>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17" name="Google Shape;1717;p102"/>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18" name="Google Shape;1718;p102"/>
          <p:cNvSpPr txBox="1"/>
          <p:nvPr/>
        </p:nvSpPr>
        <p:spPr>
          <a:xfrm>
            <a:off x="4134088" y="2232375"/>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111111"/>
                </a:solidFill>
              </a:rPr>
              <a:t>P</a:t>
            </a:r>
            <a:endParaRPr>
              <a:solidFill>
                <a:srgbClr val="111111"/>
              </a:solidFill>
            </a:endParaRPr>
          </a:p>
        </p:txBody>
      </p:sp>
      <p:graphicFrame>
        <p:nvGraphicFramePr>
          <p:cNvPr id="1719" name="Google Shape;1719;p102"/>
          <p:cNvGraphicFramePr/>
          <p:nvPr/>
        </p:nvGraphicFramePr>
        <p:xfrm>
          <a:off x="2700150" y="2794550"/>
          <a:ext cx="3000000" cy="3000000"/>
        </p:xfrm>
        <a:graphic>
          <a:graphicData uri="http://schemas.openxmlformats.org/drawingml/2006/table">
            <a:tbl>
              <a:tblPr>
                <a:noFill/>
                <a:tableStyleId>{C2A80A2D-5547-4B00-81EF-F7A111BEE14F}</a:tableStyleId>
              </a:tblPr>
              <a:tblGrid>
                <a:gridCol w="382850"/>
                <a:gridCol w="893200"/>
                <a:gridCol w="627275"/>
                <a:gridCol w="382850"/>
                <a:gridCol w="1457525"/>
              </a:tblGrid>
              <a:tr h="317000">
                <a:tc>
                  <a:txBody>
                    <a:bodyPr/>
                    <a:lstStyle/>
                    <a:p>
                      <a:pPr indent="0" lvl="0" marL="0" rtl="0" algn="l">
                        <a:lnSpc>
                          <a:spcPct val="115000"/>
                        </a:lnSpc>
                        <a:spcBef>
                          <a:spcPts val="0"/>
                        </a:spcBef>
                        <a:spcAft>
                          <a:spcPts val="0"/>
                        </a:spcAft>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None/>
                      </a:pPr>
                      <a:r>
                        <a:rPr b="1" lang="en" sz="900">
                          <a:solidFill>
                            <a:schemeClr val="dk1"/>
                          </a:solidFill>
                        </a:rPr>
                        <a:t>True err</a:t>
                      </a:r>
                      <a:r>
                        <a:rPr b="1" baseline="-25000" lang="en" sz="900">
                          <a:solidFill>
                            <a:schemeClr val="dk1"/>
                          </a:solidFill>
                        </a:rPr>
                        <a:t>P</a:t>
                      </a:r>
                      <a:r>
                        <a:rPr b="1" lang="en" sz="900">
                          <a:solidFill>
                            <a:schemeClr val="dk1"/>
                          </a:solidFill>
                        </a:rPr>
                        <a:t>(h</a:t>
                      </a:r>
                      <a:r>
                        <a:rPr b="1" baseline="-25000" lang="en" sz="900">
                          <a:solidFill>
                            <a:schemeClr val="dk1"/>
                          </a:solidFill>
                        </a:rPr>
                        <a:t>τ</a:t>
                      </a:r>
                      <a:r>
                        <a:rPr b="1" lang="en" sz="900">
                          <a:solidFill>
                            <a:schemeClr val="dk1"/>
                          </a:solidFill>
                        </a:rPr>
                        <a:t>)</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err</a:t>
                      </a:r>
                      <a:r>
                        <a:rPr b="1" baseline="-25000" lang="en" sz="900"/>
                        <a:t>S1</a:t>
                      </a:r>
                      <a:r>
                        <a:rPr b="1" lang="en" sz="900"/>
                        <a:t>h</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G</a:t>
                      </a:r>
                      <a:r>
                        <a:rPr b="1" baseline="-25000" lang="en" sz="900"/>
                        <a:t>1</a:t>
                      </a:r>
                      <a:endParaRPr b="1"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t>vs Threshold = 0.484</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&gt;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7000">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c>
                  <a:txBody>
                    <a:bodyPr/>
                    <a:lstStyle/>
                    <a:p>
                      <a:pPr indent="0" lvl="0" marL="0" rtl="0" algn="l">
                        <a:spcBef>
                          <a:spcPts val="0"/>
                        </a:spcBef>
                        <a:spcAft>
                          <a:spcPts val="0"/>
                        </a:spcAft>
                        <a:buNone/>
                      </a:pPr>
                      <a:r>
                        <a:rPr lang="en" sz="900"/>
                        <a:t>&lt;</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alpha val="50000"/>
                      </a:srgbClr>
                    </a:solidFill>
                  </a:tcPr>
                </a:tc>
              </a:tr>
            </a:tbl>
          </a:graphicData>
        </a:graphic>
      </p:graphicFrame>
      <p:sp>
        <p:nvSpPr>
          <p:cNvPr id="1720" name="Google Shape;1720;p102"/>
          <p:cNvSpPr txBox="1"/>
          <p:nvPr>
            <p:ph type="title"/>
          </p:nvPr>
        </p:nvSpPr>
        <p:spPr>
          <a:xfrm>
            <a:off x="5064377" y="1447138"/>
            <a:ext cx="5613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t>S</a:t>
            </a:r>
            <a:r>
              <a:rPr baseline="-25000" lang="en" sz="1200"/>
              <a:t>1</a:t>
            </a:r>
            <a:endParaRPr baseline="-25000" sz="1200"/>
          </a:p>
        </p:txBody>
      </p:sp>
      <p:sp>
        <p:nvSpPr>
          <p:cNvPr id="1721" name="Google Shape;1721;p102"/>
          <p:cNvSpPr/>
          <p:nvPr/>
        </p:nvSpPr>
        <p:spPr>
          <a:xfrm>
            <a:off x="3672250" y="4307550"/>
            <a:ext cx="1919400" cy="4290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rPr>
              <a:t>α = 4, β = 4</a:t>
            </a:r>
            <a:endParaRPr b="1" sz="1200">
              <a:solidFill>
                <a:schemeClr val="dk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103"/>
          <p:cNvSpPr/>
          <p:nvPr/>
        </p:nvSpPr>
        <p:spPr>
          <a:xfrm>
            <a:off x="4572000" y="1252400"/>
            <a:ext cx="8886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727" name="Google Shape;1727;p103"/>
          <p:cNvSpPr/>
          <p:nvPr/>
        </p:nvSpPr>
        <p:spPr>
          <a:xfrm>
            <a:off x="3639450" y="1252400"/>
            <a:ext cx="8886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728" name="Google Shape;1728;p103"/>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cxnSp>
        <p:nvCxnSpPr>
          <p:cNvPr id="1729" name="Google Shape;1729;p103"/>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730" name="Google Shape;1730;p103"/>
          <p:cNvSpPr/>
          <p:nvPr/>
        </p:nvSpPr>
        <p:spPr>
          <a:xfrm>
            <a:off x="3860038" y="1601891"/>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31" name="Google Shape;1731;p103"/>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732" name="Google Shape;1732;p103"/>
          <p:cNvSpPr/>
          <p:nvPr/>
        </p:nvSpPr>
        <p:spPr>
          <a:xfrm>
            <a:off x="4766411" y="1601891"/>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33" name="Google Shape;1733;p103"/>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734" name="Google Shape;1734;p103"/>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35" name="Google Shape;1735;p103"/>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36" name="Google Shape;1736;p103"/>
          <p:cNvSpPr txBox="1"/>
          <p:nvPr/>
        </p:nvSpPr>
        <p:spPr>
          <a:xfrm>
            <a:off x="3612301" y="2232375"/>
            <a:ext cx="959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sz="2420">
              <a:solidFill>
                <a:srgbClr val="111111"/>
              </a:solidFill>
            </a:endParaRPr>
          </a:p>
        </p:txBody>
      </p:sp>
      <p:sp>
        <p:nvSpPr>
          <p:cNvPr id="1737" name="Google Shape;1737;p103"/>
          <p:cNvSpPr txBox="1"/>
          <p:nvPr/>
        </p:nvSpPr>
        <p:spPr>
          <a:xfrm>
            <a:off x="4572000" y="22439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1" name="Shape 1741"/>
        <p:cNvGrpSpPr/>
        <p:nvPr/>
      </p:nvGrpSpPr>
      <p:grpSpPr>
        <a:xfrm>
          <a:off x="0" y="0"/>
          <a:ext cx="0" cy="0"/>
          <a:chOff x="0" y="0"/>
          <a:chExt cx="0" cy="0"/>
        </a:xfrm>
      </p:grpSpPr>
      <p:sp>
        <p:nvSpPr>
          <p:cNvPr id="1742" name="Google Shape;1742;p104"/>
          <p:cNvSpPr/>
          <p:nvPr/>
        </p:nvSpPr>
        <p:spPr>
          <a:xfrm>
            <a:off x="4572000" y="1252400"/>
            <a:ext cx="8886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743" name="Google Shape;1743;p104"/>
          <p:cNvSpPr/>
          <p:nvPr/>
        </p:nvSpPr>
        <p:spPr>
          <a:xfrm>
            <a:off x="3639450" y="1252400"/>
            <a:ext cx="8886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744" name="Google Shape;1744;p104"/>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745" name="Google Shape;1745;p104"/>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46" name="Google Shape;1746;p104"/>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47" name="Google Shape;1747;p104"/>
          <p:cNvSpPr txBox="1"/>
          <p:nvPr/>
        </p:nvSpPr>
        <p:spPr>
          <a:xfrm>
            <a:off x="3612301" y="2232375"/>
            <a:ext cx="959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sz="2420">
              <a:solidFill>
                <a:srgbClr val="111111"/>
              </a:solidFill>
            </a:endParaRPr>
          </a:p>
        </p:txBody>
      </p:sp>
      <p:sp>
        <p:nvSpPr>
          <p:cNvPr id="1748" name="Google Shape;1748;p104"/>
          <p:cNvSpPr txBox="1"/>
          <p:nvPr/>
        </p:nvSpPr>
        <p:spPr>
          <a:xfrm>
            <a:off x="4572000" y="22439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749" name="Google Shape;1749;p104"/>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sp>
        <p:nvSpPr>
          <p:cNvPr id="1750" name="Google Shape;1750;p104"/>
          <p:cNvSpPr/>
          <p:nvPr/>
        </p:nvSpPr>
        <p:spPr>
          <a:xfrm>
            <a:off x="2532388" y="28748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751" name="Google Shape;1751;p104"/>
          <p:cNvSpPr txBox="1"/>
          <p:nvPr/>
        </p:nvSpPr>
        <p:spPr>
          <a:xfrm>
            <a:off x="3170928" y="3202498"/>
            <a:ext cx="1882800" cy="5433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r>
              <a:rPr baseline="-25000" lang="en" sz="2100">
                <a:solidFill>
                  <a:srgbClr val="38761D"/>
                </a:solidFill>
              </a:rPr>
              <a:t>mid</a:t>
            </a:r>
            <a:endParaRPr sz="2000">
              <a:solidFill>
                <a:srgbClr val="38761D"/>
              </a:solidFill>
            </a:endParaRPr>
          </a:p>
        </p:txBody>
      </p:sp>
      <p:sp>
        <p:nvSpPr>
          <p:cNvPr id="1752" name="Google Shape;1752;p104"/>
          <p:cNvSpPr/>
          <p:nvPr/>
        </p:nvSpPr>
        <p:spPr>
          <a:xfrm>
            <a:off x="3860038" y="16018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53" name="Google Shape;1753;p104"/>
          <p:cNvSpPr txBox="1"/>
          <p:nvPr/>
        </p:nvSpPr>
        <p:spPr>
          <a:xfrm>
            <a:off x="3771873"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754" name="Google Shape;1754;p104"/>
          <p:cNvSpPr/>
          <p:nvPr/>
        </p:nvSpPr>
        <p:spPr>
          <a:xfrm>
            <a:off x="4766411" y="16018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55" name="Google Shape;1755;p104"/>
          <p:cNvSpPr txBox="1"/>
          <p:nvPr/>
        </p:nvSpPr>
        <p:spPr>
          <a:xfrm>
            <a:off x="4678246" y="1662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cxnSp>
        <p:nvCxnSpPr>
          <p:cNvPr id="1756" name="Google Shape;1756;p104"/>
          <p:cNvCxnSpPr>
            <a:stCxn id="1743" idx="1"/>
          </p:cNvCxnSpPr>
          <p:nvPr/>
        </p:nvCxnSpPr>
        <p:spPr>
          <a:xfrm flipH="1">
            <a:off x="2586150" y="1699700"/>
            <a:ext cx="1053300" cy="1308000"/>
          </a:xfrm>
          <a:prstGeom prst="curvedConnector2">
            <a:avLst/>
          </a:prstGeom>
          <a:noFill/>
          <a:ln cap="flat" cmpd="sng" w="9525">
            <a:solidFill>
              <a:srgbClr val="111111"/>
            </a:solidFill>
            <a:prstDash val="solid"/>
            <a:round/>
            <a:headEnd len="med" w="med" type="none"/>
            <a:tailEnd len="med" w="med" type="stealth"/>
          </a:ln>
        </p:spPr>
      </p:cxnSp>
      <p:cxnSp>
        <p:nvCxnSpPr>
          <p:cNvPr id="1757" name="Google Shape;1757;p104"/>
          <p:cNvCxnSpPr>
            <a:stCxn id="1742" idx="3"/>
          </p:cNvCxnSpPr>
          <p:nvPr/>
        </p:nvCxnSpPr>
        <p:spPr>
          <a:xfrm>
            <a:off x="5460600" y="1699700"/>
            <a:ext cx="1059000" cy="1242600"/>
          </a:xfrm>
          <a:prstGeom prst="curvedConnector2">
            <a:avLst/>
          </a:prstGeom>
          <a:noFill/>
          <a:ln cap="flat" cmpd="sng" w="9525">
            <a:solidFill>
              <a:srgbClr val="111111"/>
            </a:solidFill>
            <a:prstDash val="solid"/>
            <a:round/>
            <a:headEnd len="med" w="med" type="none"/>
            <a:tailEnd len="med" w="med" type="stealth"/>
          </a:ln>
        </p:spPr>
      </p:cxnSp>
      <p:sp>
        <p:nvSpPr>
          <p:cNvPr id="1758" name="Google Shape;1758;p104"/>
          <p:cNvSpPr txBox="1"/>
          <p:nvPr>
            <p:ph type="title"/>
          </p:nvPr>
        </p:nvSpPr>
        <p:spPr>
          <a:xfrm>
            <a:off x="6500250" y="1736425"/>
            <a:ext cx="17712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We sample the only item from P</a:t>
            </a:r>
            <a:r>
              <a:rPr baseline="-25000" lang="en" sz="1200"/>
              <a:t>α</a:t>
            </a:r>
            <a:r>
              <a:rPr lang="en" sz="1200"/>
              <a:t>.</a:t>
            </a:r>
            <a:endParaRPr sz="1200"/>
          </a:p>
        </p:txBody>
      </p:sp>
      <p:sp>
        <p:nvSpPr>
          <p:cNvPr id="1759" name="Google Shape;1759;p104"/>
          <p:cNvSpPr txBox="1"/>
          <p:nvPr>
            <p:ph type="title"/>
          </p:nvPr>
        </p:nvSpPr>
        <p:spPr>
          <a:xfrm>
            <a:off x="960600" y="1768400"/>
            <a:ext cx="1545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We sample the only item from P</a:t>
            </a:r>
            <a:r>
              <a:rPr baseline="-25000" lang="en" sz="1200"/>
              <a:t>rest.</a:t>
            </a:r>
            <a:endParaRPr baseline="-25000" sz="12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sp>
        <p:nvSpPr>
          <p:cNvPr id="1764" name="Google Shape;1764;p105"/>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sp>
        <p:nvSpPr>
          <p:cNvPr id="1765" name="Google Shape;1765;p105"/>
          <p:cNvSpPr/>
          <p:nvPr/>
        </p:nvSpPr>
        <p:spPr>
          <a:xfrm>
            <a:off x="2532388" y="28748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766" name="Google Shape;1766;p105"/>
          <p:cNvSpPr txBox="1"/>
          <p:nvPr/>
        </p:nvSpPr>
        <p:spPr>
          <a:xfrm>
            <a:off x="3170928" y="3202498"/>
            <a:ext cx="1882800" cy="5433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r>
              <a:rPr baseline="-25000" lang="en" sz="2100">
                <a:solidFill>
                  <a:srgbClr val="38761D"/>
                </a:solidFill>
              </a:rPr>
              <a:t>mid</a:t>
            </a:r>
            <a:endParaRPr sz="2000">
              <a:solidFill>
                <a:srgbClr val="38761D"/>
              </a:solidFill>
            </a:endParaRPr>
          </a:p>
        </p:txBody>
      </p:sp>
      <p:sp>
        <p:nvSpPr>
          <p:cNvPr id="1767" name="Google Shape;1767;p105"/>
          <p:cNvSpPr/>
          <p:nvPr/>
        </p:nvSpPr>
        <p:spPr>
          <a:xfrm>
            <a:off x="3852763" y="4030466"/>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68" name="Google Shape;1768;p105"/>
          <p:cNvSpPr txBox="1"/>
          <p:nvPr/>
        </p:nvSpPr>
        <p:spPr>
          <a:xfrm>
            <a:off x="3764598" y="4090705"/>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769" name="Google Shape;1769;p105"/>
          <p:cNvSpPr/>
          <p:nvPr/>
        </p:nvSpPr>
        <p:spPr>
          <a:xfrm>
            <a:off x="4759136" y="355654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70" name="Google Shape;1770;p105"/>
          <p:cNvSpPr txBox="1"/>
          <p:nvPr/>
        </p:nvSpPr>
        <p:spPr>
          <a:xfrm>
            <a:off x="4670971" y="361678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771" name="Google Shape;1771;p105"/>
          <p:cNvSpPr txBox="1"/>
          <p:nvPr>
            <p:ph type="title"/>
          </p:nvPr>
        </p:nvSpPr>
        <p:spPr>
          <a:xfrm>
            <a:off x="3865349" y="3676430"/>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72" name="Google Shape;1772;p105"/>
          <p:cNvSpPr txBox="1"/>
          <p:nvPr>
            <p:ph type="title"/>
          </p:nvPr>
        </p:nvSpPr>
        <p:spPr>
          <a:xfrm>
            <a:off x="4771714" y="320250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cxnSp>
        <p:nvCxnSpPr>
          <p:cNvPr id="1773" name="Google Shape;1773;p105"/>
          <p:cNvCxnSpPr>
            <a:stCxn id="1774" idx="1"/>
          </p:cNvCxnSpPr>
          <p:nvPr/>
        </p:nvCxnSpPr>
        <p:spPr>
          <a:xfrm flipH="1">
            <a:off x="2586150" y="1699700"/>
            <a:ext cx="1053300" cy="1308000"/>
          </a:xfrm>
          <a:prstGeom prst="curvedConnector2">
            <a:avLst/>
          </a:prstGeom>
          <a:noFill/>
          <a:ln cap="flat" cmpd="sng" w="9525">
            <a:solidFill>
              <a:srgbClr val="111111"/>
            </a:solidFill>
            <a:prstDash val="solid"/>
            <a:round/>
            <a:headEnd len="med" w="med" type="none"/>
            <a:tailEnd len="med" w="med" type="stealth"/>
          </a:ln>
        </p:spPr>
      </p:cxnSp>
      <p:cxnSp>
        <p:nvCxnSpPr>
          <p:cNvPr id="1775" name="Google Shape;1775;p105"/>
          <p:cNvCxnSpPr>
            <a:stCxn id="1776" idx="3"/>
          </p:cNvCxnSpPr>
          <p:nvPr/>
        </p:nvCxnSpPr>
        <p:spPr>
          <a:xfrm>
            <a:off x="5460600" y="1699700"/>
            <a:ext cx="1059000" cy="1242600"/>
          </a:xfrm>
          <a:prstGeom prst="curvedConnector2">
            <a:avLst/>
          </a:prstGeom>
          <a:noFill/>
          <a:ln cap="flat" cmpd="sng" w="9525">
            <a:solidFill>
              <a:srgbClr val="111111"/>
            </a:solidFill>
            <a:prstDash val="solid"/>
            <a:round/>
            <a:headEnd len="med" w="med" type="none"/>
            <a:tailEnd len="med" w="med" type="stealth"/>
          </a:ln>
        </p:spPr>
      </p:cxnSp>
      <p:sp>
        <p:nvSpPr>
          <p:cNvPr id="1777" name="Google Shape;1777;p105"/>
          <p:cNvSpPr txBox="1"/>
          <p:nvPr/>
        </p:nvSpPr>
        <p:spPr>
          <a:xfrm>
            <a:off x="5199825" y="3616763"/>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778" name="Google Shape;1778;p105"/>
          <p:cNvSpPr txBox="1"/>
          <p:nvPr/>
        </p:nvSpPr>
        <p:spPr>
          <a:xfrm>
            <a:off x="2819300" y="4038213"/>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776" name="Google Shape;1776;p105"/>
          <p:cNvSpPr/>
          <p:nvPr/>
        </p:nvSpPr>
        <p:spPr>
          <a:xfrm>
            <a:off x="4572000" y="1252400"/>
            <a:ext cx="888600" cy="894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1774" name="Google Shape;1774;p105"/>
          <p:cNvSpPr/>
          <p:nvPr/>
        </p:nvSpPr>
        <p:spPr>
          <a:xfrm>
            <a:off x="3639450" y="1252400"/>
            <a:ext cx="888600" cy="894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cxnSp>
        <p:nvCxnSpPr>
          <p:cNvPr id="1779" name="Google Shape;1779;p105"/>
          <p:cNvCxnSpPr/>
          <p:nvPr/>
        </p:nvCxnSpPr>
        <p:spPr>
          <a:xfrm>
            <a:off x="3612300" y="2227300"/>
            <a:ext cx="1919400" cy="0"/>
          </a:xfrm>
          <a:prstGeom prst="straightConnector1">
            <a:avLst/>
          </a:prstGeom>
          <a:noFill/>
          <a:ln cap="flat" cmpd="sng" w="38100">
            <a:solidFill>
              <a:schemeClr val="dk1"/>
            </a:solidFill>
            <a:prstDash val="solid"/>
            <a:round/>
            <a:headEnd len="med" w="med" type="none"/>
            <a:tailEnd len="med" w="med" type="none"/>
          </a:ln>
        </p:spPr>
      </p:cxnSp>
      <p:sp>
        <p:nvSpPr>
          <p:cNvPr id="1780" name="Google Shape;1780;p105"/>
          <p:cNvSpPr txBox="1"/>
          <p:nvPr>
            <p:ph type="title"/>
          </p:nvPr>
        </p:nvSpPr>
        <p:spPr>
          <a:xfrm>
            <a:off x="3872624"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81" name="Google Shape;1781;p105"/>
          <p:cNvSpPr txBox="1"/>
          <p:nvPr>
            <p:ph type="title"/>
          </p:nvPr>
        </p:nvSpPr>
        <p:spPr>
          <a:xfrm>
            <a:off x="4778989" y="118968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82" name="Google Shape;1782;p105"/>
          <p:cNvSpPr txBox="1"/>
          <p:nvPr/>
        </p:nvSpPr>
        <p:spPr>
          <a:xfrm>
            <a:off x="3612301" y="2232375"/>
            <a:ext cx="959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3D85C6"/>
                </a:solidFill>
              </a:rPr>
              <a:t>P</a:t>
            </a:r>
            <a:r>
              <a:rPr baseline="-25000" lang="en" sz="2420">
                <a:solidFill>
                  <a:srgbClr val="3D85C6"/>
                </a:solidFill>
              </a:rPr>
              <a:t>rest</a:t>
            </a:r>
            <a:endParaRPr sz="2420">
              <a:solidFill>
                <a:srgbClr val="111111"/>
              </a:solidFill>
            </a:endParaRPr>
          </a:p>
        </p:txBody>
      </p:sp>
      <p:sp>
        <p:nvSpPr>
          <p:cNvPr id="1783" name="Google Shape;1783;p105"/>
          <p:cNvSpPr txBox="1"/>
          <p:nvPr/>
        </p:nvSpPr>
        <p:spPr>
          <a:xfrm>
            <a:off x="4572000" y="2243950"/>
            <a:ext cx="995700" cy="55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20">
                <a:solidFill>
                  <a:srgbClr val="E06666"/>
                </a:solidFill>
              </a:rPr>
              <a:t>P</a:t>
            </a:r>
            <a:r>
              <a:rPr baseline="-25000" lang="en" sz="2420">
                <a:solidFill>
                  <a:srgbClr val="E06666"/>
                </a:solidFill>
              </a:rPr>
              <a:t>α</a:t>
            </a:r>
            <a:endParaRPr>
              <a:solidFill>
                <a:srgbClr val="E06666"/>
              </a:solidFill>
            </a:endParaRPr>
          </a:p>
        </p:txBody>
      </p:sp>
      <p:sp>
        <p:nvSpPr>
          <p:cNvPr id="1784" name="Google Shape;1784;p105"/>
          <p:cNvSpPr txBox="1"/>
          <p:nvPr>
            <p:ph type="title"/>
          </p:nvPr>
        </p:nvSpPr>
        <p:spPr>
          <a:xfrm>
            <a:off x="6500250" y="1736425"/>
            <a:ext cx="17712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We sample the only item from P</a:t>
            </a:r>
            <a:r>
              <a:rPr baseline="-25000" lang="en" sz="1200"/>
              <a:t>α</a:t>
            </a:r>
            <a:r>
              <a:rPr lang="en" sz="1200"/>
              <a:t>.</a:t>
            </a:r>
            <a:endParaRPr sz="1200"/>
          </a:p>
        </p:txBody>
      </p:sp>
      <p:sp>
        <p:nvSpPr>
          <p:cNvPr id="1785" name="Google Shape;1785;p105"/>
          <p:cNvSpPr txBox="1"/>
          <p:nvPr>
            <p:ph type="title"/>
          </p:nvPr>
        </p:nvSpPr>
        <p:spPr>
          <a:xfrm>
            <a:off x="960600" y="1768400"/>
            <a:ext cx="1545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We sample the only item from P</a:t>
            </a:r>
            <a:r>
              <a:rPr baseline="-25000" lang="en" sz="1200"/>
              <a:t>rest.</a:t>
            </a:r>
            <a:endParaRPr baseline="-25000" sz="12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106"/>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BuildCoreset(P</a:t>
            </a:r>
            <a:r>
              <a:rPr baseline="-25000" lang="en" sz="2100"/>
              <a:t>mid</a:t>
            </a:r>
            <a:r>
              <a:rPr lang="en" sz="2100"/>
              <a:t>)</a:t>
            </a:r>
            <a:endParaRPr sz="2420"/>
          </a:p>
        </p:txBody>
      </p:sp>
      <p:sp>
        <p:nvSpPr>
          <p:cNvPr id="1791" name="Google Shape;1791;p106"/>
          <p:cNvSpPr/>
          <p:nvPr/>
        </p:nvSpPr>
        <p:spPr>
          <a:xfrm>
            <a:off x="4641138" y="1867834"/>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792" name="Google Shape;1792;p106"/>
          <p:cNvSpPr txBox="1"/>
          <p:nvPr/>
        </p:nvSpPr>
        <p:spPr>
          <a:xfrm>
            <a:off x="5279678" y="2195473"/>
            <a:ext cx="1882800" cy="5280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793" name="Google Shape;1793;p106"/>
          <p:cNvSpPr/>
          <p:nvPr/>
        </p:nvSpPr>
        <p:spPr>
          <a:xfrm>
            <a:off x="6636687" y="228713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94" name="Google Shape;1794;p106"/>
          <p:cNvSpPr txBox="1"/>
          <p:nvPr/>
        </p:nvSpPr>
        <p:spPr>
          <a:xfrm>
            <a:off x="6548522" y="234736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795" name="Google Shape;1795;p106"/>
          <p:cNvSpPr/>
          <p:nvPr/>
        </p:nvSpPr>
        <p:spPr>
          <a:xfrm>
            <a:off x="7543051" y="2287131"/>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796" name="Google Shape;1796;p106"/>
          <p:cNvSpPr txBox="1"/>
          <p:nvPr/>
        </p:nvSpPr>
        <p:spPr>
          <a:xfrm>
            <a:off x="7454887" y="234736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797" name="Google Shape;1797;p106"/>
          <p:cNvSpPr txBox="1"/>
          <p:nvPr>
            <p:ph type="title"/>
          </p:nvPr>
        </p:nvSpPr>
        <p:spPr>
          <a:xfrm>
            <a:off x="6649247" y="195428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98" name="Google Shape;1798;p106"/>
          <p:cNvSpPr txBox="1"/>
          <p:nvPr>
            <p:ph type="title"/>
          </p:nvPr>
        </p:nvSpPr>
        <p:spPr>
          <a:xfrm>
            <a:off x="7555612" y="195428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799" name="Google Shape;1799;p106"/>
          <p:cNvSpPr/>
          <p:nvPr/>
        </p:nvSpPr>
        <p:spPr>
          <a:xfrm>
            <a:off x="5461440" y="2973366"/>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00" name="Google Shape;1800;p106"/>
          <p:cNvSpPr txBox="1"/>
          <p:nvPr/>
        </p:nvSpPr>
        <p:spPr>
          <a:xfrm>
            <a:off x="5373251" y="3033605"/>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801" name="Google Shape;1801;p106"/>
          <p:cNvSpPr txBox="1"/>
          <p:nvPr>
            <p:ph type="title"/>
          </p:nvPr>
        </p:nvSpPr>
        <p:spPr>
          <a:xfrm>
            <a:off x="5474008" y="2633352"/>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02" name="Google Shape;1802;p106"/>
          <p:cNvSpPr txBox="1"/>
          <p:nvPr/>
        </p:nvSpPr>
        <p:spPr>
          <a:xfrm>
            <a:off x="5503000" y="338045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03" name="Google Shape;1803;p106"/>
          <p:cNvSpPr txBox="1"/>
          <p:nvPr/>
        </p:nvSpPr>
        <p:spPr>
          <a:xfrm>
            <a:off x="6796203" y="265577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804" name="Google Shape;1804;p106"/>
          <p:cNvSpPr/>
          <p:nvPr/>
        </p:nvSpPr>
        <p:spPr>
          <a:xfrm>
            <a:off x="280463" y="1846759"/>
            <a:ext cx="4199100" cy="19350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805" name="Google Shape;1805;p106"/>
          <p:cNvSpPr txBox="1"/>
          <p:nvPr/>
        </p:nvSpPr>
        <p:spPr>
          <a:xfrm>
            <a:off x="919003" y="2174398"/>
            <a:ext cx="1882800" cy="543300"/>
          </a:xfrm>
          <a:prstGeom prst="rect">
            <a:avLst/>
          </a:prstGeom>
          <a:noFill/>
          <a:ln>
            <a:noFill/>
          </a:ln>
        </p:spPr>
        <p:txBody>
          <a:bodyPr anchorCtr="0" anchor="t" bIns="108925" lIns="108925" spcFirstLastPara="1" rIns="108925" wrap="square" tIns="108925">
            <a:spAutoFit/>
          </a:bodyPr>
          <a:lstStyle/>
          <a:p>
            <a:pPr indent="0" lvl="0" marL="0" rtl="0" algn="l">
              <a:lnSpc>
                <a:spcPct val="115000"/>
              </a:lnSpc>
              <a:spcBef>
                <a:spcPts val="0"/>
              </a:spcBef>
              <a:spcAft>
                <a:spcPts val="0"/>
              </a:spcAft>
              <a:buNone/>
            </a:pPr>
            <a:r>
              <a:rPr lang="en" sz="2000">
                <a:solidFill>
                  <a:srgbClr val="274E13"/>
                </a:solidFill>
              </a:rPr>
              <a:t>RCC Z</a:t>
            </a:r>
            <a:r>
              <a:rPr baseline="-25000" lang="en" sz="2100">
                <a:solidFill>
                  <a:srgbClr val="38761D"/>
                </a:solidFill>
              </a:rPr>
              <a:t>mid</a:t>
            </a:r>
            <a:endParaRPr sz="2000">
              <a:solidFill>
                <a:srgbClr val="38761D"/>
              </a:solidFill>
            </a:endParaRPr>
          </a:p>
        </p:txBody>
      </p:sp>
      <p:sp>
        <p:nvSpPr>
          <p:cNvPr id="1806" name="Google Shape;1806;p106"/>
          <p:cNvSpPr/>
          <p:nvPr/>
        </p:nvSpPr>
        <p:spPr>
          <a:xfrm>
            <a:off x="1600838" y="3002366"/>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07" name="Google Shape;1807;p106"/>
          <p:cNvSpPr txBox="1"/>
          <p:nvPr/>
        </p:nvSpPr>
        <p:spPr>
          <a:xfrm>
            <a:off x="1512673" y="3062605"/>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808" name="Google Shape;1808;p106"/>
          <p:cNvSpPr/>
          <p:nvPr/>
        </p:nvSpPr>
        <p:spPr>
          <a:xfrm>
            <a:off x="2507211" y="252844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09" name="Google Shape;1809;p106"/>
          <p:cNvSpPr txBox="1"/>
          <p:nvPr/>
        </p:nvSpPr>
        <p:spPr>
          <a:xfrm>
            <a:off x="2419046" y="258868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810" name="Google Shape;1810;p106"/>
          <p:cNvSpPr txBox="1"/>
          <p:nvPr>
            <p:ph type="title"/>
          </p:nvPr>
        </p:nvSpPr>
        <p:spPr>
          <a:xfrm>
            <a:off x="1613424" y="2648330"/>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11" name="Google Shape;1811;p106"/>
          <p:cNvSpPr txBox="1"/>
          <p:nvPr>
            <p:ph type="title"/>
          </p:nvPr>
        </p:nvSpPr>
        <p:spPr>
          <a:xfrm>
            <a:off x="2519789" y="217440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12" name="Google Shape;1812;p106"/>
          <p:cNvSpPr txBox="1"/>
          <p:nvPr/>
        </p:nvSpPr>
        <p:spPr>
          <a:xfrm>
            <a:off x="2947900" y="2588663"/>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13" name="Google Shape;1813;p106"/>
          <p:cNvSpPr txBox="1"/>
          <p:nvPr/>
        </p:nvSpPr>
        <p:spPr>
          <a:xfrm>
            <a:off x="567375" y="3010113"/>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14" name="Google Shape;1814;p106"/>
          <p:cNvSpPr/>
          <p:nvPr/>
        </p:nvSpPr>
        <p:spPr>
          <a:xfrm>
            <a:off x="4318175" y="2587000"/>
            <a:ext cx="496800" cy="4545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107"/>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Final Coreset Z</a:t>
            </a:r>
            <a:endParaRPr sz="2420"/>
          </a:p>
        </p:txBody>
      </p:sp>
      <p:sp>
        <p:nvSpPr>
          <p:cNvPr id="1820" name="Google Shape;1820;p107"/>
          <p:cNvSpPr/>
          <p:nvPr/>
        </p:nvSpPr>
        <p:spPr>
          <a:xfrm>
            <a:off x="919800" y="1298100"/>
            <a:ext cx="7304400" cy="2547300"/>
          </a:xfrm>
          <a:prstGeom prst="ellipse">
            <a:avLst/>
          </a:prstGeom>
          <a:solidFill>
            <a:srgbClr val="B6D7A8">
              <a:alpha val="50000"/>
            </a:srgbClr>
          </a:solidFill>
          <a:ln cap="flat" cmpd="sng" w="11350">
            <a:solidFill>
              <a:srgbClr val="6AA84F"/>
            </a:solidFill>
            <a:prstDash val="solid"/>
            <a:round/>
            <a:headEnd len="sm" w="sm" type="none"/>
            <a:tailEnd len="sm" w="sm" type="none"/>
          </a:ln>
        </p:spPr>
        <p:txBody>
          <a:bodyPr anchorCtr="0" anchor="ctr" bIns="108925" lIns="108925" spcFirstLastPara="1" rIns="108925" wrap="square" tIns="108925">
            <a:noAutofit/>
          </a:bodyPr>
          <a:lstStyle/>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l">
              <a:lnSpc>
                <a:spcPct val="115000"/>
              </a:lnSpc>
              <a:spcBef>
                <a:spcPts val="0"/>
              </a:spcBef>
              <a:spcAft>
                <a:spcPts val="0"/>
              </a:spcAft>
              <a:buNone/>
            </a:pPr>
            <a:r>
              <a:t/>
            </a:r>
            <a:endParaRPr sz="1668"/>
          </a:p>
          <a:p>
            <a:pPr indent="0" lvl="0" marL="0" rtl="0" algn="ctr">
              <a:spcBef>
                <a:spcPts val="0"/>
              </a:spcBef>
              <a:spcAft>
                <a:spcPts val="0"/>
              </a:spcAft>
              <a:buNone/>
            </a:pPr>
            <a:r>
              <a:t/>
            </a:r>
            <a:endParaRPr sz="1668"/>
          </a:p>
        </p:txBody>
      </p:sp>
      <p:sp>
        <p:nvSpPr>
          <p:cNvPr id="1821" name="Google Shape;1821;p107"/>
          <p:cNvSpPr txBox="1"/>
          <p:nvPr/>
        </p:nvSpPr>
        <p:spPr>
          <a:xfrm>
            <a:off x="3630603" y="1416498"/>
            <a:ext cx="1882800" cy="528000"/>
          </a:xfrm>
          <a:prstGeom prst="rect">
            <a:avLst/>
          </a:prstGeom>
          <a:noFill/>
          <a:ln>
            <a:noFill/>
          </a:ln>
        </p:spPr>
        <p:txBody>
          <a:bodyPr anchorCtr="0" anchor="t" bIns="108925" lIns="108925" spcFirstLastPara="1" rIns="108925" wrap="square" tIns="108925">
            <a:spAutoFit/>
          </a:bodyPr>
          <a:lstStyle/>
          <a:p>
            <a:pPr indent="0" lvl="0" marL="0" rtl="0" algn="ctr">
              <a:lnSpc>
                <a:spcPct val="115000"/>
              </a:lnSpc>
              <a:spcBef>
                <a:spcPts val="0"/>
              </a:spcBef>
              <a:spcAft>
                <a:spcPts val="0"/>
              </a:spcAft>
              <a:buNone/>
            </a:pPr>
            <a:r>
              <a:rPr lang="en" sz="2000">
                <a:solidFill>
                  <a:srgbClr val="274E13"/>
                </a:solidFill>
              </a:rPr>
              <a:t>RCC Z</a:t>
            </a:r>
            <a:endParaRPr sz="2000">
              <a:solidFill>
                <a:srgbClr val="274E13"/>
              </a:solidFill>
            </a:endParaRPr>
          </a:p>
        </p:txBody>
      </p:sp>
      <p:sp>
        <p:nvSpPr>
          <p:cNvPr id="1822" name="Google Shape;1822;p107"/>
          <p:cNvSpPr/>
          <p:nvPr/>
        </p:nvSpPr>
        <p:spPr>
          <a:xfrm>
            <a:off x="5489999" y="2341330"/>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23" name="Google Shape;1823;p107"/>
          <p:cNvSpPr txBox="1"/>
          <p:nvPr/>
        </p:nvSpPr>
        <p:spPr>
          <a:xfrm>
            <a:off x="5401835" y="240156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824" name="Google Shape;1824;p107"/>
          <p:cNvSpPr/>
          <p:nvPr/>
        </p:nvSpPr>
        <p:spPr>
          <a:xfrm>
            <a:off x="6926901" y="2329781"/>
            <a:ext cx="440700" cy="429000"/>
          </a:xfrm>
          <a:prstGeom prst="ellipse">
            <a:avLst/>
          </a:prstGeom>
          <a:solidFill>
            <a:srgbClr val="B6D7A8"/>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25" name="Google Shape;1825;p107"/>
          <p:cNvSpPr txBox="1"/>
          <p:nvPr/>
        </p:nvSpPr>
        <p:spPr>
          <a:xfrm>
            <a:off x="6838737" y="2390019"/>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826" name="Google Shape;1826;p107"/>
          <p:cNvSpPr txBox="1"/>
          <p:nvPr>
            <p:ph type="title"/>
          </p:nvPr>
        </p:nvSpPr>
        <p:spPr>
          <a:xfrm>
            <a:off x="5502560" y="200848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27" name="Google Shape;1827;p107"/>
          <p:cNvSpPr txBox="1"/>
          <p:nvPr>
            <p:ph type="title"/>
          </p:nvPr>
        </p:nvSpPr>
        <p:spPr>
          <a:xfrm>
            <a:off x="6939462" y="199693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28" name="Google Shape;1828;p107"/>
          <p:cNvSpPr/>
          <p:nvPr/>
        </p:nvSpPr>
        <p:spPr>
          <a:xfrm>
            <a:off x="4305453" y="2357904"/>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29" name="Google Shape;1829;p107"/>
          <p:cNvSpPr txBox="1"/>
          <p:nvPr/>
        </p:nvSpPr>
        <p:spPr>
          <a:xfrm>
            <a:off x="4217263" y="2418142"/>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830" name="Google Shape;1830;p107"/>
          <p:cNvSpPr txBox="1"/>
          <p:nvPr>
            <p:ph type="title"/>
          </p:nvPr>
        </p:nvSpPr>
        <p:spPr>
          <a:xfrm>
            <a:off x="4318021" y="2017889"/>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31" name="Google Shape;1831;p107"/>
          <p:cNvSpPr txBox="1"/>
          <p:nvPr/>
        </p:nvSpPr>
        <p:spPr>
          <a:xfrm>
            <a:off x="4053163" y="2786913"/>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32" name="Google Shape;1832;p107"/>
          <p:cNvSpPr txBox="1"/>
          <p:nvPr/>
        </p:nvSpPr>
        <p:spPr>
          <a:xfrm>
            <a:off x="5237740" y="274127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833" name="Google Shape;1833;p107"/>
          <p:cNvSpPr/>
          <p:nvPr/>
        </p:nvSpPr>
        <p:spPr>
          <a:xfrm>
            <a:off x="2178588" y="2246991"/>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34" name="Google Shape;1834;p107"/>
          <p:cNvSpPr txBox="1"/>
          <p:nvPr/>
        </p:nvSpPr>
        <p:spPr>
          <a:xfrm>
            <a:off x="2090423" y="23072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835" name="Google Shape;1835;p107"/>
          <p:cNvSpPr/>
          <p:nvPr/>
        </p:nvSpPr>
        <p:spPr>
          <a:xfrm>
            <a:off x="3242036" y="2243379"/>
            <a:ext cx="440700" cy="429000"/>
          </a:xfrm>
          <a:prstGeom prst="ellipse">
            <a:avLst/>
          </a:prstGeom>
          <a:solidFill>
            <a:srgbClr val="F4CCCC"/>
          </a:solidFill>
          <a:ln cap="flat" cmpd="sng" w="38100">
            <a:solidFill>
              <a:srgbClr val="0000FF"/>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36" name="Google Shape;1836;p107"/>
          <p:cNvSpPr txBox="1"/>
          <p:nvPr/>
        </p:nvSpPr>
        <p:spPr>
          <a:xfrm>
            <a:off x="3153871" y="2303617"/>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837" name="Google Shape;1837;p107"/>
          <p:cNvSpPr txBox="1"/>
          <p:nvPr>
            <p:ph type="title"/>
          </p:nvPr>
        </p:nvSpPr>
        <p:spPr>
          <a:xfrm>
            <a:off x="2191174" y="189295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38" name="Google Shape;1838;p107"/>
          <p:cNvSpPr txBox="1"/>
          <p:nvPr>
            <p:ph type="title"/>
          </p:nvPr>
        </p:nvSpPr>
        <p:spPr>
          <a:xfrm>
            <a:off x="3254614" y="188934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39" name="Google Shape;1839;p107"/>
          <p:cNvSpPr txBox="1"/>
          <p:nvPr/>
        </p:nvSpPr>
        <p:spPr>
          <a:xfrm>
            <a:off x="2989725" y="269480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40" name="Google Shape;1840;p107"/>
          <p:cNvSpPr txBox="1"/>
          <p:nvPr/>
        </p:nvSpPr>
        <p:spPr>
          <a:xfrm>
            <a:off x="1926275" y="266808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41" name="Google Shape;1841;p107"/>
          <p:cNvSpPr txBox="1"/>
          <p:nvPr/>
        </p:nvSpPr>
        <p:spPr>
          <a:xfrm>
            <a:off x="6674628" y="278692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842" name="Google Shape;1842;p107"/>
          <p:cNvSpPr/>
          <p:nvPr/>
        </p:nvSpPr>
        <p:spPr>
          <a:xfrm>
            <a:off x="2157150" y="4119775"/>
            <a:ext cx="4829700" cy="759300"/>
          </a:xfrm>
          <a:prstGeom prst="roundRect">
            <a:avLst>
              <a:gd fmla="val 16741"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144450" lIns="144450" spcFirstLastPara="1" rIns="144450" wrap="square" tIns="144450">
            <a:noAutofit/>
          </a:bodyPr>
          <a:lstStyle/>
          <a:p>
            <a:pPr indent="0" lvl="0" marL="0" rtl="0" algn="ctr">
              <a:lnSpc>
                <a:spcPct val="115000"/>
              </a:lnSpc>
              <a:spcBef>
                <a:spcPts val="0"/>
              </a:spcBef>
              <a:spcAft>
                <a:spcPts val="0"/>
              </a:spcAft>
              <a:buNone/>
            </a:pPr>
            <a:r>
              <a:rPr lang="en">
                <a:solidFill>
                  <a:srgbClr val="1C4587"/>
                </a:solidFill>
              </a:rPr>
              <a:t>Total weight: 1 + 1 + 1 + 5/2 + 5/2 = 8 = |P|  ✓  — weights correctly scale back to represent all of P</a:t>
            </a:r>
            <a:endParaRPr>
              <a:solidFill>
                <a:srgbClr val="1C4587"/>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108"/>
          <p:cNvSpPr txBox="1"/>
          <p:nvPr/>
        </p:nvSpPr>
        <p:spPr>
          <a:xfrm>
            <a:off x="487650" y="2145600"/>
            <a:ext cx="40785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rPr>
              <a:t>G₁, G₂, F</a:t>
            </a:r>
            <a:r>
              <a:rPr baseline="-25000" lang="en" sz="1200">
                <a:solidFill>
                  <a:schemeClr val="dk1"/>
                </a:solidFill>
              </a:rPr>
              <a:t>α</a:t>
            </a:r>
            <a:r>
              <a:rPr lang="en" sz="1200">
                <a:solidFill>
                  <a:schemeClr val="dk1"/>
                </a:solidFill>
              </a:rPr>
              <a:t> all satisfied w.p. ≥ 1−δ/ℓ per level</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Cost: O(ℓ/ε² · log n/δ) = O(log n/ε² · log n/δ)</a:t>
            </a:r>
            <a:endParaRPr sz="1200">
              <a:solidFill>
                <a:schemeClr val="dk1"/>
              </a:solidFill>
            </a:endParaRPr>
          </a:p>
        </p:txBody>
      </p:sp>
      <p:sp>
        <p:nvSpPr>
          <p:cNvPr id="1848" name="Google Shape;1848;p108"/>
          <p:cNvSpPr txBox="1"/>
          <p:nvPr>
            <p:ph type="title"/>
          </p:nvPr>
        </p:nvSpPr>
        <p:spPr>
          <a:xfrm>
            <a:off x="2022013" y="451025"/>
            <a:ext cx="51000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en"/>
              <a:t>Putting it all together</a:t>
            </a:r>
            <a:endParaRPr/>
          </a:p>
        </p:txBody>
      </p:sp>
      <p:sp>
        <p:nvSpPr>
          <p:cNvPr id="1849" name="Google Shape;1849;p108"/>
          <p:cNvSpPr/>
          <p:nvPr/>
        </p:nvSpPr>
        <p:spPr>
          <a:xfrm>
            <a:off x="525150" y="1741625"/>
            <a:ext cx="3453600" cy="3636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rPr>
              <a:t>O(1/ε² · log(|P|·ℓ/δ)) elements</a:t>
            </a:r>
            <a:endParaRPr sz="1200">
              <a:solidFill>
                <a:schemeClr val="dk1"/>
              </a:solidFill>
            </a:endParaRPr>
          </a:p>
        </p:txBody>
      </p:sp>
      <p:sp>
        <p:nvSpPr>
          <p:cNvPr id="1850" name="Google Shape;1850;p108"/>
          <p:cNvSpPr/>
          <p:nvPr/>
        </p:nvSpPr>
        <p:spPr>
          <a:xfrm>
            <a:off x="525150" y="2827600"/>
            <a:ext cx="7722600" cy="474300"/>
          </a:xfrm>
          <a:prstGeom prst="roundRect">
            <a:avLst>
              <a:gd fmla="val 10737" name="adj"/>
            </a:avLst>
          </a:prstGeom>
          <a:solidFill>
            <a:srgbClr val="CFE2F3">
              <a:alpha val="40000"/>
            </a:srgbClr>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1200">
                <a:solidFill>
                  <a:schemeClr val="dk1"/>
                </a:solidFill>
              </a:rPr>
              <a:t>Theorem 6 is established for d = 1.</a:t>
            </a:r>
            <a:endParaRPr b="1" sz="1200">
              <a:solidFill>
                <a:schemeClr val="dk1"/>
              </a:solidFill>
            </a:endParaRPr>
          </a:p>
        </p:txBody>
      </p:sp>
      <p:sp>
        <p:nvSpPr>
          <p:cNvPr id="1851" name="Google Shape;1851;p108"/>
          <p:cNvSpPr/>
          <p:nvPr/>
        </p:nvSpPr>
        <p:spPr>
          <a:xfrm>
            <a:off x="5068101" y="1741625"/>
            <a:ext cx="3453600" cy="3636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rPr>
              <a:t>O( log n/ε² · log n/δ )  elements</a:t>
            </a:r>
            <a:endParaRPr sz="1200">
              <a:solidFill>
                <a:schemeClr val="dk1"/>
              </a:solidFill>
            </a:endParaRPr>
          </a:p>
        </p:txBody>
      </p:sp>
      <p:sp>
        <p:nvSpPr>
          <p:cNvPr id="1852" name="Google Shape;1852;p108"/>
          <p:cNvSpPr txBox="1"/>
          <p:nvPr/>
        </p:nvSpPr>
        <p:spPr>
          <a:xfrm>
            <a:off x="487650" y="1192925"/>
            <a:ext cx="4116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rPr>
              <a:t>Probing Cost at Each Level</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a:t>
            </a:r>
            <a:r>
              <a:rPr lang="en" sz="1200">
                <a:solidFill>
                  <a:schemeClr val="dk1"/>
                </a:solidFill>
              </a:rPr>
              <a:t>t each of the ℓ = O(log n) recursion levels, probe</a:t>
            </a:r>
            <a:endParaRPr sz="1200">
              <a:solidFill>
                <a:schemeClr val="dk1"/>
              </a:solidFill>
            </a:endParaRPr>
          </a:p>
        </p:txBody>
      </p:sp>
      <p:sp>
        <p:nvSpPr>
          <p:cNvPr id="1853" name="Google Shape;1853;p108"/>
          <p:cNvSpPr txBox="1"/>
          <p:nvPr/>
        </p:nvSpPr>
        <p:spPr>
          <a:xfrm>
            <a:off x="4970738" y="2145588"/>
            <a:ext cx="32778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rPr>
              <a:t>For every h ∈ H</a:t>
            </a:r>
            <a:r>
              <a:rPr baseline="-25000" lang="en" sz="1200">
                <a:solidFill>
                  <a:schemeClr val="dk1"/>
                </a:solidFill>
              </a:rPr>
              <a:t>mon</a:t>
            </a:r>
            <a:r>
              <a:rPr lang="en" sz="1200">
                <a:solidFill>
                  <a:schemeClr val="dk1"/>
                </a:solidFill>
              </a:rPr>
              <a:t>:  w-err</a:t>
            </a:r>
            <a:r>
              <a:rPr baseline="-25000" lang="en" sz="1200">
                <a:solidFill>
                  <a:schemeClr val="dk1"/>
                </a:solidFill>
              </a:rPr>
              <a:t>Z</a:t>
            </a:r>
            <a:r>
              <a:rPr lang="en" sz="1200">
                <a:solidFill>
                  <a:schemeClr val="dk1"/>
                </a:solidFill>
              </a:rPr>
              <a:t>(h) = F(h)</a:t>
            </a:r>
            <a:endParaRPr sz="1200">
              <a:solidFill>
                <a:schemeClr val="dk1"/>
              </a:solidFill>
            </a:endParaRPr>
          </a:p>
        </p:txBody>
      </p:sp>
      <p:sp>
        <p:nvSpPr>
          <p:cNvPr id="1854" name="Google Shape;1854;p108"/>
          <p:cNvSpPr txBox="1"/>
          <p:nvPr/>
        </p:nvSpPr>
        <p:spPr>
          <a:xfrm>
            <a:off x="4970738" y="1159925"/>
            <a:ext cx="32778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rPr>
              <a:t>What BuildCoreset Returns</a:t>
            </a:r>
            <a:endParaRPr b="1" sz="1200">
              <a:solidFill>
                <a:schemeClr val="dk1"/>
              </a:solidFill>
            </a:endParaRPr>
          </a:p>
          <a:p>
            <a:pPr indent="0" lvl="0" marL="0" rtl="0" algn="l">
              <a:lnSpc>
                <a:spcPct val="115000"/>
              </a:lnSpc>
              <a:spcBef>
                <a:spcPts val="0"/>
              </a:spcBef>
              <a:spcAft>
                <a:spcPts val="0"/>
              </a:spcAft>
              <a:buNone/>
            </a:pPr>
            <a:r>
              <a:rPr lang="en" sz="1200">
                <a:solidFill>
                  <a:schemeClr val="dk1"/>
                </a:solidFill>
              </a:rPr>
              <a:t>BuildCoreset returns Z of size</a:t>
            </a:r>
            <a:endParaRPr sz="1200">
              <a:solidFill>
                <a:schemeClr val="dk1"/>
              </a:solidFill>
            </a:endParaRPr>
          </a:p>
        </p:txBody>
      </p:sp>
      <p:sp>
        <p:nvSpPr>
          <p:cNvPr id="1855" name="Google Shape;1855;p108"/>
          <p:cNvSpPr/>
          <p:nvPr/>
        </p:nvSpPr>
        <p:spPr>
          <a:xfrm>
            <a:off x="525150" y="3707450"/>
            <a:ext cx="4041000" cy="947100"/>
          </a:xfrm>
          <a:prstGeom prst="roundRect">
            <a:avLst>
              <a:gd fmla="val 11910" name="adj"/>
            </a:avLst>
          </a:prstGeom>
          <a:solidFill>
            <a:srgbClr val="F4CCCC">
              <a:alpha val="50000"/>
            </a:srgbClr>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rPr>
              <a:t>Given coreset Z: </a:t>
            </a:r>
            <a:endParaRPr sz="1200">
              <a:solidFill>
                <a:schemeClr val="dk1"/>
              </a:solidFill>
            </a:endParaRPr>
          </a:p>
          <a:p>
            <a:pPr indent="0" lvl="0" marL="0" rtl="0" algn="ctr">
              <a:lnSpc>
                <a:spcPct val="115000"/>
              </a:lnSpc>
              <a:spcBef>
                <a:spcPts val="0"/>
              </a:spcBef>
              <a:spcAft>
                <a:spcPts val="0"/>
              </a:spcAft>
              <a:buNone/>
            </a:pPr>
            <a:r>
              <a:rPr b="1" lang="en" sz="1200">
                <a:solidFill>
                  <a:schemeClr val="dk1"/>
                </a:solidFill>
              </a:rPr>
              <a:t>compute  ĥ = argmin</a:t>
            </a:r>
            <a:r>
              <a:rPr b="1" baseline="-25000" lang="en" sz="1200">
                <a:solidFill>
                  <a:schemeClr val="dk1"/>
                </a:solidFill>
              </a:rPr>
              <a:t>{h ∈ H_mon}</a:t>
            </a:r>
            <a:r>
              <a:rPr b="1" lang="en" sz="1200">
                <a:solidFill>
                  <a:schemeClr val="dk1"/>
                </a:solidFill>
              </a:rPr>
              <a:t> w-err</a:t>
            </a:r>
            <a:r>
              <a:rPr b="1" baseline="-25000" lang="en" sz="1200">
                <a:solidFill>
                  <a:schemeClr val="dk1"/>
                </a:solidFill>
              </a:rPr>
              <a:t>Z</a:t>
            </a:r>
            <a:r>
              <a:rPr b="1" lang="en" sz="1200">
                <a:solidFill>
                  <a:schemeClr val="dk1"/>
                </a:solidFill>
              </a:rPr>
              <a:t>(h) </a:t>
            </a:r>
            <a:endParaRPr b="1" sz="1200">
              <a:solidFill>
                <a:schemeClr val="dk1"/>
              </a:solidFill>
            </a:endParaRPr>
          </a:p>
        </p:txBody>
      </p:sp>
      <p:sp>
        <p:nvSpPr>
          <p:cNvPr id="1856" name="Google Shape;1856;p108"/>
          <p:cNvSpPr txBox="1"/>
          <p:nvPr/>
        </p:nvSpPr>
        <p:spPr>
          <a:xfrm>
            <a:off x="493400" y="3368750"/>
            <a:ext cx="4194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rPr>
              <a:t>Finding the Best Classifier — No More Probes</a:t>
            </a:r>
            <a:endParaRPr b="1" sz="1200">
              <a:solidFill>
                <a:schemeClr val="dk1"/>
              </a:solidFill>
            </a:endParaRPr>
          </a:p>
        </p:txBody>
      </p:sp>
      <p:sp>
        <p:nvSpPr>
          <p:cNvPr id="1857" name="Google Shape;1857;p108"/>
          <p:cNvSpPr txBox="1"/>
          <p:nvPr/>
        </p:nvSpPr>
        <p:spPr>
          <a:xfrm>
            <a:off x="4970750" y="3614600"/>
            <a:ext cx="3453600" cy="113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rPr>
              <a:t>Why  errₚ</a:t>
            </a:r>
            <a:r>
              <a:rPr lang="en" sz="1100">
                <a:solidFill>
                  <a:schemeClr val="dk1"/>
                </a:solidFill>
              </a:rPr>
              <a:t>(ĥ) ≤ (1+ε)·k*</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errₚ(ĥ)(1−ε/4)</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  ≤  w-err</a:t>
            </a:r>
            <a:r>
              <a:rPr baseline="-25000" lang="en" sz="1100">
                <a:solidFill>
                  <a:schemeClr val="dk1"/>
                </a:solidFill>
              </a:rPr>
              <a:t>Z</a:t>
            </a:r>
            <a:r>
              <a:rPr lang="en" sz="1100">
                <a:solidFill>
                  <a:schemeClr val="dk1"/>
                </a:solidFill>
              </a:rPr>
              <a:t>((ĥ) − Δ ≤  w-err</a:t>
            </a:r>
            <a:r>
              <a:rPr baseline="-25000" lang="en" sz="1100">
                <a:solidFill>
                  <a:schemeClr val="dk1"/>
                </a:solidFill>
              </a:rPr>
              <a:t>Z</a:t>
            </a:r>
            <a:r>
              <a:rPr lang="en" sz="1100">
                <a:solidFill>
                  <a:schemeClr val="dk1"/>
                </a:solidFill>
              </a:rPr>
              <a:t>(h*) − Δ ≤  errₚ(h*)(1+ε/4)</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Set h = h*, rearrange: errₚ(ĥ) ≤ (1+ε)·k* </a:t>
            </a:r>
            <a:endParaRPr sz="1100">
              <a:solidFill>
                <a:schemeClr val="dk1"/>
              </a:solidFill>
            </a:endParaRPr>
          </a:p>
        </p:txBody>
      </p:sp>
      <p:cxnSp>
        <p:nvCxnSpPr>
          <p:cNvPr id="1858" name="Google Shape;1858;p108"/>
          <p:cNvCxnSpPr/>
          <p:nvPr/>
        </p:nvCxnSpPr>
        <p:spPr>
          <a:xfrm>
            <a:off x="4569313" y="1023725"/>
            <a:ext cx="5400" cy="1632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109"/>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Evaluate w-err</a:t>
            </a:r>
            <a:r>
              <a:rPr baseline="-25000" lang="en" sz="2100"/>
              <a:t>Z</a:t>
            </a:r>
            <a:r>
              <a:rPr lang="en" sz="2100"/>
              <a:t>(h</a:t>
            </a:r>
            <a:r>
              <a:rPr b="1" baseline="-25000" lang="en" sz="2100"/>
              <a:t>τ</a:t>
            </a:r>
            <a:r>
              <a:rPr lang="en" sz="2100"/>
              <a:t>) for All Thresholds</a:t>
            </a:r>
            <a:endParaRPr sz="2420"/>
          </a:p>
        </p:txBody>
      </p:sp>
      <p:graphicFrame>
        <p:nvGraphicFramePr>
          <p:cNvPr id="1864" name="Google Shape;1864;p109"/>
          <p:cNvGraphicFramePr/>
          <p:nvPr/>
        </p:nvGraphicFramePr>
        <p:xfrm>
          <a:off x="1676400" y="2104548"/>
          <a:ext cx="3000000" cy="3000000"/>
        </p:xfrm>
        <a:graphic>
          <a:graphicData uri="http://schemas.openxmlformats.org/drawingml/2006/table">
            <a:tbl>
              <a:tblPr>
                <a:noFill/>
                <a:tableStyleId>{C2A80A2D-5547-4B00-81EF-F7A111BEE14F}</a:tableStyleId>
              </a:tblPr>
              <a:tblGrid>
                <a:gridCol w="1447800"/>
                <a:gridCol w="1447800"/>
                <a:gridCol w="1447800"/>
                <a:gridCol w="1447800"/>
              </a:tblGrid>
              <a:tr h="256475">
                <a:tc>
                  <a:txBody>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solidFill>
                            <a:schemeClr val="dk1"/>
                          </a:solidFill>
                        </a:rPr>
                        <a:t>w-err</a:t>
                      </a:r>
                      <a:r>
                        <a:rPr b="1" baseline="-25000" lang="en" sz="900">
                          <a:solidFill>
                            <a:schemeClr val="dk1"/>
                          </a:solidFill>
                        </a:rPr>
                        <a:t>Z</a:t>
                      </a:r>
                      <a:r>
                        <a:rPr b="1" lang="en" sz="900">
                          <a:solidFill>
                            <a:schemeClr val="dk1"/>
                          </a:solidFill>
                        </a:rPr>
                        <a:t>(h</a:t>
                      </a:r>
                      <a:r>
                        <a:rPr b="1" baseline="-25000" lang="en" sz="900">
                          <a:solidFill>
                            <a:schemeClr val="dk1"/>
                          </a:solidFill>
                        </a:rPr>
                        <a:t>τ</a:t>
                      </a:r>
                      <a:r>
                        <a:rPr b="1" lang="en" sz="900">
                          <a:solidFill>
                            <a:schemeClr val="dk1"/>
                          </a:solidFill>
                        </a:rPr>
                        <a:t>) </a:t>
                      </a:r>
                      <a:endParaRPr b="1"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h</a:t>
                      </a:r>
                      <a:r>
                        <a:rPr b="1" baseline="-25000" lang="en" sz="900">
                          <a:solidFill>
                            <a:schemeClr val="dk1"/>
                          </a:solidFill>
                        </a:rPr>
                        <a:t>τ</a:t>
                      </a:r>
                      <a:endParaRPr b="1" sz="3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c>
                  <a:txBody>
                    <a:bodyPr/>
                    <a:lstStyle/>
                    <a:p>
                      <a:pPr indent="0" lvl="0" marL="0" rtl="0" algn="l">
                        <a:spcBef>
                          <a:spcPts val="0"/>
                        </a:spcBef>
                        <a:spcAft>
                          <a:spcPts val="0"/>
                        </a:spcAft>
                        <a:buNone/>
                      </a:pPr>
                      <a:r>
                        <a:rPr b="1" lang="en" sz="900">
                          <a:solidFill>
                            <a:schemeClr val="dk1"/>
                          </a:solidFill>
                        </a:rPr>
                        <a:t>w-err</a:t>
                      </a:r>
                      <a:r>
                        <a:rPr b="1" baseline="-25000" lang="en" sz="900">
                          <a:solidFill>
                            <a:schemeClr val="dk1"/>
                          </a:solidFill>
                        </a:rPr>
                        <a:t>Z</a:t>
                      </a:r>
                      <a:r>
                        <a:rPr b="1" lang="en" sz="900">
                          <a:solidFill>
                            <a:schemeClr val="dk1"/>
                          </a:solidFill>
                        </a:rPr>
                        <a:t>(h</a:t>
                      </a:r>
                      <a:r>
                        <a:rPr b="1" baseline="-25000" lang="en" sz="900">
                          <a:solidFill>
                            <a:schemeClr val="dk1"/>
                          </a:solidFill>
                        </a:rPr>
                        <a:t>τ</a:t>
                      </a:r>
                      <a:r>
                        <a:rPr b="1" lang="en" sz="900">
                          <a:solidFill>
                            <a:schemeClr val="dk1"/>
                          </a:solidFill>
                        </a:rPr>
                        <a:t>) </a:t>
                      </a:r>
                      <a:endParaRPr b="1"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alpha val="40000"/>
                      </a:srgbClr>
                    </a:solidFill>
                  </a:tcPr>
                </a:tc>
              </a:tr>
              <a:tr h="266700">
                <a:tc>
                  <a:txBody>
                    <a:bodyPr/>
                    <a:lstStyle/>
                    <a:p>
                      <a:pPr indent="0" lvl="0" marL="0" rtl="0" algn="l">
                        <a:lnSpc>
                          <a:spcPct val="115000"/>
                        </a:lnSpc>
                        <a:spcBef>
                          <a:spcPts val="0"/>
                        </a:spcBef>
                        <a:spcAft>
                          <a:spcPts val="0"/>
                        </a:spcAft>
                        <a:buNone/>
                      </a:pPr>
                      <a:r>
                        <a:rPr lang="en" sz="900">
                          <a:solidFill>
                            <a:schemeClr val="dk1"/>
                          </a:solidFill>
                        </a:rPr>
                        <a:t>h</a:t>
                      </a:r>
                      <a:r>
                        <a:rPr baseline="-25000" lang="en" sz="900">
                          <a:solidFill>
                            <a:schemeClr val="dk1"/>
                          </a:solidFill>
                        </a:rPr>
                        <a:t>pos</a:t>
                      </a:r>
                      <a:r>
                        <a:rPr lang="en" sz="900">
                          <a:solidFill>
                            <a:schemeClr val="dk1"/>
                          </a:solidFill>
                        </a:rPr>
                        <a:t> (all +1)</a:t>
                      </a:r>
                      <a:endParaRPr sz="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3</a:t>
                      </a:r>
                      <a:endParaRPr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h</a:t>
                      </a:r>
                      <a:r>
                        <a:rPr baseline="-25000" lang="en" sz="900"/>
                        <a:t>5</a:t>
                      </a:r>
                      <a:endParaRPr baseline="-25000" sz="9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r h="266700">
                <a:tc>
                  <a:txBody>
                    <a:bodyPr/>
                    <a:lstStyle/>
                    <a:p>
                      <a:pPr indent="0" lvl="0" marL="0" rtl="0" algn="l">
                        <a:spcBef>
                          <a:spcPts val="0"/>
                        </a:spcBef>
                        <a:spcAft>
                          <a:spcPts val="0"/>
                        </a:spcAft>
                        <a:buNone/>
                      </a:pPr>
                      <a:r>
                        <a:rPr lang="en" sz="900"/>
                        <a:t>h</a:t>
                      </a:r>
                      <a:r>
                        <a:rPr baseline="-25000" lang="en" sz="900"/>
                        <a:t>1</a:t>
                      </a:r>
                      <a:endParaRPr baseline="-25000"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3</a:t>
                      </a:r>
                      <a:endParaRPr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6</a:t>
                      </a:r>
                      <a:endParaRPr sz="9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7</a:t>
                      </a:r>
                      <a:endParaRPr sz="9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64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3</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1</a:t>
                      </a:r>
                      <a:endParaRPr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8</a:t>
                      </a:r>
                      <a:endParaRPr sz="9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900"/>
                        <a:t>2</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275">
                <a:tc>
                  <a:txBody>
                    <a:bodyPr/>
                    <a:lstStyle/>
                    <a:p>
                      <a:pPr indent="0" lvl="0" marL="0" rtl="0" algn="l">
                        <a:spcBef>
                          <a:spcPts val="0"/>
                        </a:spcBef>
                        <a:spcAft>
                          <a:spcPts val="0"/>
                        </a:spcAft>
                        <a:buNone/>
                      </a:pPr>
                      <a:r>
                        <a:rPr lang="en" sz="900">
                          <a:solidFill>
                            <a:schemeClr val="dk1"/>
                          </a:solidFill>
                        </a:rPr>
                        <a:t>h</a:t>
                      </a:r>
                      <a:r>
                        <a:rPr baseline="-25000" lang="en" sz="900">
                          <a:solidFill>
                            <a:schemeClr val="dk1"/>
                          </a:solidFill>
                        </a:rPr>
                        <a:t>4</a:t>
                      </a:r>
                      <a:endParaRPr sz="9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900"/>
                        <a:t>0</a:t>
                      </a:r>
                      <a:endParaRPr sz="900"/>
                    </a:p>
                  </a:txBody>
                  <a:tcPr marT="91425" marB="91425" marR="91425" marL="91425">
                    <a:lnL cap="flat" cmpd="sng" w="952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sz="900"/>
                    </a:p>
                  </a:txBody>
                  <a:tcPr marT="91425" marB="91425" marR="91425" marL="91425">
                    <a:lnL cap="flat" cmpd="sng" w="2857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865" name="Google Shape;1865;p109"/>
          <p:cNvSpPr/>
          <p:nvPr/>
        </p:nvSpPr>
        <p:spPr>
          <a:xfrm>
            <a:off x="5579737" y="1306891"/>
            <a:ext cx="440700" cy="429000"/>
          </a:xfrm>
          <a:prstGeom prst="ellipse">
            <a:avLst/>
          </a:prstGeom>
          <a:solidFill>
            <a:srgbClr val="B6D7A8"/>
          </a:solidFill>
          <a:ln cap="flat" cmpd="sng" w="19050">
            <a:solidFill>
              <a:srgbClr val="38761D"/>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66" name="Google Shape;1866;p109"/>
          <p:cNvSpPr txBox="1"/>
          <p:nvPr/>
        </p:nvSpPr>
        <p:spPr>
          <a:xfrm>
            <a:off x="5491573" y="1367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867" name="Google Shape;1867;p109"/>
          <p:cNvSpPr/>
          <p:nvPr/>
        </p:nvSpPr>
        <p:spPr>
          <a:xfrm>
            <a:off x="6807839" y="1306891"/>
            <a:ext cx="440700" cy="429000"/>
          </a:xfrm>
          <a:prstGeom prst="ellipse">
            <a:avLst/>
          </a:prstGeom>
          <a:solidFill>
            <a:srgbClr val="B6D7A8"/>
          </a:solidFill>
          <a:ln cap="flat" cmpd="sng" w="19050">
            <a:solidFill>
              <a:srgbClr val="38761D"/>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68" name="Google Shape;1868;p109"/>
          <p:cNvSpPr txBox="1"/>
          <p:nvPr/>
        </p:nvSpPr>
        <p:spPr>
          <a:xfrm>
            <a:off x="6719674" y="1367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869" name="Google Shape;1869;p109"/>
          <p:cNvSpPr txBox="1"/>
          <p:nvPr>
            <p:ph type="title"/>
          </p:nvPr>
        </p:nvSpPr>
        <p:spPr>
          <a:xfrm>
            <a:off x="5592301" y="95285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70" name="Google Shape;1870;p109"/>
          <p:cNvSpPr txBox="1"/>
          <p:nvPr>
            <p:ph type="title"/>
          </p:nvPr>
        </p:nvSpPr>
        <p:spPr>
          <a:xfrm>
            <a:off x="6820400" y="95285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71" name="Google Shape;1871;p109"/>
          <p:cNvSpPr/>
          <p:nvPr/>
        </p:nvSpPr>
        <p:spPr>
          <a:xfrm>
            <a:off x="1895457" y="1306904"/>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72" name="Google Shape;1872;p109"/>
          <p:cNvSpPr txBox="1"/>
          <p:nvPr/>
        </p:nvSpPr>
        <p:spPr>
          <a:xfrm>
            <a:off x="1807268" y="1367142"/>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873" name="Google Shape;1873;p109"/>
          <p:cNvSpPr txBox="1"/>
          <p:nvPr>
            <p:ph type="title"/>
          </p:nvPr>
        </p:nvSpPr>
        <p:spPr>
          <a:xfrm>
            <a:off x="1908005" y="95286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74" name="Google Shape;1874;p109"/>
          <p:cNvSpPr txBox="1"/>
          <p:nvPr/>
        </p:nvSpPr>
        <p:spPr>
          <a:xfrm>
            <a:off x="1643139" y="172800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75" name="Google Shape;1875;p109"/>
          <p:cNvSpPr txBox="1"/>
          <p:nvPr/>
        </p:nvSpPr>
        <p:spPr>
          <a:xfrm>
            <a:off x="5327459" y="172798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876" name="Google Shape;1876;p109"/>
          <p:cNvSpPr/>
          <p:nvPr/>
        </p:nvSpPr>
        <p:spPr>
          <a:xfrm>
            <a:off x="3123534" y="1295279"/>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77" name="Google Shape;1877;p109"/>
          <p:cNvSpPr txBox="1"/>
          <p:nvPr/>
        </p:nvSpPr>
        <p:spPr>
          <a:xfrm>
            <a:off x="3035369" y="1355517"/>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878" name="Google Shape;1878;p109"/>
          <p:cNvSpPr/>
          <p:nvPr/>
        </p:nvSpPr>
        <p:spPr>
          <a:xfrm>
            <a:off x="4351635" y="1295279"/>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879" name="Google Shape;1879;p109"/>
          <p:cNvSpPr txBox="1"/>
          <p:nvPr/>
        </p:nvSpPr>
        <p:spPr>
          <a:xfrm>
            <a:off x="4263471" y="1355517"/>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
        <p:nvSpPr>
          <p:cNvPr id="1880" name="Google Shape;1880;p109"/>
          <p:cNvSpPr txBox="1"/>
          <p:nvPr>
            <p:ph type="title"/>
          </p:nvPr>
        </p:nvSpPr>
        <p:spPr>
          <a:xfrm>
            <a:off x="3136104" y="94124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81" name="Google Shape;1881;p109"/>
          <p:cNvSpPr txBox="1"/>
          <p:nvPr>
            <p:ph type="title"/>
          </p:nvPr>
        </p:nvSpPr>
        <p:spPr>
          <a:xfrm>
            <a:off x="4364203" y="94124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82" name="Google Shape;1882;p109"/>
          <p:cNvSpPr txBox="1"/>
          <p:nvPr/>
        </p:nvSpPr>
        <p:spPr>
          <a:xfrm>
            <a:off x="4099352" y="1716375"/>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83" name="Google Shape;1883;p109"/>
          <p:cNvSpPr txBox="1"/>
          <p:nvPr/>
        </p:nvSpPr>
        <p:spPr>
          <a:xfrm>
            <a:off x="2871245" y="1716375"/>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84" name="Google Shape;1884;p109"/>
          <p:cNvSpPr txBox="1"/>
          <p:nvPr/>
        </p:nvSpPr>
        <p:spPr>
          <a:xfrm>
            <a:off x="6555565" y="172798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110"/>
          <p:cNvSpPr txBox="1"/>
          <p:nvPr>
            <p:ph type="title"/>
          </p:nvPr>
        </p:nvSpPr>
        <p:spPr>
          <a:xfrm>
            <a:off x="1667557" y="451025"/>
            <a:ext cx="5808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100"/>
              <a:t>Example: Evaluate w-err</a:t>
            </a:r>
            <a:r>
              <a:rPr baseline="-25000" lang="en" sz="2100"/>
              <a:t>Z</a:t>
            </a:r>
            <a:r>
              <a:rPr lang="en" sz="2100"/>
              <a:t>(h</a:t>
            </a:r>
            <a:r>
              <a:rPr baseline="-25000" lang="en" sz="2100"/>
              <a:t>τ</a:t>
            </a:r>
            <a:r>
              <a:rPr lang="en" sz="2100"/>
              <a:t>) for All Thresholds</a:t>
            </a:r>
            <a:endParaRPr sz="2420"/>
          </a:p>
        </p:txBody>
      </p:sp>
      <p:sp>
        <p:nvSpPr>
          <p:cNvPr id="1890" name="Google Shape;1890;p110"/>
          <p:cNvSpPr txBox="1"/>
          <p:nvPr>
            <p:ph type="title"/>
          </p:nvPr>
        </p:nvSpPr>
        <p:spPr>
          <a:xfrm>
            <a:off x="5592301" y="95285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91" name="Google Shape;1891;p110"/>
          <p:cNvSpPr txBox="1"/>
          <p:nvPr>
            <p:ph type="title"/>
          </p:nvPr>
        </p:nvSpPr>
        <p:spPr>
          <a:xfrm>
            <a:off x="6820400" y="952855"/>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92" name="Google Shape;1892;p110"/>
          <p:cNvSpPr txBox="1"/>
          <p:nvPr>
            <p:ph type="title"/>
          </p:nvPr>
        </p:nvSpPr>
        <p:spPr>
          <a:xfrm>
            <a:off x="1908005" y="952868"/>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93" name="Google Shape;1893;p110"/>
          <p:cNvSpPr txBox="1"/>
          <p:nvPr/>
        </p:nvSpPr>
        <p:spPr>
          <a:xfrm>
            <a:off x="1643139" y="1728000"/>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94" name="Google Shape;1894;p110"/>
          <p:cNvSpPr txBox="1"/>
          <p:nvPr/>
        </p:nvSpPr>
        <p:spPr>
          <a:xfrm>
            <a:off x="5327459" y="172798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895" name="Google Shape;1895;p110"/>
          <p:cNvSpPr txBox="1"/>
          <p:nvPr>
            <p:ph type="title"/>
          </p:nvPr>
        </p:nvSpPr>
        <p:spPr>
          <a:xfrm>
            <a:off x="3136104" y="94124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96" name="Google Shape;1896;p110"/>
          <p:cNvSpPr txBox="1"/>
          <p:nvPr>
            <p:ph type="title"/>
          </p:nvPr>
        </p:nvSpPr>
        <p:spPr>
          <a:xfrm>
            <a:off x="4364203" y="941243"/>
            <a:ext cx="415500" cy="361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t>-1</a:t>
            </a:r>
            <a:endParaRPr b="1" sz="1200"/>
          </a:p>
        </p:txBody>
      </p:sp>
      <p:sp>
        <p:nvSpPr>
          <p:cNvPr id="1897" name="Google Shape;1897;p110"/>
          <p:cNvSpPr txBox="1"/>
          <p:nvPr/>
        </p:nvSpPr>
        <p:spPr>
          <a:xfrm>
            <a:off x="4099352" y="1716375"/>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98" name="Google Shape;1898;p110"/>
          <p:cNvSpPr txBox="1"/>
          <p:nvPr/>
        </p:nvSpPr>
        <p:spPr>
          <a:xfrm>
            <a:off x="2871245" y="1716375"/>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1</a:t>
            </a:r>
            <a:endParaRPr sz="1000"/>
          </a:p>
        </p:txBody>
      </p:sp>
      <p:sp>
        <p:nvSpPr>
          <p:cNvPr id="1899" name="Google Shape;1899;p110"/>
          <p:cNvSpPr txBox="1"/>
          <p:nvPr/>
        </p:nvSpPr>
        <p:spPr>
          <a:xfrm>
            <a:off x="6555565" y="1727988"/>
            <a:ext cx="9453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t>Weight = 5/2</a:t>
            </a:r>
            <a:endParaRPr sz="1000"/>
          </a:p>
        </p:txBody>
      </p:sp>
      <p:sp>
        <p:nvSpPr>
          <p:cNvPr id="1900" name="Google Shape;1900;p110"/>
          <p:cNvSpPr txBox="1"/>
          <p:nvPr/>
        </p:nvSpPr>
        <p:spPr>
          <a:xfrm>
            <a:off x="3071950" y="416957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1901" name="Google Shape;1901;p110"/>
          <p:cNvSpPr/>
          <p:nvPr/>
        </p:nvSpPr>
        <p:spPr>
          <a:xfrm>
            <a:off x="2210650" y="2695950"/>
            <a:ext cx="4722600" cy="1156200"/>
          </a:xfrm>
          <a:prstGeom prst="roundRect">
            <a:avLst>
              <a:gd fmla="val 11326" name="adj"/>
            </a:avLst>
          </a:prstGeom>
          <a:solidFill>
            <a:srgbClr val="FFF2CC">
              <a:alpha val="50000"/>
            </a:srgbClr>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rPr>
              <a:t>Our final chosen classifier is h</a:t>
            </a:r>
            <a:r>
              <a:rPr baseline="-25000" lang="en">
                <a:solidFill>
                  <a:schemeClr val="dk1"/>
                </a:solidFill>
              </a:rPr>
              <a:t>4 </a:t>
            </a:r>
            <a:r>
              <a:rPr lang="en">
                <a:solidFill>
                  <a:schemeClr val="dk1"/>
                </a:solidFill>
              </a:rPr>
              <a:t>which is the same as the optimal classifier.</a:t>
            </a:r>
            <a:endParaRPr>
              <a:solidFill>
                <a:schemeClr val="dk1"/>
              </a:solidFill>
            </a:endParaRPr>
          </a:p>
          <a:p>
            <a:pPr indent="0" lvl="0" marL="0" rtl="0" algn="ctr">
              <a:lnSpc>
                <a:spcPct val="115000"/>
              </a:lnSpc>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err</a:t>
            </a:r>
            <a:r>
              <a:rPr baseline="-25000" lang="en">
                <a:solidFill>
                  <a:schemeClr val="dk1"/>
                </a:solidFill>
              </a:rPr>
              <a:t>P</a:t>
            </a:r>
            <a:r>
              <a:rPr lang="en">
                <a:solidFill>
                  <a:schemeClr val="dk1"/>
                </a:solidFill>
              </a:rPr>
              <a:t>(h</a:t>
            </a:r>
            <a:r>
              <a:rPr baseline="-25000" lang="en">
                <a:solidFill>
                  <a:schemeClr val="dk1"/>
                </a:solidFill>
              </a:rPr>
              <a:t>4</a:t>
            </a:r>
            <a:r>
              <a:rPr lang="en">
                <a:solidFill>
                  <a:schemeClr val="dk1"/>
                </a:solidFill>
              </a:rPr>
              <a:t>) = 0 ≤ (1+ε)·0 = 0  </a:t>
            </a:r>
            <a:endParaRPr sz="1200">
              <a:solidFill>
                <a:schemeClr val="dk1"/>
              </a:solidFill>
            </a:endParaRPr>
          </a:p>
        </p:txBody>
      </p:sp>
      <p:sp>
        <p:nvSpPr>
          <p:cNvPr id="1902" name="Google Shape;1902;p110"/>
          <p:cNvSpPr/>
          <p:nvPr/>
        </p:nvSpPr>
        <p:spPr>
          <a:xfrm>
            <a:off x="5579737" y="1306891"/>
            <a:ext cx="440700" cy="429000"/>
          </a:xfrm>
          <a:prstGeom prst="ellipse">
            <a:avLst/>
          </a:prstGeom>
          <a:solidFill>
            <a:srgbClr val="B6D7A8"/>
          </a:solidFill>
          <a:ln cap="flat" cmpd="sng" w="19050">
            <a:solidFill>
              <a:srgbClr val="38761D"/>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903" name="Google Shape;1903;p110"/>
          <p:cNvSpPr txBox="1"/>
          <p:nvPr/>
        </p:nvSpPr>
        <p:spPr>
          <a:xfrm>
            <a:off x="5491573" y="1367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6</a:t>
            </a:r>
            <a:endParaRPr b="1" sz="1551">
              <a:solidFill>
                <a:schemeClr val="dk1"/>
              </a:solidFill>
            </a:endParaRPr>
          </a:p>
        </p:txBody>
      </p:sp>
      <p:sp>
        <p:nvSpPr>
          <p:cNvPr id="1904" name="Google Shape;1904;p110"/>
          <p:cNvSpPr/>
          <p:nvPr/>
        </p:nvSpPr>
        <p:spPr>
          <a:xfrm>
            <a:off x="6807839" y="1306891"/>
            <a:ext cx="440700" cy="429000"/>
          </a:xfrm>
          <a:prstGeom prst="ellipse">
            <a:avLst/>
          </a:prstGeom>
          <a:solidFill>
            <a:srgbClr val="B6D7A8"/>
          </a:solidFill>
          <a:ln cap="flat" cmpd="sng" w="19050">
            <a:solidFill>
              <a:srgbClr val="38761D"/>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905" name="Google Shape;1905;p110"/>
          <p:cNvSpPr txBox="1"/>
          <p:nvPr/>
        </p:nvSpPr>
        <p:spPr>
          <a:xfrm>
            <a:off x="6719674" y="1367130"/>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7</a:t>
            </a:r>
            <a:endParaRPr b="1" sz="1551">
              <a:solidFill>
                <a:schemeClr val="dk1"/>
              </a:solidFill>
            </a:endParaRPr>
          </a:p>
        </p:txBody>
      </p:sp>
      <p:sp>
        <p:nvSpPr>
          <p:cNvPr id="1906" name="Google Shape;1906;p110"/>
          <p:cNvSpPr/>
          <p:nvPr/>
        </p:nvSpPr>
        <p:spPr>
          <a:xfrm>
            <a:off x="1895457" y="1306904"/>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907" name="Google Shape;1907;p110"/>
          <p:cNvSpPr txBox="1"/>
          <p:nvPr/>
        </p:nvSpPr>
        <p:spPr>
          <a:xfrm>
            <a:off x="1807268" y="1367142"/>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2</a:t>
            </a:r>
            <a:endParaRPr b="1" sz="1551">
              <a:solidFill>
                <a:schemeClr val="dk1"/>
              </a:solidFill>
            </a:endParaRPr>
          </a:p>
        </p:txBody>
      </p:sp>
      <p:sp>
        <p:nvSpPr>
          <p:cNvPr id="1908" name="Google Shape;1908;p110"/>
          <p:cNvSpPr/>
          <p:nvPr/>
        </p:nvSpPr>
        <p:spPr>
          <a:xfrm>
            <a:off x="3123534" y="1295279"/>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909" name="Google Shape;1909;p110"/>
          <p:cNvSpPr txBox="1"/>
          <p:nvPr/>
        </p:nvSpPr>
        <p:spPr>
          <a:xfrm>
            <a:off x="3035369" y="1355517"/>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3</a:t>
            </a:r>
            <a:endParaRPr b="1" sz="1551">
              <a:solidFill>
                <a:schemeClr val="dk1"/>
              </a:solidFill>
            </a:endParaRPr>
          </a:p>
        </p:txBody>
      </p:sp>
      <p:sp>
        <p:nvSpPr>
          <p:cNvPr id="1910" name="Google Shape;1910;p110"/>
          <p:cNvSpPr/>
          <p:nvPr/>
        </p:nvSpPr>
        <p:spPr>
          <a:xfrm>
            <a:off x="4351635" y="1295279"/>
            <a:ext cx="440700" cy="429000"/>
          </a:xfrm>
          <a:prstGeom prst="ellipse">
            <a:avLst/>
          </a:prstGeom>
          <a:solidFill>
            <a:srgbClr val="F4CCCC"/>
          </a:solidFill>
          <a:ln cap="flat" cmpd="sng" w="19050">
            <a:solidFill>
              <a:srgbClr val="CC0000"/>
            </a:solidFill>
            <a:prstDash val="solid"/>
            <a:round/>
            <a:headEnd len="sm" w="sm" type="none"/>
            <a:tailEnd len="sm" w="sm" type="none"/>
          </a:ln>
        </p:spPr>
        <p:txBody>
          <a:bodyPr anchorCtr="0" anchor="ctr" bIns="141800" lIns="141800" spcFirstLastPara="1" rIns="141800" wrap="square" tIns="141800">
            <a:noAutofit/>
          </a:bodyPr>
          <a:lstStyle/>
          <a:p>
            <a:pPr indent="0" lvl="0" marL="0" rtl="0" algn="ctr">
              <a:lnSpc>
                <a:spcPct val="115000"/>
              </a:lnSpc>
              <a:spcBef>
                <a:spcPts val="0"/>
              </a:spcBef>
              <a:spcAft>
                <a:spcPts val="0"/>
              </a:spcAft>
              <a:buNone/>
            </a:pPr>
            <a:r>
              <a:t/>
            </a:r>
            <a:endParaRPr sz="1551"/>
          </a:p>
        </p:txBody>
      </p:sp>
      <p:sp>
        <p:nvSpPr>
          <p:cNvPr id="1911" name="Google Shape;1911;p110"/>
          <p:cNvSpPr txBox="1"/>
          <p:nvPr/>
        </p:nvSpPr>
        <p:spPr>
          <a:xfrm>
            <a:off x="4263471" y="1355517"/>
            <a:ext cx="617100" cy="308400"/>
          </a:xfrm>
          <a:prstGeom prst="rect">
            <a:avLst/>
          </a:prstGeom>
          <a:noFill/>
          <a:ln>
            <a:noFill/>
          </a:ln>
        </p:spPr>
        <p:txBody>
          <a:bodyPr anchorCtr="0" anchor="ctr" bIns="141800" lIns="141800" spcFirstLastPara="1" rIns="141800" wrap="square" tIns="141800">
            <a:noAutofit/>
          </a:bodyPr>
          <a:lstStyle/>
          <a:p>
            <a:pPr indent="0" lvl="0" marL="0" rtl="0" algn="ctr">
              <a:spcBef>
                <a:spcPts val="0"/>
              </a:spcBef>
              <a:spcAft>
                <a:spcPts val="0"/>
              </a:spcAft>
              <a:buNone/>
            </a:pPr>
            <a:r>
              <a:rPr b="1" lang="en" sz="1551">
                <a:solidFill>
                  <a:schemeClr val="dk1"/>
                </a:solidFill>
              </a:rPr>
              <a:t>4</a:t>
            </a:r>
            <a:endParaRPr b="1" sz="1551">
              <a:solidFill>
                <a:schemeClr val="dk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111"/>
          <p:cNvSpPr txBox="1"/>
          <p:nvPr>
            <p:ph type="title"/>
          </p:nvPr>
        </p:nvSpPr>
        <p:spPr>
          <a:xfrm>
            <a:off x="1002900" y="747550"/>
            <a:ext cx="7138200" cy="630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Extension to Higher Dimensions </a:t>
            </a:r>
            <a:endParaRPr/>
          </a:p>
        </p:txBody>
      </p:sp>
      <p:sp>
        <p:nvSpPr>
          <p:cNvPr id="1917" name="Google Shape;1917;p111"/>
          <p:cNvSpPr/>
          <p:nvPr/>
        </p:nvSpPr>
        <p:spPr>
          <a:xfrm>
            <a:off x="399750" y="1566625"/>
            <a:ext cx="4062600" cy="945600"/>
          </a:xfrm>
          <a:prstGeom prst="roundRect">
            <a:avLst>
              <a:gd fmla="val 11910" name="adj"/>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rgbClr val="990000"/>
                </a:solidFill>
              </a:rPr>
              <a:t>Dilworth’s Theorem</a:t>
            </a:r>
            <a:endParaRPr sz="1500">
              <a:solidFill>
                <a:srgbClr val="990000"/>
              </a:solidFill>
            </a:endParaRPr>
          </a:p>
          <a:p>
            <a:pPr indent="0" lvl="0" marL="0" rtl="0" algn="ctr">
              <a:lnSpc>
                <a:spcPct val="115000"/>
              </a:lnSpc>
              <a:spcBef>
                <a:spcPts val="0"/>
              </a:spcBef>
              <a:spcAft>
                <a:spcPts val="0"/>
              </a:spcAft>
              <a:buClr>
                <a:schemeClr val="dk1"/>
              </a:buClr>
              <a:buSzPts val="1100"/>
              <a:buFont typeface="Arial"/>
              <a:buNone/>
            </a:pPr>
            <a:r>
              <a:rPr lang="en" sz="1200">
                <a:solidFill>
                  <a:srgbClr val="111827"/>
                </a:solidFill>
              </a:rPr>
              <a:t>Decompose P into w chains C</a:t>
            </a:r>
            <a:r>
              <a:rPr baseline="-25000" lang="en" sz="1200">
                <a:solidFill>
                  <a:srgbClr val="111827"/>
                </a:solidFill>
              </a:rPr>
              <a:t>1</a:t>
            </a:r>
            <a:r>
              <a:rPr lang="en" sz="1200">
                <a:solidFill>
                  <a:srgbClr val="111827"/>
                </a:solidFill>
              </a:rPr>
              <a:t>, …, C</a:t>
            </a:r>
            <a:r>
              <a:rPr baseline="-25000" lang="en" sz="1200">
                <a:solidFill>
                  <a:srgbClr val="111827"/>
                </a:solidFill>
              </a:rPr>
              <a:t>w</a:t>
            </a:r>
            <a:r>
              <a:rPr lang="en" sz="1200">
                <a:solidFill>
                  <a:srgbClr val="111827"/>
                </a:solidFill>
              </a:rPr>
              <a:t> (w = width of P)</a:t>
            </a:r>
            <a:endParaRPr sz="1500">
              <a:solidFill>
                <a:srgbClr val="990000"/>
              </a:solidFill>
            </a:endParaRPr>
          </a:p>
        </p:txBody>
      </p:sp>
      <p:sp>
        <p:nvSpPr>
          <p:cNvPr id="1918" name="Google Shape;1918;p111"/>
          <p:cNvSpPr/>
          <p:nvPr/>
        </p:nvSpPr>
        <p:spPr>
          <a:xfrm>
            <a:off x="4681638" y="1576675"/>
            <a:ext cx="4062600" cy="925500"/>
          </a:xfrm>
          <a:prstGeom prst="roundRect">
            <a:avLst>
              <a:gd fmla="val 11326"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500">
                <a:solidFill>
                  <a:srgbClr val="BF9000"/>
                </a:solidFill>
              </a:rPr>
              <a:t>Each chain → 1D sub-problem</a:t>
            </a:r>
            <a:endParaRPr sz="1500">
              <a:solidFill>
                <a:srgbClr val="BF9000"/>
              </a:solidFill>
            </a:endParaRPr>
          </a:p>
          <a:p>
            <a:pPr indent="-304800" lvl="0" marL="457200" rtl="0" algn="l">
              <a:lnSpc>
                <a:spcPct val="115000"/>
              </a:lnSpc>
              <a:spcBef>
                <a:spcPts val="0"/>
              </a:spcBef>
              <a:spcAft>
                <a:spcPts val="0"/>
              </a:spcAft>
              <a:buClr>
                <a:srgbClr val="111827"/>
              </a:buClr>
              <a:buSzPts val="1200"/>
              <a:buChar char="●"/>
            </a:pPr>
            <a:r>
              <a:rPr lang="en" sz="1200">
                <a:solidFill>
                  <a:srgbClr val="111827"/>
                </a:solidFill>
              </a:rPr>
              <a:t>Treat each C</a:t>
            </a:r>
            <a:r>
              <a:rPr baseline="-25000" lang="en" sz="1200">
                <a:solidFill>
                  <a:srgbClr val="111827"/>
                </a:solidFill>
              </a:rPr>
              <a:t>i</a:t>
            </a:r>
            <a:r>
              <a:rPr lang="en" sz="1200">
                <a:solidFill>
                  <a:srgbClr val="111827"/>
                </a:solidFill>
              </a:rPr>
              <a:t> as a 1D instance.</a:t>
            </a:r>
            <a:endParaRPr sz="1200">
              <a:solidFill>
                <a:srgbClr val="111827"/>
              </a:solidFill>
            </a:endParaRPr>
          </a:p>
          <a:p>
            <a:pPr indent="-304800" lvl="0" marL="457200" rtl="0" algn="l">
              <a:lnSpc>
                <a:spcPct val="115000"/>
              </a:lnSpc>
              <a:spcBef>
                <a:spcPts val="0"/>
              </a:spcBef>
              <a:spcAft>
                <a:spcPts val="0"/>
              </a:spcAft>
              <a:buClr>
                <a:srgbClr val="111827"/>
              </a:buClr>
              <a:buSzPts val="1200"/>
              <a:buChar char="●"/>
            </a:pPr>
            <a:r>
              <a:rPr lang="en" sz="1200">
                <a:solidFill>
                  <a:srgbClr val="111827"/>
                </a:solidFill>
              </a:rPr>
              <a:t>Apply 1D coreset construction.</a:t>
            </a:r>
            <a:endParaRPr sz="1500">
              <a:solidFill>
                <a:srgbClr val="BF9000"/>
              </a:solidFill>
            </a:endParaRPr>
          </a:p>
        </p:txBody>
      </p:sp>
      <p:sp>
        <p:nvSpPr>
          <p:cNvPr id="1919" name="Google Shape;1919;p111"/>
          <p:cNvSpPr/>
          <p:nvPr/>
        </p:nvSpPr>
        <p:spPr>
          <a:xfrm>
            <a:off x="4681625" y="2748250"/>
            <a:ext cx="4062600" cy="925500"/>
          </a:xfrm>
          <a:prstGeom prst="roundRect">
            <a:avLst>
              <a:gd fmla="val 10737" name="adj"/>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rgbClr val="0B5394"/>
                </a:solidFill>
              </a:rPr>
              <a:t>Combine sub-coresets</a:t>
            </a:r>
            <a:endParaRPr sz="1500">
              <a:solidFill>
                <a:srgbClr val="0B5394"/>
              </a:solidFill>
            </a:endParaRPr>
          </a:p>
          <a:p>
            <a:pPr indent="0" lvl="0" marL="0" rtl="0" algn="ctr">
              <a:lnSpc>
                <a:spcPct val="115000"/>
              </a:lnSpc>
              <a:spcBef>
                <a:spcPts val="0"/>
              </a:spcBef>
              <a:spcAft>
                <a:spcPts val="0"/>
              </a:spcAft>
              <a:buNone/>
            </a:pPr>
            <a:r>
              <a:rPr lang="en" sz="1200">
                <a:solidFill>
                  <a:srgbClr val="111827"/>
                </a:solidFill>
                <a:latin typeface="Calibri"/>
                <a:ea typeface="Calibri"/>
                <a:cs typeface="Calibri"/>
                <a:sym typeface="Calibri"/>
              </a:rPr>
              <a:t>Z = ∪ Zi     </a:t>
            </a:r>
            <a:endParaRPr sz="1200">
              <a:solidFill>
                <a:srgbClr val="111827"/>
              </a:solidFill>
              <a:latin typeface="Calibri"/>
              <a:ea typeface="Calibri"/>
              <a:cs typeface="Calibri"/>
              <a:sym typeface="Calibri"/>
            </a:endParaRPr>
          </a:p>
          <a:p>
            <a:pPr indent="0" lvl="0" marL="0" rtl="0" algn="ctr">
              <a:lnSpc>
                <a:spcPct val="115000"/>
              </a:lnSpc>
              <a:spcBef>
                <a:spcPts val="0"/>
              </a:spcBef>
              <a:spcAft>
                <a:spcPts val="0"/>
              </a:spcAft>
              <a:buNone/>
            </a:pPr>
            <a:r>
              <a:rPr lang="en" sz="1200">
                <a:solidFill>
                  <a:srgbClr val="111827"/>
                </a:solidFill>
                <a:latin typeface="Calibri"/>
                <a:ea typeface="Calibri"/>
                <a:cs typeface="Calibri"/>
                <a:sym typeface="Calibri"/>
              </a:rPr>
              <a:t>err</a:t>
            </a:r>
            <a:r>
              <a:rPr baseline="-25000" lang="en" sz="1200">
                <a:solidFill>
                  <a:srgbClr val="111827"/>
                </a:solidFill>
                <a:latin typeface="Calibri"/>
                <a:ea typeface="Calibri"/>
                <a:cs typeface="Calibri"/>
                <a:sym typeface="Calibri"/>
              </a:rPr>
              <a:t>P</a:t>
            </a:r>
            <a:r>
              <a:rPr lang="en" sz="1200">
                <a:solidFill>
                  <a:srgbClr val="111827"/>
                </a:solidFill>
                <a:latin typeface="Calibri"/>
                <a:ea typeface="Calibri"/>
                <a:cs typeface="Calibri"/>
                <a:sym typeface="Calibri"/>
              </a:rPr>
              <a:t>(h) = Σ err</a:t>
            </a:r>
            <a:r>
              <a:rPr baseline="-25000" lang="en" sz="1200">
                <a:solidFill>
                  <a:srgbClr val="111827"/>
                </a:solidFill>
                <a:latin typeface="Calibri"/>
                <a:ea typeface="Calibri"/>
                <a:cs typeface="Calibri"/>
                <a:sym typeface="Calibri"/>
              </a:rPr>
              <a:t>Ci</a:t>
            </a:r>
            <a:r>
              <a:rPr lang="en" sz="1200">
                <a:solidFill>
                  <a:srgbClr val="111827"/>
                </a:solidFill>
                <a:latin typeface="Calibri"/>
                <a:ea typeface="Calibri"/>
                <a:cs typeface="Calibri"/>
                <a:sym typeface="Calibri"/>
              </a:rPr>
              <a:t>(h) → w-err</a:t>
            </a:r>
            <a:r>
              <a:rPr baseline="-25000" lang="en" sz="1200">
                <a:solidFill>
                  <a:srgbClr val="111827"/>
                </a:solidFill>
                <a:latin typeface="Calibri"/>
                <a:ea typeface="Calibri"/>
                <a:cs typeface="Calibri"/>
                <a:sym typeface="Calibri"/>
              </a:rPr>
              <a:t>Z</a:t>
            </a:r>
            <a:r>
              <a:rPr lang="en" sz="1200">
                <a:solidFill>
                  <a:srgbClr val="111827"/>
                </a:solidFill>
                <a:latin typeface="Calibri"/>
                <a:ea typeface="Calibri"/>
                <a:cs typeface="Calibri"/>
                <a:sym typeface="Calibri"/>
              </a:rPr>
              <a:t>(h) = Σ w-err</a:t>
            </a:r>
            <a:r>
              <a:rPr baseline="-25000" lang="en" sz="1200">
                <a:solidFill>
                  <a:srgbClr val="111827"/>
                </a:solidFill>
                <a:latin typeface="Calibri"/>
                <a:ea typeface="Calibri"/>
                <a:cs typeface="Calibri"/>
                <a:sym typeface="Calibri"/>
              </a:rPr>
              <a:t>Zi</a:t>
            </a:r>
            <a:r>
              <a:rPr lang="en" sz="1200">
                <a:solidFill>
                  <a:srgbClr val="111827"/>
                </a:solidFill>
                <a:latin typeface="Calibri"/>
                <a:ea typeface="Calibri"/>
                <a:cs typeface="Calibri"/>
                <a:sym typeface="Calibri"/>
              </a:rPr>
              <a:t>(h)</a:t>
            </a:r>
            <a:endParaRPr sz="1500">
              <a:solidFill>
                <a:srgbClr val="0B5394"/>
              </a:solidFill>
            </a:endParaRPr>
          </a:p>
        </p:txBody>
      </p:sp>
      <p:sp>
        <p:nvSpPr>
          <p:cNvPr id="1920" name="Google Shape;1920;p111"/>
          <p:cNvSpPr/>
          <p:nvPr/>
        </p:nvSpPr>
        <p:spPr>
          <a:xfrm>
            <a:off x="399750" y="2748250"/>
            <a:ext cx="4062600" cy="9255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rgbClr val="38761D"/>
                </a:solidFill>
              </a:rPr>
              <a:t>Shifts add up </a:t>
            </a:r>
            <a:endParaRPr sz="1500">
              <a:solidFill>
                <a:srgbClr val="38761D"/>
              </a:solidFill>
            </a:endParaRPr>
          </a:p>
          <a:p>
            <a:pPr indent="0" lvl="0" marL="0" rtl="0" algn="ctr">
              <a:lnSpc>
                <a:spcPct val="115000"/>
              </a:lnSpc>
              <a:spcBef>
                <a:spcPts val="0"/>
              </a:spcBef>
              <a:spcAft>
                <a:spcPts val="0"/>
              </a:spcAft>
              <a:buNone/>
            </a:pPr>
            <a:r>
              <a:rPr lang="en" sz="1200">
                <a:solidFill>
                  <a:srgbClr val="111827"/>
                </a:solidFill>
              </a:rPr>
              <a:t>Δ = Σ Δ</a:t>
            </a:r>
            <a:r>
              <a:rPr baseline="-25000" lang="en" sz="1200">
                <a:solidFill>
                  <a:srgbClr val="111827"/>
                </a:solidFill>
              </a:rPr>
              <a:t>i </a:t>
            </a:r>
            <a:r>
              <a:rPr lang="en" sz="1200">
                <a:solidFill>
                  <a:srgbClr val="111827"/>
                </a:solidFill>
              </a:rPr>
              <a:t> — comparison property still holds globally</a:t>
            </a:r>
            <a:endParaRPr sz="1500">
              <a:solidFill>
                <a:srgbClr val="38761D"/>
              </a:solidFill>
            </a:endParaRPr>
          </a:p>
        </p:txBody>
      </p:sp>
      <p:sp>
        <p:nvSpPr>
          <p:cNvPr id="1921" name="Google Shape;1921;p111"/>
          <p:cNvSpPr/>
          <p:nvPr/>
        </p:nvSpPr>
        <p:spPr>
          <a:xfrm>
            <a:off x="4322988" y="1891975"/>
            <a:ext cx="530400" cy="29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2" name="Google Shape;1922;p111"/>
          <p:cNvSpPr/>
          <p:nvPr/>
        </p:nvSpPr>
        <p:spPr>
          <a:xfrm rot="5401944">
            <a:off x="6447740" y="2481878"/>
            <a:ext cx="530400" cy="29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3" name="Google Shape;1923;p111"/>
          <p:cNvSpPr/>
          <p:nvPr/>
        </p:nvSpPr>
        <p:spPr>
          <a:xfrm rot="10800000">
            <a:off x="4296213" y="3063550"/>
            <a:ext cx="530400" cy="29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4" name="Google Shape;1924;p111"/>
          <p:cNvSpPr txBox="1"/>
          <p:nvPr/>
        </p:nvSpPr>
        <p:spPr>
          <a:xfrm>
            <a:off x="1501788" y="3829450"/>
            <a:ext cx="61728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t>Total probes: O(log(n/δ)/ε² · Σ log|Cᵢ|) = O(log(n/δ)/ε² · w·log(n/w)) </a:t>
            </a:r>
            <a:endParaRPr/>
          </a:p>
          <a:p>
            <a:pPr indent="0" lvl="0" marL="0" rtl="0" algn="ctr">
              <a:lnSpc>
                <a:spcPct val="115000"/>
              </a:lnSpc>
              <a:spcBef>
                <a:spcPts val="0"/>
              </a:spcBef>
              <a:spcAft>
                <a:spcPts val="0"/>
              </a:spcAft>
              <a:buNone/>
            </a:pPr>
            <a:r>
              <a:rPr lang="en"/>
              <a:t>= O(w/ε² · log(nw/δ) · log n)  — same bound as Theorem 6</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p112"/>
          <p:cNvSpPr txBox="1"/>
          <p:nvPr>
            <p:ph type="title"/>
          </p:nvPr>
        </p:nvSpPr>
        <p:spPr>
          <a:xfrm>
            <a:off x="2641350" y="451025"/>
            <a:ext cx="38613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Clr>
                <a:schemeClr val="dk1"/>
              </a:buClr>
              <a:buSzPct val="39286"/>
              <a:buFont typeface="Arial"/>
              <a:buNone/>
            </a:pPr>
            <a:r>
              <a:rPr lang="en"/>
              <a:t>Summary</a:t>
            </a:r>
            <a:endParaRPr/>
          </a:p>
          <a:p>
            <a:pPr indent="0" lvl="0" marL="0" rtl="0" algn="l">
              <a:lnSpc>
                <a:spcPct val="115000"/>
              </a:lnSpc>
              <a:spcBef>
                <a:spcPts val="0"/>
              </a:spcBef>
              <a:spcAft>
                <a:spcPts val="0"/>
              </a:spcAft>
              <a:buClr>
                <a:schemeClr val="dk1"/>
              </a:buClr>
              <a:buSzPct val="39286"/>
              <a:buFont typeface="Arial"/>
              <a:buNone/>
            </a:pPr>
            <a:r>
              <a:t/>
            </a:r>
            <a:endParaRPr/>
          </a:p>
          <a:p>
            <a:pPr indent="0" lvl="0" marL="0" rtl="0" algn="ctr">
              <a:spcBef>
                <a:spcPts val="0"/>
              </a:spcBef>
              <a:spcAft>
                <a:spcPts val="0"/>
              </a:spcAft>
              <a:buNone/>
            </a:pPr>
            <a:r>
              <a:t/>
            </a:r>
            <a:endParaRPr/>
          </a:p>
        </p:txBody>
      </p:sp>
      <p:sp>
        <p:nvSpPr>
          <p:cNvPr id="1930" name="Google Shape;1930;p112"/>
          <p:cNvSpPr/>
          <p:nvPr/>
        </p:nvSpPr>
        <p:spPr>
          <a:xfrm>
            <a:off x="399750" y="1167688"/>
            <a:ext cx="4062600" cy="1419300"/>
          </a:xfrm>
          <a:prstGeom prst="roundRect">
            <a:avLst>
              <a:gd fmla="val 11910" name="adj"/>
            </a:avLst>
          </a:prstGeom>
          <a:solidFill>
            <a:srgbClr val="F4CCCC"/>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500">
                <a:solidFill>
                  <a:srgbClr val="990000"/>
                </a:solidFill>
              </a:rPr>
              <a:t>The Problem</a:t>
            </a:r>
            <a:endParaRPr sz="1500">
              <a:solidFill>
                <a:srgbClr val="990000"/>
              </a:solidFill>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rPr>
              <a:t>RPE gives 2k* but that's not tight enough. We want (1+ε)k* for any ε &gt; 0. Direct estimation costs Ω(n) probes — we need a smarter approach</a:t>
            </a:r>
            <a:r>
              <a:rPr lang="en" sz="1300">
                <a:solidFill>
                  <a:srgbClr val="990000"/>
                </a:solidFill>
              </a:rPr>
              <a:t>.</a:t>
            </a:r>
            <a:endParaRPr sz="1500">
              <a:solidFill>
                <a:srgbClr val="990000"/>
              </a:solidFill>
            </a:endParaRPr>
          </a:p>
        </p:txBody>
      </p:sp>
      <p:sp>
        <p:nvSpPr>
          <p:cNvPr id="1931" name="Google Shape;1931;p112"/>
          <p:cNvSpPr/>
          <p:nvPr/>
        </p:nvSpPr>
        <p:spPr>
          <a:xfrm>
            <a:off x="4681650" y="1167688"/>
            <a:ext cx="4062600" cy="1419300"/>
          </a:xfrm>
          <a:prstGeom prst="roundRect">
            <a:avLst>
              <a:gd fmla="val 11326" name="adj"/>
            </a:avLst>
          </a:prstGeom>
          <a:solidFill>
            <a:srgbClr val="FFF2CC"/>
          </a:solid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500">
                <a:solidFill>
                  <a:srgbClr val="BF9000"/>
                </a:solidFill>
              </a:rPr>
              <a:t>The Unknown-Δ Trick</a:t>
            </a:r>
            <a:endParaRPr sz="1500">
              <a:solidFill>
                <a:srgbClr val="BF9000"/>
              </a:solidFill>
            </a:endParaRPr>
          </a:p>
          <a:p>
            <a:pPr indent="0" lvl="0" marL="0" rtl="0" algn="l">
              <a:lnSpc>
                <a:spcPct val="115000"/>
              </a:lnSpc>
              <a:spcBef>
                <a:spcPts val="0"/>
              </a:spcBef>
              <a:spcAft>
                <a:spcPts val="0"/>
              </a:spcAft>
              <a:buNone/>
            </a:pPr>
            <a:r>
              <a:rPr lang="en" sz="1200">
                <a:solidFill>
                  <a:schemeClr val="dk1"/>
                </a:solidFill>
              </a:rPr>
              <a:t>Instead of estimating err</a:t>
            </a:r>
            <a:r>
              <a:rPr baseline="-25000" lang="en" sz="1200">
                <a:solidFill>
                  <a:schemeClr val="dk1"/>
                </a:solidFill>
              </a:rPr>
              <a:t>P</a:t>
            </a:r>
            <a:r>
              <a:rPr lang="en" sz="1200">
                <a:solidFill>
                  <a:schemeClr val="dk1"/>
                </a:solidFill>
              </a:rPr>
              <a:t>(h) exactly, find F where all estimates are shifted by the same unknown constant Δ.</a:t>
            </a:r>
            <a:endParaRPr sz="1200">
              <a:solidFill>
                <a:schemeClr val="dk1"/>
              </a:solidFill>
            </a:endParaRPr>
          </a:p>
        </p:txBody>
      </p:sp>
      <p:sp>
        <p:nvSpPr>
          <p:cNvPr id="1932" name="Google Shape;1932;p112"/>
          <p:cNvSpPr/>
          <p:nvPr/>
        </p:nvSpPr>
        <p:spPr>
          <a:xfrm>
            <a:off x="4681625" y="2748250"/>
            <a:ext cx="4062600" cy="1419300"/>
          </a:xfrm>
          <a:prstGeom prst="roundRect">
            <a:avLst>
              <a:gd fmla="val 10737" name="adj"/>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500">
                <a:solidFill>
                  <a:srgbClr val="0B5394"/>
                </a:solidFill>
              </a:rPr>
              <a:t>The Guarantee</a:t>
            </a:r>
            <a:endParaRPr sz="1500">
              <a:solidFill>
                <a:srgbClr val="0B5394"/>
              </a:solidFill>
            </a:endParaRPr>
          </a:p>
          <a:p>
            <a:pPr indent="0" lvl="0" marL="0" rtl="0" algn="l">
              <a:lnSpc>
                <a:spcPct val="115000"/>
              </a:lnSpc>
              <a:spcBef>
                <a:spcPts val="0"/>
              </a:spcBef>
              <a:spcAft>
                <a:spcPts val="0"/>
              </a:spcAft>
              <a:buNone/>
            </a:pPr>
            <a:r>
              <a:rPr lang="en" sz="1200">
                <a:solidFill>
                  <a:schemeClr val="dk1"/>
                </a:solidFill>
              </a:rPr>
              <a:t>Minimise w-err</a:t>
            </a:r>
            <a:r>
              <a:rPr baseline="-25000" lang="en" sz="1200">
                <a:solidFill>
                  <a:schemeClr val="dk1"/>
                </a:solidFill>
              </a:rPr>
              <a:t>Z</a:t>
            </a:r>
            <a:r>
              <a:rPr lang="en" sz="1200">
                <a:solidFill>
                  <a:schemeClr val="dk1"/>
                </a:solidFill>
              </a:rPr>
              <a:t> over Z — no further probes needed. Since w-errZ = F satisfies the relative comparison property, the minimiser ĥ achieves err</a:t>
            </a:r>
            <a:r>
              <a:rPr baseline="-25000" lang="en" sz="1200">
                <a:solidFill>
                  <a:schemeClr val="dk1"/>
                </a:solidFill>
              </a:rPr>
              <a:t>P</a:t>
            </a:r>
            <a:r>
              <a:rPr lang="en" sz="1200">
                <a:solidFill>
                  <a:schemeClr val="dk1"/>
                </a:solidFill>
              </a:rPr>
              <a:t>(ĥ) ≤ (1+ε)·k* using O(w/ε² · log²n) probes total.</a:t>
            </a:r>
            <a:endParaRPr sz="1500">
              <a:solidFill>
                <a:srgbClr val="0B5394"/>
              </a:solidFill>
            </a:endParaRPr>
          </a:p>
        </p:txBody>
      </p:sp>
      <p:sp>
        <p:nvSpPr>
          <p:cNvPr id="1933" name="Google Shape;1933;p112"/>
          <p:cNvSpPr/>
          <p:nvPr/>
        </p:nvSpPr>
        <p:spPr>
          <a:xfrm>
            <a:off x="399750" y="2748175"/>
            <a:ext cx="4062600" cy="1419300"/>
          </a:xfrm>
          <a:prstGeom prst="roundRect">
            <a:avLst>
              <a:gd fmla="val 10737" name="adj"/>
            </a:avLst>
          </a:prstGeom>
          <a:solidFill>
            <a:srgbClr val="B6D7A8">
              <a:alpha val="50000"/>
            </a:srgbClr>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500">
                <a:solidFill>
                  <a:srgbClr val="38761D"/>
                </a:solidFill>
              </a:rPr>
              <a:t>Building the Coreset</a:t>
            </a:r>
            <a:endParaRPr sz="1500">
              <a:solidFill>
                <a:srgbClr val="38761D"/>
              </a:solidFill>
            </a:endParaRPr>
          </a:p>
          <a:p>
            <a:pPr indent="0" lvl="0" marL="0" rtl="0" algn="l">
              <a:lnSpc>
                <a:spcPct val="115000"/>
              </a:lnSpc>
              <a:spcBef>
                <a:spcPts val="0"/>
              </a:spcBef>
              <a:spcAft>
                <a:spcPts val="0"/>
              </a:spcAft>
              <a:buNone/>
            </a:pPr>
            <a:r>
              <a:rPr lang="en" sz="1200">
                <a:solidFill>
                  <a:schemeClr val="dk1"/>
                </a:solidFill>
              </a:rPr>
              <a:t>Split P into P</a:t>
            </a:r>
            <a:r>
              <a:rPr baseline="-25000" lang="en" sz="1200">
                <a:solidFill>
                  <a:schemeClr val="dk1"/>
                </a:solidFill>
              </a:rPr>
              <a:t>α</a:t>
            </a:r>
            <a:r>
              <a:rPr lang="en" sz="1200">
                <a:solidFill>
                  <a:schemeClr val="dk1"/>
                </a:solidFill>
              </a:rPr>
              <a:t>, P</a:t>
            </a:r>
            <a:r>
              <a:rPr baseline="-25000" lang="en" sz="1200">
                <a:solidFill>
                  <a:schemeClr val="dk1"/>
                </a:solidFill>
              </a:rPr>
              <a:t>mid</a:t>
            </a:r>
            <a:r>
              <a:rPr lang="en" sz="1200">
                <a:solidFill>
                  <a:schemeClr val="dk1"/>
                </a:solidFill>
              </a:rPr>
              <a:t>, P</a:t>
            </a:r>
            <a:r>
              <a:rPr baseline="-25000" lang="en" sz="1200">
                <a:solidFill>
                  <a:schemeClr val="dk1"/>
                </a:solidFill>
              </a:rPr>
              <a:t>rest</a:t>
            </a:r>
            <a:r>
              <a:rPr lang="en" sz="1200">
                <a:solidFill>
                  <a:schemeClr val="dk1"/>
                </a:solidFill>
              </a:rPr>
              <a:t> using G₁. Sample from outer parts with rescaling weights. Recurse on P</a:t>
            </a:r>
            <a:r>
              <a:rPr baseline="-25000" lang="en" sz="1200">
                <a:solidFill>
                  <a:schemeClr val="dk1"/>
                </a:solidFill>
              </a:rPr>
              <a:t>mid</a:t>
            </a:r>
            <a:r>
              <a:rPr lang="en" sz="1200">
                <a:solidFill>
                  <a:schemeClr val="dk1"/>
                </a:solidFill>
              </a:rPr>
              <a:t>. Since |P</a:t>
            </a:r>
            <a:r>
              <a:rPr baseline="-25000" lang="en" sz="1200">
                <a:solidFill>
                  <a:schemeClr val="dk1"/>
                </a:solidFill>
              </a:rPr>
              <a:t>mid</a:t>
            </a:r>
            <a:r>
              <a:rPr lang="en" sz="1200">
                <a:solidFill>
                  <a:schemeClr val="dk1"/>
                </a:solidFill>
              </a:rPr>
              <a:t>| &lt; |P|/2 at every level, recursion terminates in O(log n) steps.</a:t>
            </a:r>
            <a:endParaRPr sz="1500">
              <a:solidFill>
                <a:srgbClr val="38761D"/>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1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 4 lower bounds and proofs</a:t>
            </a:r>
            <a:endParaRPr/>
          </a:p>
        </p:txBody>
      </p:sp>
      <p:pic>
        <p:nvPicPr>
          <p:cNvPr id="1939" name="Google Shape;1939;p113"/>
          <p:cNvPicPr preferRelativeResize="0"/>
          <p:nvPr/>
        </p:nvPicPr>
        <p:blipFill rotWithShape="1">
          <a:blip r:embed="rId3">
            <a:alphaModFix/>
          </a:blip>
          <a:srcRect b="0" l="0" r="0" t="25440"/>
          <a:stretch/>
        </p:blipFill>
        <p:spPr>
          <a:xfrm>
            <a:off x="2650750" y="1371600"/>
            <a:ext cx="3227550" cy="27153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4" name="Shape 1944"/>
        <p:cNvGrpSpPr/>
        <p:nvPr/>
      </p:nvGrpSpPr>
      <p:grpSpPr>
        <a:xfrm>
          <a:off x="0" y="0"/>
          <a:ext cx="0" cy="0"/>
          <a:chOff x="0" y="0"/>
          <a:chExt cx="0" cy="0"/>
        </a:xfrm>
      </p:grpSpPr>
      <p:sp>
        <p:nvSpPr>
          <p:cNvPr id="1945" name="Google Shape;1945;p114"/>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1 / 8</a:t>
            </a:r>
            <a:endParaRPr b="0" i="0" sz="800" u="none" cap="none" strike="noStrike">
              <a:solidFill>
                <a:schemeClr val="dk1"/>
              </a:solidFill>
              <a:latin typeface="Calibri"/>
              <a:ea typeface="Calibri"/>
              <a:cs typeface="Calibri"/>
              <a:sym typeface="Calibri"/>
            </a:endParaRPr>
          </a:p>
        </p:txBody>
      </p:sp>
      <p:sp>
        <p:nvSpPr>
          <p:cNvPr id="1946" name="Google Shape;1946;p114"/>
          <p:cNvSpPr/>
          <p:nvPr/>
        </p:nvSpPr>
        <p:spPr>
          <a:xfrm>
            <a:off x="685800" y="82296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Can we do better?  </a:t>
            </a:r>
            <a:endParaRPr i="0" sz="3000" u="none" cap="none" strike="noStrike">
              <a:solidFill>
                <a:schemeClr val="dk1"/>
              </a:solidFill>
            </a:endParaRPr>
          </a:p>
        </p:txBody>
      </p:sp>
      <p:sp>
        <p:nvSpPr>
          <p:cNvPr id="1947" name="Google Shape;1947;p114"/>
          <p:cNvSpPr/>
          <p:nvPr/>
        </p:nvSpPr>
        <p:spPr>
          <a:xfrm>
            <a:off x="685800" y="171450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RPE gives </a:t>
            </a:r>
            <a:r>
              <a:rPr i="0" lang="en" sz="1700" u="none" cap="none" strike="noStrike">
                <a:solidFill>
                  <a:srgbClr val="222222"/>
                </a:solidFill>
                <a:highlight>
                  <a:srgbClr val="FFE066"/>
                </a:highlight>
              </a:rPr>
              <a:t>expected error at most 2k*</a:t>
            </a:r>
            <a:r>
              <a:rPr i="0" lang="en" sz="1700" u="none" cap="none" strike="noStrike">
                <a:solidFill>
                  <a:srgbClr val="222222"/>
                </a:solidFill>
              </a:rPr>
              <a:t> in O(w Log(n/w)) probes</a:t>
            </a:r>
            <a:endParaRPr i="0" sz="1700" u="none" cap="none" strike="noStrike">
              <a:solidFill>
                <a:schemeClr val="dk1"/>
              </a:solidFill>
            </a:endParaRPr>
          </a:p>
        </p:txBody>
      </p:sp>
      <p:sp>
        <p:nvSpPr>
          <p:cNvPr id="1948" name="Google Shape;1948;p114"/>
          <p:cNvSpPr/>
          <p:nvPr/>
        </p:nvSpPr>
        <p:spPr>
          <a:xfrm>
            <a:off x="685800" y="219456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Coreset gives </a:t>
            </a:r>
            <a:r>
              <a:rPr i="0" lang="en" sz="1700" u="none" cap="none" strike="noStrike">
                <a:solidFill>
                  <a:srgbClr val="222222"/>
                </a:solidFill>
                <a:highlight>
                  <a:srgbClr val="FFE066"/>
                </a:highlight>
              </a:rPr>
              <a:t>error at most (1+e)k*</a:t>
            </a:r>
            <a:r>
              <a:rPr i="0" lang="en" sz="1700" u="none" cap="none" strike="noStrike">
                <a:solidFill>
                  <a:srgbClr val="222222"/>
                </a:solidFill>
              </a:rPr>
              <a:t> in O(w/e^2 Log(n/w) log n) probes</a:t>
            </a:r>
            <a:endParaRPr i="0" sz="1700" u="none" cap="none" strike="noStrike">
              <a:solidFill>
                <a:schemeClr val="dk1"/>
              </a:solidFill>
            </a:endParaRPr>
          </a:p>
        </p:txBody>
      </p:sp>
      <p:pic>
        <p:nvPicPr>
          <p:cNvPr id="1949" name="Google Shape;1949;p114"/>
          <p:cNvPicPr preferRelativeResize="0"/>
          <p:nvPr/>
        </p:nvPicPr>
        <p:blipFill rotWithShape="1">
          <a:blip r:embed="rId3">
            <a:alphaModFix/>
          </a:blip>
          <a:srcRect b="25003" l="0" r="0" t="22216"/>
          <a:stretch/>
        </p:blipFill>
        <p:spPr>
          <a:xfrm>
            <a:off x="1966563" y="2832750"/>
            <a:ext cx="4107775" cy="1056224"/>
          </a:xfrm>
          <a:prstGeom prst="rect">
            <a:avLst/>
          </a:prstGeom>
          <a:noFill/>
          <a:ln>
            <a:noFill/>
          </a:ln>
        </p:spPr>
      </p:pic>
      <p:sp>
        <p:nvSpPr>
          <p:cNvPr id="1950" name="Google Shape;1950;p114"/>
          <p:cNvSpPr/>
          <p:nvPr/>
        </p:nvSpPr>
        <p:spPr>
          <a:xfrm>
            <a:off x="3054038" y="3048251"/>
            <a:ext cx="20013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88888"/>
              </a:buClr>
              <a:buSzPts val="1700"/>
              <a:buFont typeface="Calibri"/>
              <a:buNone/>
            </a:pPr>
            <a:r>
              <a:rPr i="0" lang="en" sz="1700" u="none" cap="none" strike="noStrike">
                <a:solidFill>
                  <a:schemeClr val="dk1"/>
                </a:solidFill>
              </a:rPr>
              <a:t>Are these the best we can do?</a:t>
            </a:r>
            <a:endParaRPr i="0" sz="1700" u="none" cap="none" strike="noStrike">
              <a:solidFill>
                <a:schemeClr val="dk1"/>
              </a:solidFill>
            </a:endParaRPr>
          </a:p>
        </p:txBody>
      </p:sp>
      <p:pic>
        <p:nvPicPr>
          <p:cNvPr id="1951" name="Google Shape;1951;p114"/>
          <p:cNvPicPr preferRelativeResize="0"/>
          <p:nvPr/>
        </p:nvPicPr>
        <p:blipFill>
          <a:blip r:embed="rId4">
            <a:alphaModFix/>
          </a:blip>
          <a:stretch>
            <a:fillRect/>
          </a:stretch>
        </p:blipFill>
        <p:spPr>
          <a:xfrm>
            <a:off x="519872" y="2503225"/>
            <a:ext cx="2001150" cy="25717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6" name="Shape 1956"/>
        <p:cNvGrpSpPr/>
        <p:nvPr/>
      </p:nvGrpSpPr>
      <p:grpSpPr>
        <a:xfrm>
          <a:off x="0" y="0"/>
          <a:ext cx="0" cy="0"/>
          <a:chOff x="0" y="0"/>
          <a:chExt cx="0" cy="0"/>
        </a:xfrm>
      </p:grpSpPr>
      <p:sp>
        <p:nvSpPr>
          <p:cNvPr id="1957" name="Google Shape;1957;p115"/>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2 / 8</a:t>
            </a:r>
            <a:endParaRPr b="0" i="0" sz="800" u="none" cap="none" strike="noStrike">
              <a:solidFill>
                <a:schemeClr val="dk1"/>
              </a:solidFill>
              <a:latin typeface="Calibri"/>
              <a:ea typeface="Calibri"/>
              <a:cs typeface="Calibri"/>
              <a:sym typeface="Calibri"/>
            </a:endParaRPr>
          </a:p>
        </p:txBody>
      </p:sp>
      <p:sp>
        <p:nvSpPr>
          <p:cNvPr id="1958" name="Google Shape;1958;p115"/>
          <p:cNvSpPr/>
          <p:nvPr/>
        </p:nvSpPr>
        <p:spPr>
          <a:xfrm>
            <a:off x="685800" y="82296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Finding k* exactly is hopeless</a:t>
            </a:r>
            <a:endParaRPr i="0" sz="3000" u="none" cap="none" strike="noStrike">
              <a:solidFill>
                <a:schemeClr val="dk1"/>
              </a:solidFill>
            </a:endParaRPr>
          </a:p>
        </p:txBody>
      </p:sp>
      <p:sp>
        <p:nvSpPr>
          <p:cNvPr id="1959" name="Google Shape;1959;p115"/>
          <p:cNvSpPr/>
          <p:nvPr/>
        </p:nvSpPr>
        <p:spPr>
          <a:xfrm>
            <a:off x="685800" y="192024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Any algorithm that outputs the </a:t>
            </a:r>
            <a:r>
              <a:rPr i="0" lang="en" sz="1800" u="none" cap="none" strike="noStrike">
                <a:solidFill>
                  <a:srgbClr val="222222"/>
                </a:solidFill>
                <a:highlight>
                  <a:srgbClr val="FFE066"/>
                </a:highlight>
              </a:rPr>
              <a:t>optimal classifier</a:t>
            </a:r>
            <a:endParaRPr i="0" sz="1800" u="none" cap="none" strike="noStrike">
              <a:solidFill>
                <a:schemeClr val="dk1"/>
              </a:solidFill>
            </a:endParaRPr>
          </a:p>
        </p:txBody>
      </p:sp>
      <p:sp>
        <p:nvSpPr>
          <p:cNvPr id="1960" name="Google Shape;1960;p115"/>
          <p:cNvSpPr/>
          <p:nvPr/>
        </p:nvSpPr>
        <p:spPr>
          <a:xfrm>
            <a:off x="685800" y="233172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must probe </a:t>
            </a:r>
            <a:r>
              <a:rPr lang="en" sz="1800">
                <a:solidFill>
                  <a:srgbClr val="222222"/>
                </a:solidFill>
                <a:highlight>
                  <a:srgbClr val="FFE066"/>
                </a:highlight>
              </a:rPr>
              <a:t>Ω(n)</a:t>
            </a:r>
            <a:r>
              <a:rPr i="0" lang="en" sz="1800" u="none" cap="none" strike="noStrike">
                <a:solidFill>
                  <a:srgbClr val="222222"/>
                </a:solidFill>
              </a:rPr>
              <a:t> elements</a:t>
            </a:r>
            <a:endParaRPr i="0" sz="1800" u="none" cap="none" strike="noStrike">
              <a:solidFill>
                <a:schemeClr val="dk1"/>
              </a:solidFill>
            </a:endParaRPr>
          </a:p>
        </p:txBody>
      </p:sp>
      <p:sp>
        <p:nvSpPr>
          <p:cNvPr id="1961" name="Google Shape;1961;p115"/>
          <p:cNvSpPr/>
          <p:nvPr/>
        </p:nvSpPr>
        <p:spPr>
          <a:xfrm>
            <a:off x="685800" y="308610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88888"/>
              </a:buClr>
              <a:buSzPts val="1700"/>
              <a:buFont typeface="Calibri"/>
              <a:buNone/>
            </a:pPr>
            <a:r>
              <a:rPr i="0" lang="en" sz="1700" u="none" cap="none" strike="noStrike">
                <a:solidFill>
                  <a:srgbClr val="888888"/>
                </a:solidFill>
              </a:rPr>
              <a:t>even in 1D, even if k* is known in advance</a:t>
            </a:r>
            <a:endParaRPr i="0" sz="1700" u="none" cap="none" strike="noStrike">
              <a:solidFill>
                <a:schemeClr val="dk1"/>
              </a:solidFill>
            </a:endParaRPr>
          </a:p>
        </p:txBody>
      </p:sp>
      <p:pic>
        <p:nvPicPr>
          <p:cNvPr id="1962" name="Google Shape;1962;p115"/>
          <p:cNvPicPr preferRelativeResize="0"/>
          <p:nvPr/>
        </p:nvPicPr>
        <p:blipFill>
          <a:blip r:embed="rId3">
            <a:alphaModFix/>
          </a:blip>
          <a:stretch>
            <a:fillRect/>
          </a:stretch>
        </p:blipFill>
        <p:spPr>
          <a:xfrm>
            <a:off x="5719907" y="1453550"/>
            <a:ext cx="2778493" cy="24614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7" name="Shape 1967"/>
        <p:cNvGrpSpPr/>
        <p:nvPr/>
      </p:nvGrpSpPr>
      <p:grpSpPr>
        <a:xfrm>
          <a:off x="0" y="0"/>
          <a:ext cx="0" cy="0"/>
          <a:chOff x="0" y="0"/>
          <a:chExt cx="0" cy="0"/>
        </a:xfrm>
      </p:grpSpPr>
      <p:sp>
        <p:nvSpPr>
          <p:cNvPr id="1968" name="Google Shape;1968;p116"/>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3 / 8</a:t>
            </a:r>
            <a:endParaRPr b="0" i="0" sz="800" u="none" cap="none" strike="noStrike">
              <a:solidFill>
                <a:schemeClr val="dk1"/>
              </a:solidFill>
              <a:latin typeface="Calibri"/>
              <a:ea typeface="Calibri"/>
              <a:cs typeface="Calibri"/>
              <a:sym typeface="Calibri"/>
            </a:endParaRPr>
          </a:p>
        </p:txBody>
      </p:sp>
      <p:sp>
        <p:nvSpPr>
          <p:cNvPr id="1969" name="Google Shape;1969;p116"/>
          <p:cNvSpPr/>
          <p:nvPr/>
        </p:nvSpPr>
        <p:spPr>
          <a:xfrm>
            <a:off x="685800" y="54864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How do we prove it?</a:t>
            </a:r>
            <a:endParaRPr i="0" sz="3000" u="none" cap="none" strike="noStrike">
              <a:solidFill>
                <a:schemeClr val="dk1"/>
              </a:solidFill>
            </a:endParaRPr>
          </a:p>
        </p:txBody>
      </p:sp>
      <p:sp>
        <p:nvSpPr>
          <p:cNvPr id="1970" name="Google Shape;1970;p116"/>
          <p:cNvSpPr/>
          <p:nvPr/>
        </p:nvSpPr>
        <p:spPr>
          <a:xfrm>
            <a:off x="685800" y="130302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Construct a </a:t>
            </a:r>
            <a:r>
              <a:rPr i="0" lang="en" sz="1700" u="none" cap="none" strike="noStrike">
                <a:solidFill>
                  <a:srgbClr val="222222"/>
                </a:solidFill>
                <a:highlight>
                  <a:srgbClr val="FFE066"/>
                </a:highlight>
              </a:rPr>
              <a:t>hard input family</a:t>
            </a:r>
            <a:r>
              <a:rPr i="0" lang="en" sz="1700" u="none" cap="none" strike="noStrike">
                <a:solidFill>
                  <a:srgbClr val="222222"/>
                </a:solidFill>
              </a:rPr>
              <a:t> — n/2 pairs, one anomaly hidden</a:t>
            </a:r>
            <a:endParaRPr i="0" sz="1700" u="none" cap="none" strike="noStrike">
              <a:solidFill>
                <a:schemeClr val="dk1"/>
              </a:solidFill>
            </a:endParaRPr>
          </a:p>
        </p:txBody>
      </p:sp>
      <p:sp>
        <p:nvSpPr>
          <p:cNvPr id="1971" name="Google Shape;1971;p116"/>
          <p:cNvSpPr/>
          <p:nvPr/>
        </p:nvSpPr>
        <p:spPr>
          <a:xfrm>
            <a:off x="685800" y="2057400"/>
            <a:ext cx="1095900" cy="1547100"/>
          </a:xfrm>
          <a:prstGeom prst="roundRect">
            <a:avLst>
              <a:gd fmla="val 8696" name="adj"/>
            </a:avLst>
          </a:prstGeom>
          <a:solidFill>
            <a:srgbClr val="FFFFFF"/>
          </a:solidFill>
          <a:ln cap="flat" cmpd="sng" w="1905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2" name="Google Shape;1972;p116"/>
          <p:cNvSpPr/>
          <p:nvPr/>
        </p:nvSpPr>
        <p:spPr>
          <a:xfrm>
            <a:off x="1019306" y="2229313"/>
            <a:ext cx="333600" cy="401100"/>
          </a:xfrm>
          <a:prstGeom prst="ellipse">
            <a:avLst/>
          </a:prstGeom>
          <a:solidFill>
            <a:srgbClr val="3B5BDB"/>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3" name="Google Shape;1973;p116"/>
          <p:cNvSpPr/>
          <p:nvPr/>
        </p:nvSpPr>
        <p:spPr>
          <a:xfrm>
            <a:off x="1019306" y="2229313"/>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74" name="Google Shape;1974;p116"/>
          <p:cNvSpPr/>
          <p:nvPr/>
        </p:nvSpPr>
        <p:spPr>
          <a:xfrm>
            <a:off x="1019306" y="2687747"/>
            <a:ext cx="333600" cy="401100"/>
          </a:xfrm>
          <a:prstGeom prst="ellipse">
            <a:avLst/>
          </a:prstGeom>
          <a:solidFill>
            <a:srgbClr val="E03131"/>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5" name="Google Shape;1975;p116"/>
          <p:cNvSpPr/>
          <p:nvPr/>
        </p:nvSpPr>
        <p:spPr>
          <a:xfrm>
            <a:off x="1019306" y="2687747"/>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76" name="Google Shape;1976;p116"/>
          <p:cNvSpPr/>
          <p:nvPr/>
        </p:nvSpPr>
        <p:spPr>
          <a:xfrm>
            <a:off x="685800" y="3203485"/>
            <a:ext cx="1095900" cy="343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800"/>
              <a:buFont typeface="Calibri"/>
              <a:buNone/>
            </a:pPr>
            <a:r>
              <a:rPr i="0" lang="en" sz="800" u="none" cap="none" strike="noStrike">
                <a:solidFill>
                  <a:srgbClr val="999999"/>
                </a:solidFill>
              </a:rPr>
              <a:t>normal</a:t>
            </a:r>
            <a:endParaRPr i="0" sz="800" u="none" cap="none" strike="noStrike">
              <a:solidFill>
                <a:schemeClr val="dk1"/>
              </a:solidFill>
            </a:endParaRPr>
          </a:p>
        </p:txBody>
      </p:sp>
      <p:sp>
        <p:nvSpPr>
          <p:cNvPr id="1977" name="Google Shape;1977;p116"/>
          <p:cNvSpPr/>
          <p:nvPr/>
        </p:nvSpPr>
        <p:spPr>
          <a:xfrm>
            <a:off x="2019825" y="2057400"/>
            <a:ext cx="1095900" cy="1547100"/>
          </a:xfrm>
          <a:prstGeom prst="roundRect">
            <a:avLst>
              <a:gd fmla="val 8696" name="adj"/>
            </a:avLst>
          </a:prstGeom>
          <a:solidFill>
            <a:srgbClr val="FFFFFF"/>
          </a:solidFill>
          <a:ln cap="flat" cmpd="sng" w="1905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8" name="Google Shape;1978;p116"/>
          <p:cNvSpPr/>
          <p:nvPr/>
        </p:nvSpPr>
        <p:spPr>
          <a:xfrm>
            <a:off x="2353331" y="2229313"/>
            <a:ext cx="333600" cy="401100"/>
          </a:xfrm>
          <a:prstGeom prst="ellipse">
            <a:avLst/>
          </a:prstGeom>
          <a:solidFill>
            <a:srgbClr val="3B5BDB"/>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9" name="Google Shape;1979;p116"/>
          <p:cNvSpPr/>
          <p:nvPr/>
        </p:nvSpPr>
        <p:spPr>
          <a:xfrm>
            <a:off x="2353331" y="2229313"/>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80" name="Google Shape;1980;p116"/>
          <p:cNvSpPr/>
          <p:nvPr/>
        </p:nvSpPr>
        <p:spPr>
          <a:xfrm>
            <a:off x="2353331" y="2687747"/>
            <a:ext cx="333600" cy="401100"/>
          </a:xfrm>
          <a:prstGeom prst="ellipse">
            <a:avLst/>
          </a:prstGeom>
          <a:solidFill>
            <a:srgbClr val="E03131"/>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1" name="Google Shape;1981;p116"/>
          <p:cNvSpPr/>
          <p:nvPr/>
        </p:nvSpPr>
        <p:spPr>
          <a:xfrm>
            <a:off x="2353331" y="2687747"/>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82" name="Google Shape;1982;p116"/>
          <p:cNvSpPr/>
          <p:nvPr/>
        </p:nvSpPr>
        <p:spPr>
          <a:xfrm>
            <a:off x="2019825" y="3203485"/>
            <a:ext cx="1095900" cy="343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800"/>
              <a:buFont typeface="Calibri"/>
              <a:buNone/>
            </a:pPr>
            <a:r>
              <a:rPr i="0" lang="en" sz="800" u="none" cap="none" strike="noStrike">
                <a:solidFill>
                  <a:srgbClr val="999999"/>
                </a:solidFill>
              </a:rPr>
              <a:t>normal</a:t>
            </a:r>
            <a:endParaRPr i="0" sz="800" u="none" cap="none" strike="noStrike">
              <a:solidFill>
                <a:schemeClr val="dk1"/>
              </a:solidFill>
            </a:endParaRPr>
          </a:p>
        </p:txBody>
      </p:sp>
      <p:sp>
        <p:nvSpPr>
          <p:cNvPr id="1983" name="Google Shape;1983;p116"/>
          <p:cNvSpPr/>
          <p:nvPr/>
        </p:nvSpPr>
        <p:spPr>
          <a:xfrm>
            <a:off x="3353850" y="2057400"/>
            <a:ext cx="571800" cy="137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BBBBBB"/>
              </a:buClr>
              <a:buSzPts val="2100"/>
              <a:buFont typeface="Calibri"/>
              <a:buNone/>
            </a:pPr>
            <a:r>
              <a:rPr i="0" lang="en" sz="2100" u="none" cap="none" strike="noStrike">
                <a:solidFill>
                  <a:srgbClr val="BBBBBB"/>
                </a:solidFill>
              </a:rPr>
              <a:t>…</a:t>
            </a:r>
            <a:endParaRPr i="0" sz="2100" u="none" cap="none" strike="noStrike">
              <a:solidFill>
                <a:schemeClr val="dk1"/>
              </a:solidFill>
            </a:endParaRPr>
          </a:p>
        </p:txBody>
      </p:sp>
      <p:sp>
        <p:nvSpPr>
          <p:cNvPr id="1984" name="Google Shape;1984;p116"/>
          <p:cNvSpPr/>
          <p:nvPr/>
        </p:nvSpPr>
        <p:spPr>
          <a:xfrm>
            <a:off x="4306725" y="2057400"/>
            <a:ext cx="1095900" cy="1547100"/>
          </a:xfrm>
          <a:prstGeom prst="roundRect">
            <a:avLst>
              <a:gd fmla="val 8696" name="adj"/>
            </a:avLst>
          </a:prstGeom>
          <a:solidFill>
            <a:srgbClr val="FFF8E1"/>
          </a:solidFill>
          <a:ln cap="flat" cmpd="sng" w="19050">
            <a:solidFill>
              <a:srgbClr val="E6770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5" name="Google Shape;1985;p116"/>
          <p:cNvSpPr/>
          <p:nvPr/>
        </p:nvSpPr>
        <p:spPr>
          <a:xfrm>
            <a:off x="4640232" y="2229313"/>
            <a:ext cx="333600" cy="401100"/>
          </a:xfrm>
          <a:prstGeom prst="ellipse">
            <a:avLst/>
          </a:prstGeom>
          <a:solidFill>
            <a:srgbClr val="E67700"/>
          </a:solidFill>
          <a:ln cap="flat" cmpd="sng" w="9525">
            <a:solidFill>
              <a:srgbClr val="FFF8E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6" name="Google Shape;1986;p116"/>
          <p:cNvSpPr/>
          <p:nvPr/>
        </p:nvSpPr>
        <p:spPr>
          <a:xfrm>
            <a:off x="4640232" y="2229313"/>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87" name="Google Shape;1987;p116"/>
          <p:cNvSpPr/>
          <p:nvPr/>
        </p:nvSpPr>
        <p:spPr>
          <a:xfrm>
            <a:off x="4640232" y="2687747"/>
            <a:ext cx="333600" cy="401100"/>
          </a:xfrm>
          <a:prstGeom prst="ellipse">
            <a:avLst/>
          </a:prstGeom>
          <a:solidFill>
            <a:srgbClr val="E67700"/>
          </a:solidFill>
          <a:ln cap="flat" cmpd="sng" w="9525">
            <a:solidFill>
              <a:srgbClr val="FFF8E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8" name="Google Shape;1988;p116"/>
          <p:cNvSpPr/>
          <p:nvPr/>
        </p:nvSpPr>
        <p:spPr>
          <a:xfrm>
            <a:off x="4640232" y="2687747"/>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89" name="Google Shape;1989;p116"/>
          <p:cNvSpPr/>
          <p:nvPr/>
        </p:nvSpPr>
        <p:spPr>
          <a:xfrm>
            <a:off x="4306725" y="3203485"/>
            <a:ext cx="1095900" cy="343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67700"/>
              </a:buClr>
              <a:buSzPts val="800"/>
              <a:buFont typeface="Calibri"/>
              <a:buNone/>
            </a:pPr>
            <a:r>
              <a:rPr i="0" lang="en" sz="800" u="none" cap="none" strike="noStrike">
                <a:solidFill>
                  <a:srgbClr val="E67700"/>
                </a:solidFill>
              </a:rPr>
              <a:t>anomaly</a:t>
            </a:r>
            <a:endParaRPr i="0" sz="800" u="none" cap="none" strike="noStrike">
              <a:solidFill>
                <a:schemeClr val="dk1"/>
              </a:solidFill>
            </a:endParaRPr>
          </a:p>
        </p:txBody>
      </p:sp>
      <p:sp>
        <p:nvSpPr>
          <p:cNvPr id="1990" name="Google Shape;1990;p116"/>
          <p:cNvSpPr/>
          <p:nvPr/>
        </p:nvSpPr>
        <p:spPr>
          <a:xfrm>
            <a:off x="5831326" y="2057400"/>
            <a:ext cx="571800" cy="137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BBBBBB"/>
              </a:buClr>
              <a:buSzPts val="2100"/>
              <a:buFont typeface="Calibri"/>
              <a:buNone/>
            </a:pPr>
            <a:r>
              <a:rPr i="0" lang="en" sz="2100" u="none" cap="none" strike="noStrike">
                <a:solidFill>
                  <a:srgbClr val="BBBBBB"/>
                </a:solidFill>
              </a:rPr>
              <a:t>…</a:t>
            </a:r>
            <a:endParaRPr i="0" sz="2100" u="none" cap="none" strike="noStrike">
              <a:solidFill>
                <a:schemeClr val="dk1"/>
              </a:solidFill>
            </a:endParaRPr>
          </a:p>
        </p:txBody>
      </p:sp>
      <p:sp>
        <p:nvSpPr>
          <p:cNvPr id="1991" name="Google Shape;1991;p116"/>
          <p:cNvSpPr/>
          <p:nvPr/>
        </p:nvSpPr>
        <p:spPr>
          <a:xfrm>
            <a:off x="6784201" y="2057400"/>
            <a:ext cx="1095900" cy="1547100"/>
          </a:xfrm>
          <a:prstGeom prst="roundRect">
            <a:avLst>
              <a:gd fmla="val 8696" name="adj"/>
            </a:avLst>
          </a:prstGeom>
          <a:solidFill>
            <a:srgbClr val="FFFFFF"/>
          </a:solidFill>
          <a:ln cap="flat" cmpd="sng" w="1905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2" name="Google Shape;1992;p116"/>
          <p:cNvSpPr/>
          <p:nvPr/>
        </p:nvSpPr>
        <p:spPr>
          <a:xfrm>
            <a:off x="7117707" y="2229313"/>
            <a:ext cx="333600" cy="401100"/>
          </a:xfrm>
          <a:prstGeom prst="ellipse">
            <a:avLst/>
          </a:prstGeom>
          <a:solidFill>
            <a:srgbClr val="3B5BDB"/>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3" name="Google Shape;1993;p116"/>
          <p:cNvSpPr/>
          <p:nvPr/>
        </p:nvSpPr>
        <p:spPr>
          <a:xfrm>
            <a:off x="7117707" y="2229313"/>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94" name="Google Shape;1994;p116"/>
          <p:cNvSpPr/>
          <p:nvPr/>
        </p:nvSpPr>
        <p:spPr>
          <a:xfrm>
            <a:off x="7117707" y="2687747"/>
            <a:ext cx="333600" cy="401100"/>
          </a:xfrm>
          <a:prstGeom prst="ellipse">
            <a:avLst/>
          </a:prstGeom>
          <a:solidFill>
            <a:srgbClr val="E03131"/>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5" name="Google Shape;1995;p116"/>
          <p:cNvSpPr/>
          <p:nvPr/>
        </p:nvSpPr>
        <p:spPr>
          <a:xfrm>
            <a:off x="7117707" y="2687747"/>
            <a:ext cx="333600" cy="40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rPr>
              <a:t>−</a:t>
            </a:r>
            <a:endParaRPr i="0" sz="1100" u="none" cap="none" strike="noStrike">
              <a:solidFill>
                <a:schemeClr val="dk1"/>
              </a:solidFill>
            </a:endParaRPr>
          </a:p>
        </p:txBody>
      </p:sp>
      <p:sp>
        <p:nvSpPr>
          <p:cNvPr id="1996" name="Google Shape;1996;p116"/>
          <p:cNvSpPr/>
          <p:nvPr/>
        </p:nvSpPr>
        <p:spPr>
          <a:xfrm>
            <a:off x="6784201" y="3203485"/>
            <a:ext cx="1095900" cy="343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800"/>
              <a:buFont typeface="Calibri"/>
              <a:buNone/>
            </a:pPr>
            <a:r>
              <a:rPr i="0" lang="en" sz="800" u="none" cap="none" strike="noStrike">
                <a:solidFill>
                  <a:srgbClr val="999999"/>
                </a:solidFill>
              </a:rPr>
              <a:t>normal</a:t>
            </a:r>
            <a:endParaRPr i="0" sz="800" u="none" cap="none" strike="noStrike">
              <a:solidFill>
                <a:schemeClr val="dk1"/>
              </a:solidFill>
            </a:endParaRPr>
          </a:p>
        </p:txBody>
      </p:sp>
      <p:sp>
        <p:nvSpPr>
          <p:cNvPr id="1997" name="Google Shape;1997;p116"/>
          <p:cNvSpPr/>
          <p:nvPr/>
        </p:nvSpPr>
        <p:spPr>
          <a:xfrm>
            <a:off x="685800" y="3950332"/>
            <a:ext cx="10482000" cy="573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 algorithm must </a:t>
            </a:r>
            <a:r>
              <a:rPr i="0" lang="en" sz="1700" u="none" cap="none" strike="noStrike">
                <a:solidFill>
                  <a:srgbClr val="222222"/>
                </a:solidFill>
                <a:highlight>
                  <a:srgbClr val="FFE066"/>
                </a:highlight>
              </a:rPr>
              <a:t>find the anomaly</a:t>
            </a:r>
            <a:r>
              <a:rPr i="0" lang="en" sz="1700" u="none" cap="none" strike="noStrike">
                <a:solidFill>
                  <a:srgbClr val="222222"/>
                </a:solidFill>
              </a:rPr>
              <a:t> to be optimal</a:t>
            </a:r>
            <a:endParaRPr i="0" sz="1700" u="none" cap="none" strike="noStrike">
              <a:solidFill>
                <a:schemeClr val="dk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2" name="Shape 2002"/>
        <p:cNvGrpSpPr/>
        <p:nvPr/>
      </p:nvGrpSpPr>
      <p:grpSpPr>
        <a:xfrm>
          <a:off x="0" y="0"/>
          <a:ext cx="0" cy="0"/>
          <a:chOff x="0" y="0"/>
          <a:chExt cx="0" cy="0"/>
        </a:xfrm>
      </p:grpSpPr>
      <p:sp>
        <p:nvSpPr>
          <p:cNvPr id="2003" name="Google Shape;2003;p117"/>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4 / 8</a:t>
            </a:r>
            <a:endParaRPr b="0" i="0" sz="800" u="none" cap="none" strike="noStrike">
              <a:solidFill>
                <a:schemeClr val="dk1"/>
              </a:solidFill>
              <a:latin typeface="Calibri"/>
              <a:ea typeface="Calibri"/>
              <a:cs typeface="Calibri"/>
              <a:sym typeface="Calibri"/>
            </a:endParaRPr>
          </a:p>
        </p:txBody>
      </p:sp>
      <p:sp>
        <p:nvSpPr>
          <p:cNvPr id="2004" name="Google Shape;2004;p117"/>
          <p:cNvSpPr/>
          <p:nvPr/>
        </p:nvSpPr>
        <p:spPr>
          <a:xfrm>
            <a:off x="685800" y="82296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Yao’s minimax principle</a:t>
            </a:r>
            <a:endParaRPr i="0" sz="3000" u="none" cap="none" strike="noStrike">
              <a:solidFill>
                <a:schemeClr val="dk1"/>
              </a:solidFill>
            </a:endParaRPr>
          </a:p>
        </p:txBody>
      </p:sp>
      <p:sp>
        <p:nvSpPr>
          <p:cNvPr id="2005" name="Google Shape;2005;p117"/>
          <p:cNvSpPr/>
          <p:nvPr/>
        </p:nvSpPr>
        <p:spPr>
          <a:xfrm>
            <a:off x="728138" y="282909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Hard for every </a:t>
            </a:r>
            <a:r>
              <a:rPr i="0" lang="en" sz="1800" u="none" cap="none" strike="noStrike">
                <a:solidFill>
                  <a:srgbClr val="222222"/>
                </a:solidFill>
                <a:highlight>
                  <a:srgbClr val="FFE066"/>
                </a:highlight>
              </a:rPr>
              <a:t>deterministic</a:t>
            </a:r>
            <a:r>
              <a:rPr i="0" lang="en" sz="1800" u="none" cap="none" strike="noStrike">
                <a:solidFill>
                  <a:srgbClr val="222222"/>
                </a:solidFill>
              </a:rPr>
              <a:t> algorithm on average</a:t>
            </a:r>
            <a:endParaRPr i="0" sz="1800" u="none" cap="none" strike="noStrike">
              <a:solidFill>
                <a:schemeClr val="dk1"/>
              </a:solidFill>
            </a:endParaRPr>
          </a:p>
        </p:txBody>
      </p:sp>
      <p:sp>
        <p:nvSpPr>
          <p:cNvPr id="2006" name="Google Shape;2006;p117"/>
          <p:cNvSpPr/>
          <p:nvPr/>
        </p:nvSpPr>
        <p:spPr>
          <a:xfrm>
            <a:off x="728138" y="330915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 hard for every </a:t>
            </a:r>
            <a:r>
              <a:rPr i="0" lang="en" sz="1800" u="none" cap="none" strike="noStrike">
                <a:solidFill>
                  <a:srgbClr val="222222"/>
                </a:solidFill>
                <a:highlight>
                  <a:srgbClr val="FFE066"/>
                </a:highlight>
              </a:rPr>
              <a:t>randomized</a:t>
            </a:r>
            <a:r>
              <a:rPr i="0" lang="en" sz="1800" u="none" cap="none" strike="noStrike">
                <a:solidFill>
                  <a:srgbClr val="222222"/>
                </a:solidFill>
              </a:rPr>
              <a:t> algorithm in the worst case</a:t>
            </a:r>
            <a:endParaRPr i="0" sz="1800" u="none" cap="none" strike="noStrike">
              <a:solidFill>
                <a:schemeClr val="dk1"/>
              </a:solidFill>
            </a:endParaRPr>
          </a:p>
        </p:txBody>
      </p:sp>
      <p:sp>
        <p:nvSpPr>
          <p:cNvPr id="2007" name="Google Shape;2007;p117"/>
          <p:cNvSpPr/>
          <p:nvPr/>
        </p:nvSpPr>
        <p:spPr>
          <a:xfrm>
            <a:off x="643463" y="372090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88888"/>
              </a:buClr>
              <a:buSzPts val="1500"/>
              <a:buFont typeface="Calibri"/>
              <a:buNone/>
            </a:pPr>
            <a:r>
              <a:rPr i="0" lang="en" sz="1500" u="none" cap="none" strike="noStrike">
                <a:solidFill>
                  <a:srgbClr val="888888"/>
                </a:solidFill>
              </a:rPr>
              <a:t>family-cost &gt;= n^2(1-c^2)/4  →  at least one input needs Omega(n) probes</a:t>
            </a:r>
            <a:endParaRPr i="0" sz="1500" u="none" cap="none" strike="noStrike">
              <a:solidFill>
                <a:schemeClr val="dk1"/>
              </a:solidFill>
            </a:endParaRPr>
          </a:p>
        </p:txBody>
      </p:sp>
      <p:pic>
        <p:nvPicPr>
          <p:cNvPr id="2008" name="Google Shape;2008;p117"/>
          <p:cNvPicPr preferRelativeResize="0"/>
          <p:nvPr/>
        </p:nvPicPr>
        <p:blipFill>
          <a:blip r:embed="rId3">
            <a:alphaModFix/>
          </a:blip>
          <a:stretch>
            <a:fillRect/>
          </a:stretch>
        </p:blipFill>
        <p:spPr>
          <a:xfrm>
            <a:off x="998650" y="1556863"/>
            <a:ext cx="7553422" cy="108672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3" name="Shape 2013"/>
        <p:cNvGrpSpPr/>
        <p:nvPr/>
      </p:nvGrpSpPr>
      <p:grpSpPr>
        <a:xfrm>
          <a:off x="0" y="0"/>
          <a:ext cx="0" cy="0"/>
          <a:chOff x="0" y="0"/>
          <a:chExt cx="0" cy="0"/>
        </a:xfrm>
      </p:grpSpPr>
      <p:sp>
        <p:nvSpPr>
          <p:cNvPr id="2014" name="Google Shape;2014;p118"/>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5 / 8</a:t>
            </a:r>
            <a:endParaRPr b="0" i="0" sz="800" u="none" cap="none" strike="noStrike">
              <a:solidFill>
                <a:schemeClr val="dk1"/>
              </a:solidFill>
              <a:latin typeface="Calibri"/>
              <a:ea typeface="Calibri"/>
              <a:cs typeface="Calibri"/>
              <a:sym typeface="Calibri"/>
            </a:endParaRPr>
          </a:p>
        </p:txBody>
      </p:sp>
      <p:sp>
        <p:nvSpPr>
          <p:cNvPr id="2015" name="Google Shape;2015;p118"/>
          <p:cNvSpPr/>
          <p:nvPr/>
        </p:nvSpPr>
        <p:spPr>
          <a:xfrm>
            <a:off x="685800" y="48431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Even approximation is expensive</a:t>
            </a:r>
            <a:endParaRPr i="0" sz="3000" u="none" cap="none" strike="noStrike">
              <a:solidFill>
                <a:schemeClr val="dk1"/>
              </a:solidFill>
            </a:endParaRPr>
          </a:p>
        </p:txBody>
      </p:sp>
      <p:sp>
        <p:nvSpPr>
          <p:cNvPr id="2016" name="Google Shape;2016;p118"/>
          <p:cNvSpPr/>
          <p:nvPr/>
        </p:nvSpPr>
        <p:spPr>
          <a:xfrm>
            <a:off x="685800" y="296799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Any </a:t>
            </a:r>
            <a:r>
              <a:rPr i="0" lang="en" sz="1800" u="none" cap="none" strike="noStrike">
                <a:solidFill>
                  <a:srgbClr val="222222"/>
                </a:solidFill>
                <a:highlight>
                  <a:srgbClr val="FFE066"/>
                </a:highlight>
              </a:rPr>
              <a:t>c-approximate</a:t>
            </a:r>
            <a:r>
              <a:rPr i="0" lang="en" sz="1800" u="none" cap="none" strike="noStrike">
                <a:solidFill>
                  <a:srgbClr val="222222"/>
                </a:solidFill>
              </a:rPr>
              <a:t> algorithm needs</a:t>
            </a:r>
            <a:endParaRPr i="0" sz="1800" u="none" cap="none" strike="noStrike">
              <a:solidFill>
                <a:schemeClr val="dk1"/>
              </a:solidFill>
            </a:endParaRPr>
          </a:p>
        </p:txBody>
      </p:sp>
      <p:sp>
        <p:nvSpPr>
          <p:cNvPr id="2017" name="Google Shape;2017;p118"/>
          <p:cNvSpPr/>
          <p:nvPr/>
        </p:nvSpPr>
        <p:spPr>
          <a:xfrm>
            <a:off x="685800" y="3448050"/>
            <a:ext cx="75438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2700"/>
              <a:buFont typeface="Calibri"/>
              <a:buNone/>
            </a:pPr>
            <a:r>
              <a:rPr b="1" i="0" lang="en" sz="2700" u="none" cap="none" strike="noStrike">
                <a:solidFill>
                  <a:srgbClr val="111111"/>
                </a:solidFill>
              </a:rPr>
              <a:t>Omega(w * Log(n / k*w)) probes</a:t>
            </a:r>
            <a:endParaRPr i="0" sz="2700" u="none" cap="none" strike="noStrike">
              <a:solidFill>
                <a:schemeClr val="dk1"/>
              </a:solidFill>
            </a:endParaRPr>
          </a:p>
        </p:txBody>
      </p:sp>
      <p:sp>
        <p:nvSpPr>
          <p:cNvPr id="2018" name="Google Shape;2018;p118"/>
          <p:cNvSpPr/>
          <p:nvPr/>
        </p:nvSpPr>
        <p:spPr>
          <a:xfrm>
            <a:off x="685800" y="406551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88888"/>
              </a:buClr>
              <a:buSzPts val="1500"/>
              <a:buFont typeface="Calibri"/>
              <a:buNone/>
            </a:pPr>
            <a:r>
              <a:rPr i="0" lang="en" sz="1500" u="none" cap="none" strike="noStrike">
                <a:solidFill>
                  <a:srgbClr val="888888"/>
                </a:solidFill>
              </a:rPr>
              <a:t>→ RPE is essentially optimal for constant-factor approximation</a:t>
            </a:r>
            <a:endParaRPr i="0" sz="1500" u="none" cap="none" strike="noStrike">
              <a:solidFill>
                <a:schemeClr val="dk1"/>
              </a:solidFill>
            </a:endParaRPr>
          </a:p>
        </p:txBody>
      </p:sp>
      <p:pic>
        <p:nvPicPr>
          <p:cNvPr id="2019" name="Google Shape;2019;p118"/>
          <p:cNvPicPr preferRelativeResize="0"/>
          <p:nvPr/>
        </p:nvPicPr>
        <p:blipFill>
          <a:blip r:embed="rId3">
            <a:alphaModFix/>
          </a:blip>
          <a:stretch>
            <a:fillRect/>
          </a:stretch>
        </p:blipFill>
        <p:spPr>
          <a:xfrm>
            <a:off x="800100" y="1152625"/>
            <a:ext cx="7315200" cy="16954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4" name="Shape 2024"/>
        <p:cNvGrpSpPr/>
        <p:nvPr/>
      </p:nvGrpSpPr>
      <p:grpSpPr>
        <a:xfrm>
          <a:off x="0" y="0"/>
          <a:ext cx="0" cy="0"/>
          <a:chOff x="0" y="0"/>
          <a:chExt cx="0" cy="0"/>
        </a:xfrm>
      </p:grpSpPr>
      <p:sp>
        <p:nvSpPr>
          <p:cNvPr id="2025" name="Google Shape;2025;p119"/>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6 / 8</a:t>
            </a:r>
            <a:endParaRPr b="0" i="0" sz="800" u="none" cap="none" strike="noStrike">
              <a:solidFill>
                <a:schemeClr val="dk1"/>
              </a:solidFill>
              <a:latin typeface="Calibri"/>
              <a:ea typeface="Calibri"/>
              <a:cs typeface="Calibri"/>
              <a:sym typeface="Calibri"/>
            </a:endParaRPr>
          </a:p>
        </p:txBody>
      </p:sp>
      <p:sp>
        <p:nvSpPr>
          <p:cNvPr id="2026" name="Google Shape;2026;p119"/>
          <p:cNvSpPr/>
          <p:nvPr/>
        </p:nvSpPr>
        <p:spPr>
          <a:xfrm>
            <a:off x="685800" y="56896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The 1/e^2 barrier</a:t>
            </a:r>
            <a:endParaRPr i="0" sz="3000" u="none" cap="none" strike="noStrike">
              <a:solidFill>
                <a:schemeClr val="dk1"/>
              </a:solidFill>
            </a:endParaRPr>
          </a:p>
        </p:txBody>
      </p:sp>
      <p:sp>
        <p:nvSpPr>
          <p:cNvPr id="2027" name="Google Shape;2027;p119"/>
          <p:cNvSpPr/>
          <p:nvPr/>
        </p:nvSpPr>
        <p:spPr>
          <a:xfrm>
            <a:off x="685800" y="3392365"/>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800"/>
              <a:buFont typeface="Calibri"/>
              <a:buNone/>
            </a:pPr>
            <a:r>
              <a:rPr i="0" lang="en" sz="1800" u="none" cap="none" strike="noStrike">
                <a:solidFill>
                  <a:srgbClr val="222222"/>
                </a:solidFill>
              </a:rPr>
              <a:t>Any </a:t>
            </a:r>
            <a:r>
              <a:rPr i="0" lang="en" sz="1800" u="none" cap="none" strike="noStrike">
                <a:solidFill>
                  <a:srgbClr val="222222"/>
                </a:solidFill>
                <a:highlight>
                  <a:srgbClr val="FFE066"/>
                </a:highlight>
              </a:rPr>
              <a:t>(1+e)-approximate</a:t>
            </a:r>
            <a:r>
              <a:rPr i="0" lang="en" sz="1800" u="none" cap="none" strike="noStrike">
                <a:solidFill>
                  <a:srgbClr val="222222"/>
                </a:solidFill>
              </a:rPr>
              <a:t> algorithm needs</a:t>
            </a:r>
            <a:endParaRPr i="0" sz="1800" u="none" cap="none" strike="noStrike">
              <a:solidFill>
                <a:schemeClr val="dk1"/>
              </a:solidFill>
            </a:endParaRPr>
          </a:p>
        </p:txBody>
      </p:sp>
      <p:sp>
        <p:nvSpPr>
          <p:cNvPr id="2028" name="Google Shape;2028;p119"/>
          <p:cNvSpPr/>
          <p:nvPr/>
        </p:nvSpPr>
        <p:spPr>
          <a:xfrm>
            <a:off x="685800" y="3812725"/>
            <a:ext cx="7543800" cy="48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2700"/>
              <a:buFont typeface="Calibri"/>
              <a:buNone/>
            </a:pPr>
            <a:r>
              <a:rPr b="1" i="0" lang="en" sz="2700" u="none" cap="none" strike="noStrike">
                <a:solidFill>
                  <a:srgbClr val="111111"/>
                </a:solidFill>
              </a:rPr>
              <a:t>Omega(w / e^2) probes</a:t>
            </a:r>
            <a:endParaRPr i="0" sz="2700" u="none" cap="none" strike="noStrike">
              <a:solidFill>
                <a:schemeClr val="dk1"/>
              </a:solidFill>
            </a:endParaRPr>
          </a:p>
        </p:txBody>
      </p:sp>
      <p:sp>
        <p:nvSpPr>
          <p:cNvPr id="2029" name="Google Shape;2029;p119"/>
          <p:cNvSpPr/>
          <p:nvPr/>
        </p:nvSpPr>
        <p:spPr>
          <a:xfrm>
            <a:off x="685800" y="4370485"/>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88888"/>
              </a:buClr>
              <a:buSzPts val="1500"/>
              <a:buFont typeface="Calibri"/>
              <a:buNone/>
            </a:pPr>
            <a:r>
              <a:rPr i="0" lang="en" sz="1500" u="none" cap="none" strike="noStrike">
                <a:solidFill>
                  <a:srgbClr val="888888"/>
                </a:solidFill>
              </a:rPr>
              <a:t>→ like telling apart two biased coins — you need Theta(1/e^2) flips</a:t>
            </a:r>
            <a:endParaRPr i="0" sz="1500" u="none" cap="none" strike="noStrike">
              <a:solidFill>
                <a:schemeClr val="dk1"/>
              </a:solidFill>
            </a:endParaRPr>
          </a:p>
        </p:txBody>
      </p:sp>
      <p:pic>
        <p:nvPicPr>
          <p:cNvPr id="2030" name="Google Shape;2030;p119"/>
          <p:cNvPicPr preferRelativeResize="0"/>
          <p:nvPr/>
        </p:nvPicPr>
        <p:blipFill>
          <a:blip r:embed="rId3">
            <a:alphaModFix/>
          </a:blip>
          <a:stretch>
            <a:fillRect/>
          </a:stretch>
        </p:blipFill>
        <p:spPr>
          <a:xfrm>
            <a:off x="685800" y="1371350"/>
            <a:ext cx="7719475" cy="15761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5" name="Shape 2035"/>
        <p:cNvGrpSpPr/>
        <p:nvPr/>
      </p:nvGrpSpPr>
      <p:grpSpPr>
        <a:xfrm>
          <a:off x="0" y="0"/>
          <a:ext cx="0" cy="0"/>
          <a:chOff x="0" y="0"/>
          <a:chExt cx="0" cy="0"/>
        </a:xfrm>
      </p:grpSpPr>
      <p:sp>
        <p:nvSpPr>
          <p:cNvPr id="2036" name="Google Shape;2036;p120"/>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7 / 8</a:t>
            </a:r>
            <a:endParaRPr b="0" i="0" sz="800" u="none" cap="none" strike="noStrike">
              <a:solidFill>
                <a:schemeClr val="dk1"/>
              </a:solidFill>
              <a:latin typeface="Calibri"/>
              <a:ea typeface="Calibri"/>
              <a:cs typeface="Calibri"/>
              <a:sym typeface="Calibri"/>
            </a:endParaRPr>
          </a:p>
        </p:txBody>
      </p:sp>
      <p:sp>
        <p:nvSpPr>
          <p:cNvPr id="2037" name="Google Shape;2037;p120"/>
          <p:cNvSpPr/>
          <p:nvPr/>
        </p:nvSpPr>
        <p:spPr>
          <a:xfrm>
            <a:off x="685800" y="54864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Why Omega(w/e^2)?</a:t>
            </a:r>
            <a:endParaRPr i="0" sz="3000" u="none" cap="none" strike="noStrike">
              <a:solidFill>
                <a:schemeClr val="dk1"/>
              </a:solidFill>
            </a:endParaRPr>
          </a:p>
        </p:txBody>
      </p:sp>
      <p:sp>
        <p:nvSpPr>
          <p:cNvPr id="2038" name="Google Shape;2038;p120"/>
          <p:cNvSpPr/>
          <p:nvPr/>
        </p:nvSpPr>
        <p:spPr>
          <a:xfrm>
            <a:off x="685800" y="130302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Each location is a </a:t>
            </a:r>
            <a:r>
              <a:rPr i="0" lang="en" sz="1700" u="none" cap="none" strike="noStrike">
                <a:solidFill>
                  <a:srgbClr val="222222"/>
                </a:solidFill>
                <a:highlight>
                  <a:srgbClr val="FFE066"/>
                </a:highlight>
              </a:rPr>
              <a:t>biased coin</a:t>
            </a:r>
            <a:r>
              <a:rPr i="0" lang="en" sz="1700" u="none" cap="none" strike="noStrike">
                <a:solidFill>
                  <a:srgbClr val="222222"/>
                </a:solidFill>
              </a:rPr>
              <a:t> — flip it enough to tell which side it favours</a:t>
            </a:r>
            <a:endParaRPr i="0" sz="1700" u="none" cap="none" strike="noStrike">
              <a:solidFill>
                <a:schemeClr val="dk1"/>
              </a:solidFill>
            </a:endParaRPr>
          </a:p>
        </p:txBody>
      </p:sp>
      <p:sp>
        <p:nvSpPr>
          <p:cNvPr id="2039" name="Google Shape;2039;p120"/>
          <p:cNvSpPr/>
          <p:nvPr/>
        </p:nvSpPr>
        <p:spPr>
          <a:xfrm>
            <a:off x="1623588" y="1916620"/>
            <a:ext cx="2400300" cy="1097400"/>
          </a:xfrm>
          <a:prstGeom prst="roundRect">
            <a:avLst>
              <a:gd fmla="val 7500" name="adj"/>
            </a:avLst>
          </a:prstGeom>
          <a:solidFill>
            <a:srgbClr val="FFFFFF"/>
          </a:solidFill>
          <a:ln cap="flat" cmpd="sng" w="1905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0" name="Google Shape;2040;p120"/>
          <p:cNvSpPr/>
          <p:nvPr/>
        </p:nvSpPr>
        <p:spPr>
          <a:xfrm>
            <a:off x="1623588" y="2053780"/>
            <a:ext cx="24003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11111"/>
              </a:buClr>
              <a:buSzPts val="2300"/>
              <a:buFont typeface="Calibri"/>
              <a:buNone/>
            </a:pPr>
            <a:r>
              <a:rPr b="1" i="0" lang="en" sz="2300" u="none" cap="none" strike="noStrike">
                <a:solidFill>
                  <a:srgbClr val="111111"/>
                </a:solidFill>
              </a:rPr>
              <a:t>½ − ε</a:t>
            </a:r>
            <a:endParaRPr i="0" sz="2300" u="none" cap="none" strike="noStrike">
              <a:solidFill>
                <a:schemeClr val="dk1"/>
              </a:solidFill>
            </a:endParaRPr>
          </a:p>
        </p:txBody>
      </p:sp>
      <p:sp>
        <p:nvSpPr>
          <p:cNvPr id="2041" name="Google Shape;2041;p120"/>
          <p:cNvSpPr/>
          <p:nvPr/>
        </p:nvSpPr>
        <p:spPr>
          <a:xfrm>
            <a:off x="1623588" y="2499550"/>
            <a:ext cx="24003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1100"/>
              <a:buFont typeface="Calibri"/>
              <a:buNone/>
            </a:pPr>
            <a:r>
              <a:rPr i="0" lang="en" sz="1100" u="none" cap="none" strike="noStrike">
                <a:solidFill>
                  <a:srgbClr val="999999"/>
                </a:solidFill>
              </a:rPr>
              <a:t>slightly more −1</a:t>
            </a:r>
            <a:endParaRPr i="0" sz="1100" u="none" cap="none" strike="noStrike">
              <a:solidFill>
                <a:schemeClr val="dk1"/>
              </a:solidFill>
            </a:endParaRPr>
          </a:p>
        </p:txBody>
      </p:sp>
      <p:sp>
        <p:nvSpPr>
          <p:cNvPr id="2042" name="Google Shape;2042;p120"/>
          <p:cNvSpPr/>
          <p:nvPr/>
        </p:nvSpPr>
        <p:spPr>
          <a:xfrm>
            <a:off x="4298208" y="2122360"/>
            <a:ext cx="5484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CCCCC"/>
              </a:buClr>
              <a:buSzPts val="2100"/>
              <a:buFont typeface="Calibri"/>
              <a:buNone/>
            </a:pPr>
            <a:r>
              <a:rPr i="0" lang="en" sz="2100" u="none" cap="none" strike="noStrike">
                <a:solidFill>
                  <a:srgbClr val="CCCCCC"/>
                </a:solidFill>
              </a:rPr>
              <a:t>vs</a:t>
            </a:r>
            <a:endParaRPr i="0" sz="2100" u="none" cap="none" strike="noStrike">
              <a:solidFill>
                <a:schemeClr val="dk1"/>
              </a:solidFill>
            </a:endParaRPr>
          </a:p>
        </p:txBody>
      </p:sp>
      <p:sp>
        <p:nvSpPr>
          <p:cNvPr id="2043" name="Google Shape;2043;p120"/>
          <p:cNvSpPr/>
          <p:nvPr/>
        </p:nvSpPr>
        <p:spPr>
          <a:xfrm>
            <a:off x="5052588" y="1916620"/>
            <a:ext cx="2400300" cy="1097400"/>
          </a:xfrm>
          <a:prstGeom prst="roundRect">
            <a:avLst>
              <a:gd fmla="val 7500" name="adj"/>
            </a:avLst>
          </a:prstGeom>
          <a:solidFill>
            <a:srgbClr val="FFFFFF"/>
          </a:solidFill>
          <a:ln cap="flat" cmpd="sng" w="1905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4" name="Google Shape;2044;p120"/>
          <p:cNvSpPr/>
          <p:nvPr/>
        </p:nvSpPr>
        <p:spPr>
          <a:xfrm>
            <a:off x="5052588" y="2053780"/>
            <a:ext cx="24003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11111"/>
              </a:buClr>
              <a:buSzPts val="2300"/>
              <a:buFont typeface="Calibri"/>
              <a:buNone/>
            </a:pPr>
            <a:r>
              <a:rPr b="1" i="0" lang="en" sz="2300" u="none" cap="none" strike="noStrike">
                <a:solidFill>
                  <a:srgbClr val="111111"/>
                </a:solidFill>
              </a:rPr>
              <a:t>½ + ε</a:t>
            </a:r>
            <a:endParaRPr i="0" sz="2300" u="none" cap="none" strike="noStrike">
              <a:solidFill>
                <a:schemeClr val="dk1"/>
              </a:solidFill>
            </a:endParaRPr>
          </a:p>
        </p:txBody>
      </p:sp>
      <p:sp>
        <p:nvSpPr>
          <p:cNvPr id="2045" name="Google Shape;2045;p120"/>
          <p:cNvSpPr/>
          <p:nvPr/>
        </p:nvSpPr>
        <p:spPr>
          <a:xfrm>
            <a:off x="5052588" y="2499550"/>
            <a:ext cx="2400300" cy="274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99999"/>
              </a:buClr>
              <a:buSzPts val="1100"/>
              <a:buFont typeface="Calibri"/>
              <a:buNone/>
            </a:pPr>
            <a:r>
              <a:rPr i="0" lang="en" sz="1100" u="none" cap="none" strike="noStrike">
                <a:solidFill>
                  <a:srgbClr val="999999"/>
                </a:solidFill>
              </a:rPr>
              <a:t>slightly more +1</a:t>
            </a:r>
            <a:endParaRPr i="0" sz="1100" u="none" cap="none" strike="noStrike">
              <a:solidFill>
                <a:schemeClr val="dk1"/>
              </a:solidFill>
            </a:endParaRPr>
          </a:p>
        </p:txBody>
      </p:sp>
      <p:sp>
        <p:nvSpPr>
          <p:cNvPr id="2046" name="Google Shape;2046;p120"/>
          <p:cNvSpPr/>
          <p:nvPr/>
        </p:nvSpPr>
        <p:spPr>
          <a:xfrm>
            <a:off x="685800" y="3566160"/>
            <a:ext cx="7543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700"/>
              <a:buFont typeface="Calibri"/>
              <a:buNone/>
            </a:pPr>
            <a:r>
              <a:rPr i="0" lang="en" sz="1700" u="none" cap="none" strike="noStrike">
                <a:solidFill>
                  <a:srgbClr val="222222"/>
                </a:solidFill>
              </a:rPr>
              <a:t>→ need </a:t>
            </a:r>
            <a:r>
              <a:rPr i="0" lang="en" sz="1700" u="none" cap="none" strike="noStrike">
                <a:solidFill>
                  <a:srgbClr val="222222"/>
                </a:solidFill>
                <a:highlight>
                  <a:srgbClr val="FFE066"/>
                </a:highlight>
              </a:rPr>
              <a:t>Theta(1/e^2) samples per location</a:t>
            </a:r>
            <a:r>
              <a:rPr i="0" lang="en" sz="1700" u="none" cap="none" strike="noStrike">
                <a:solidFill>
                  <a:srgbClr val="222222"/>
                </a:solidFill>
              </a:rPr>
              <a:t>  ×  w locations  =  Omega(w/e^2)</a:t>
            </a:r>
            <a:endParaRPr i="0" sz="1700" u="none" cap="none" strike="noStrike">
              <a:solidFill>
                <a:schemeClr val="dk1"/>
              </a:solidFill>
            </a:endParaRPr>
          </a:p>
        </p:txBody>
      </p:sp>
      <p:sp>
        <p:nvSpPr>
          <p:cNvPr id="2047" name="Google Shape;2047;p120"/>
          <p:cNvSpPr/>
          <p:nvPr/>
        </p:nvSpPr>
        <p:spPr>
          <a:xfrm>
            <a:off x="1523238" y="1863250"/>
            <a:ext cx="2601000" cy="1272600"/>
          </a:xfrm>
          <a:prstGeom prst="roundRect">
            <a:avLst>
              <a:gd fmla="val 11504" name="adj"/>
            </a:avLst>
          </a:prstGeom>
          <a:solidFill>
            <a:srgbClr val="CFE2F3">
              <a:alpha val="4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
        <p:nvSpPr>
          <p:cNvPr id="2048" name="Google Shape;2048;p120"/>
          <p:cNvSpPr/>
          <p:nvPr/>
        </p:nvSpPr>
        <p:spPr>
          <a:xfrm>
            <a:off x="4945063" y="1851900"/>
            <a:ext cx="2675700" cy="1272600"/>
          </a:xfrm>
          <a:prstGeom prst="roundRect">
            <a:avLst>
              <a:gd fmla="val 11504" name="adj"/>
            </a:avLst>
          </a:prstGeom>
          <a:solidFill>
            <a:srgbClr val="F4CCCC">
              <a:alpha val="50000"/>
            </a:srgbClr>
          </a:solidFill>
          <a:ln>
            <a:noFill/>
          </a:ln>
        </p:spPr>
        <p:txBody>
          <a:bodyPr anchorCtr="0" anchor="ctr" bIns="144450" lIns="144450" spcFirstLastPara="1" rIns="144450" wrap="square" tIns="144450">
            <a:noAutofit/>
          </a:bodyPr>
          <a:lstStyle/>
          <a:p>
            <a:pPr indent="0" lvl="0" marL="0" rtl="0" algn="ctr">
              <a:spcBef>
                <a:spcPts val="0"/>
              </a:spcBef>
              <a:spcAft>
                <a:spcPts val="0"/>
              </a:spcAft>
              <a:buNone/>
            </a:pPr>
            <a:r>
              <a:t/>
            </a:r>
            <a:endParaRPr sz="2212"/>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3" name="Shape 2053"/>
        <p:cNvGrpSpPr/>
        <p:nvPr/>
      </p:nvGrpSpPr>
      <p:grpSpPr>
        <a:xfrm>
          <a:off x="0" y="0"/>
          <a:ext cx="0" cy="0"/>
          <a:chOff x="0" y="0"/>
          <a:chExt cx="0" cy="0"/>
        </a:xfrm>
      </p:grpSpPr>
      <p:sp>
        <p:nvSpPr>
          <p:cNvPr id="2054" name="Google Shape;2054;p121"/>
          <p:cNvSpPr/>
          <p:nvPr/>
        </p:nvSpPr>
        <p:spPr>
          <a:xfrm>
            <a:off x="7886700" y="4869180"/>
            <a:ext cx="10287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BBBBBB"/>
              </a:buClr>
              <a:buSzPts val="800"/>
              <a:buFont typeface="Calibri"/>
              <a:buNone/>
            </a:pPr>
            <a:r>
              <a:rPr b="0" i="0" lang="en" sz="800" u="none" cap="none" strike="noStrike">
                <a:solidFill>
                  <a:srgbClr val="BBBBBB"/>
                </a:solidFill>
                <a:latin typeface="Calibri"/>
                <a:ea typeface="Calibri"/>
                <a:cs typeface="Calibri"/>
                <a:sym typeface="Calibri"/>
              </a:rPr>
              <a:t>8 / 8</a:t>
            </a:r>
            <a:endParaRPr b="0" i="0" sz="800" u="none" cap="none" strike="noStrike">
              <a:solidFill>
                <a:schemeClr val="dk1"/>
              </a:solidFill>
              <a:latin typeface="Calibri"/>
              <a:ea typeface="Calibri"/>
              <a:cs typeface="Calibri"/>
              <a:sym typeface="Calibri"/>
            </a:endParaRPr>
          </a:p>
        </p:txBody>
      </p:sp>
      <p:sp>
        <p:nvSpPr>
          <p:cNvPr id="2055" name="Google Shape;2055;p121"/>
          <p:cNvSpPr/>
          <p:nvPr/>
        </p:nvSpPr>
        <p:spPr>
          <a:xfrm>
            <a:off x="685800" y="480060"/>
            <a:ext cx="7543800" cy="548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11111"/>
              </a:buClr>
              <a:buSzPts val="3000"/>
              <a:buFont typeface="Calibri"/>
              <a:buNone/>
            </a:pPr>
            <a:r>
              <a:rPr b="1" i="0" lang="en" sz="3000" u="none" cap="none" strike="noStrike">
                <a:solidFill>
                  <a:srgbClr val="111111"/>
                </a:solidFill>
              </a:rPr>
              <a:t>The full picture</a:t>
            </a:r>
            <a:endParaRPr i="0" sz="3000" u="none" cap="none" strike="noStrike">
              <a:solidFill>
                <a:schemeClr val="dk1"/>
              </a:solidFill>
            </a:endParaRPr>
          </a:p>
        </p:txBody>
      </p:sp>
      <p:pic>
        <p:nvPicPr>
          <p:cNvPr id="2056" name="Google Shape;2056;p121"/>
          <p:cNvPicPr preferRelativeResize="0"/>
          <p:nvPr/>
        </p:nvPicPr>
        <p:blipFill>
          <a:blip r:embed="rId3">
            <a:alphaModFix/>
          </a:blip>
          <a:stretch>
            <a:fillRect/>
          </a:stretch>
        </p:blipFill>
        <p:spPr>
          <a:xfrm>
            <a:off x="152400" y="1180860"/>
            <a:ext cx="8839203" cy="1846998"/>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122"/>
          <p:cNvSpPr txBox="1"/>
          <p:nvPr>
            <p:ph type="ctrTitle"/>
          </p:nvPr>
        </p:nvSpPr>
        <p:spPr>
          <a:xfrm>
            <a:off x="4572000" y="2022900"/>
            <a:ext cx="4012500" cy="1097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6000"/>
              <a:t>Thank you!</a:t>
            </a:r>
            <a:endParaRPr sz="6000"/>
          </a:p>
        </p:txBody>
      </p:sp>
      <p:pic>
        <p:nvPicPr>
          <p:cNvPr descr="a cat is holding a bouquet of red roses in its mouth (Provided by Tenor)" id="2062" name="Google Shape;2062;p122"/>
          <p:cNvPicPr preferRelativeResize="0"/>
          <p:nvPr/>
        </p:nvPicPr>
        <p:blipFill>
          <a:blip r:embed="rId3">
            <a:alphaModFix/>
          </a:blip>
          <a:stretch>
            <a:fillRect/>
          </a:stretch>
        </p:blipFill>
        <p:spPr>
          <a:xfrm>
            <a:off x="-12" y="200025"/>
            <a:ext cx="4657725" cy="4743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